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Standard boundary-layer profile</c:v>
                </c:pt>
              </c:strCache>
            </c:strRef>
          </c:tx>
          <c:spPr>
            <a:ln w="33020">
              <a:solidFill>
                <a:srgbClr val="22D3EE"/>
              </a:solidFill>
            </a:ln>
          </c:spPr>
          <c:marker>
            <c:symbol val="circle"/>
            <c:size val="6"/>
            <c:spPr>
              <a:solidFill>
                <a:srgbClr val="22D3EE"/>
              </a:solidFill>
              <a:ln w="15240">
                <a:solidFill>
                  <a:srgbClr val="080E19"/>
                </a:solidFill>
              </a:ln>
            </c:spPr>
          </c:marker>
          <c:xVal>
            <c:numRef>
              <c:f>Sheet1!$A$2:$A$12</c:f>
              <c:numCache>
                <c:formatCode>General</c:formatCode>
                <c:ptCount val="11"/>
                <c:pt idx="0">
                  <c:v>10</c:v>
                </c:pt>
                <c:pt idx="1">
                  <c:v>50</c:v>
                </c:pt>
                <c:pt idx="2">
                  <c:v>100</c:v>
                </c:pt>
                <c:pt idx="3">
                  <c:v>150</c:v>
                </c:pt>
                <c:pt idx="4">
                  <c:v>200</c:v>
                </c:pt>
                <c:pt idx="5">
                  <c:v>300</c:v>
                </c:pt>
                <c:pt idx="6">
                  <c:v>400</c:v>
                </c:pt>
                <c:pt idx="7">
                  <c:v>500</c:v>
                </c:pt>
                <c:pt idx="8">
                  <c:v>600</c:v>
                </c:pt>
                <c:pt idx="9">
                  <c:v>700</c:v>
                </c:pt>
                <c:pt idx="10">
                  <c:v>828</c:v>
                </c:pt>
              </c:numCache>
            </c:numRef>
          </c:xVal>
          <c:yVal>
            <c:numRef>
              <c:f>Sheet1!$B$2:$B$12</c:f>
              <c:numCache>
                <c:formatCode>General</c:formatCode>
                <c:ptCount val="11"/>
                <c:pt idx="0">
                  <c:v>23.5</c:v>
                </c:pt>
                <c:pt idx="1">
                  <c:v>29.24714853546843</c:v>
                </c:pt>
                <c:pt idx="2">
                  <c:v>32.136942208531536</c:v>
                </c:pt>
                <c:pt idx="3">
                  <c:v>33.957977372288134</c:v>
                </c:pt>
                <c:pt idx="4">
                  <c:v>35.31226482684373</c:v>
                </c:pt>
                <c:pt idx="5">
                  <c:v>37.313229185689806</c:v>
                </c:pt>
                <c:pt idx="6">
                  <c:v>38.80132836253818</c:v>
                </c:pt>
                <c:pt idx="7">
                  <c:v>39.996337116965385</c:v>
                </c:pt>
                <c:pt idx="8">
                  <c:v>41.0</c:v>
                </c:pt>
                <c:pt idx="9">
                  <c:v>41.86820883036252</c:v>
                </c:pt>
                <c:pt idx="10">
                  <c:v>42.83497883588594</c:v>
                </c:pt>
              </c:numCache>
            </c:numRef>
          </c:yVal>
          <c:smooth val="0"/>
        </c:ser>
        <c:axId val="-2128940872"/>
        <c:axId val="-2129643912"/>
      </c:scatterChart>
      <c:valAx>
        <c:axId val="-2128940872"/>
        <c:scaling>
          <c:orientation val="minMax"/>
          <c:max val="900.0"/>
          <c:min val="0.0"/>
        </c:scaling>
        <c:delete val="0"/>
        <c:axPos val="b"/>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9643912"/>
        <c:crosses val="autoZero"/>
        <c:crossBetween val="midCat"/>
        <c:majorUnit val="100.0"/>
      </c:valAx>
      <c:valAx>
        <c:axId val="-2129643912"/>
        <c:scaling>
          <c:orientation val="minMax"/>
          <c:max val="50.0"/>
          <c:min val="0.0"/>
        </c:scaling>
        <c:delete val="0"/>
        <c:axPos val="l"/>
        <c:majorGridlines>
          <c:spPr>
            <a:ln w="6350">
              <a:solidFill>
                <a:srgbClr val="22314A"/>
              </a:solidFill>
            </a:ln>
          </c:spPr>
        </c:majorGridlines>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8940872"/>
        <c:crosses val="autoZero"/>
        <c:crossBetween val="midCat"/>
        <c:majorUnit val="5.0"/>
      </c:valAx>
    </c:plotArea>
    <c:plotVisOnly val="1"/>
    <c:dispBlanksAs val="gap"/>
    <c:showDLblsOverMax val="0"/>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shedding frequency (D = 50 m, St = 0.12)</c:v>
                </c:pt>
              </c:strCache>
            </c:strRef>
          </c:tx>
          <c:spPr>
            <a:ln w="31750">
              <a:solidFill>
                <a:srgbClr val="22D3EE"/>
              </a:solidFill>
            </a:ln>
          </c:spPr>
          <c:marker>
            <c:symbol val="none"/>
          </c:marker>
          <c:xVal>
            <c:numRef>
              <c:f>Sheet1!$A$2:$A$14</c:f>
              <c:numCache>
                <c:formatCode>General</c:formatCode>
                <c:ptCount val="13"/>
                <c:pt idx="0">
                  <c:v>0</c:v>
                </c:pt>
                <c:pt idx="1">
                  <c:v>5</c:v>
                </c:pt>
                <c:pt idx="2">
                  <c:v>10</c:v>
                </c:pt>
                <c:pt idx="3">
                  <c:v>15</c:v>
                </c:pt>
                <c:pt idx="4">
                  <c:v>20</c:v>
                </c:pt>
                <c:pt idx="5">
                  <c:v>25</c:v>
                </c:pt>
                <c:pt idx="6">
                  <c:v>30</c:v>
                </c:pt>
                <c:pt idx="7">
                  <c:v>35</c:v>
                </c:pt>
                <c:pt idx="8">
                  <c:v>40</c:v>
                </c:pt>
                <c:pt idx="9">
                  <c:v>45</c:v>
                </c:pt>
                <c:pt idx="10">
                  <c:v>50</c:v>
                </c:pt>
                <c:pt idx="11">
                  <c:v>55</c:v>
                </c:pt>
                <c:pt idx="12">
                  <c:v>60</c:v>
                </c:pt>
              </c:numCache>
            </c:numRef>
          </c:xVal>
          <c:yVal>
            <c:numRef>
              <c:f>Sheet1!$B$2:$B$14</c:f>
              <c:numCache>
                <c:formatCode>General</c:formatCode>
                <c:ptCount val="13"/>
                <c:pt idx="0">
                  <c:v>0.0</c:v>
                </c:pt>
                <c:pt idx="1">
                  <c:v>0.012</c:v>
                </c:pt>
                <c:pt idx="2">
                  <c:v>0.024</c:v>
                </c:pt>
                <c:pt idx="3">
                  <c:v>0.036</c:v>
                </c:pt>
                <c:pt idx="4">
                  <c:v>0.048</c:v>
                </c:pt>
                <c:pt idx="5">
                  <c:v>0.06</c:v>
                </c:pt>
                <c:pt idx="6">
                  <c:v>0.072</c:v>
                </c:pt>
                <c:pt idx="7">
                  <c:v>0.084</c:v>
                </c:pt>
                <c:pt idx="8">
                  <c:v>0.096</c:v>
                </c:pt>
                <c:pt idx="9">
                  <c:v>0.10799999999999998</c:v>
                </c:pt>
                <c:pt idx="10">
                  <c:v>0.12</c:v>
                </c:pt>
                <c:pt idx="11">
                  <c:v>0.132</c:v>
                </c:pt>
                <c:pt idx="12">
                  <c:v>0.144</c:v>
                </c:pt>
              </c:numCache>
            </c:numRef>
          </c:yVal>
          <c:smooth val="0"/>
        </c:ser>
        <c:ser>
          <c:idx val="1"/>
          <c:order val="1"/>
          <c:tx>
            <c:strRef>
              <c:f>Sheet1!$B$16</c:f>
              <c:strCache>
                <c:ptCount val="1"/>
                <c:pt idx="0">
                  <c:v>structural mode (illustrative 0.10 Hz)</c:v>
                </c:pt>
              </c:strCache>
            </c:strRef>
          </c:tx>
          <c:spPr>
            <a:ln w="22860">
              <a:solidFill>
                <a:srgbClr val="F59E0B"/>
              </a:solidFill>
              <a:prstDash val="dash"/>
            </a:ln>
          </c:spPr>
          <c:marker>
            <c:symbol val="none"/>
          </c:marker>
          <c:xVal>
            <c:numRef>
              <c:f>Sheet1!$A$17:$A$18</c:f>
              <c:numCache>
                <c:formatCode>General</c:formatCode>
                <c:ptCount val="2"/>
                <c:pt idx="0">
                  <c:v>0</c:v>
                </c:pt>
                <c:pt idx="1">
                  <c:v>60</c:v>
                </c:pt>
              </c:numCache>
            </c:numRef>
          </c:xVal>
          <c:yVal>
            <c:numRef>
              <c:f>Sheet1!$B$17:$B$18</c:f>
              <c:numCache>
                <c:formatCode>General</c:formatCode>
                <c:ptCount val="2"/>
                <c:pt idx="0">
                  <c:v>0.1</c:v>
                </c:pt>
                <c:pt idx="1">
                  <c:v>0.1</c:v>
                </c:pt>
              </c:numCache>
            </c:numRef>
          </c:yVal>
          <c:smooth val="0"/>
        </c:ser>
        <c:axId val="-2128940872"/>
        <c:axId val="-2129643912"/>
      </c:scatterChart>
      <c:valAx>
        <c:axId val="-2128940872"/>
        <c:scaling>
          <c:orientation val="minMax"/>
          <c:max val="60.0"/>
          <c:min val="0.0"/>
        </c:scaling>
        <c:delete val="0"/>
        <c:axPos val="b"/>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9643912"/>
        <c:crosses val="autoZero"/>
        <c:crossBetween val="midCat"/>
        <c:majorUnit val="10.0"/>
      </c:valAx>
      <c:valAx>
        <c:axId val="-2129643912"/>
        <c:scaling>
          <c:orientation val="minMax"/>
          <c:max val="0.16"/>
          <c:min val="0.0"/>
        </c:scaling>
        <c:delete val="0"/>
        <c:axPos val="l"/>
        <c:majorGridlines>
          <c:spPr>
            <a:ln w="6350">
              <a:solidFill>
                <a:srgbClr val="22314A"/>
              </a:solidFill>
            </a:ln>
          </c:spPr>
        </c:majorGridlines>
        <c:numFmt formatCode="0.0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8940872"/>
        <c:crosses val="autoZero"/>
        <c:crossBetween val="midCat"/>
        <c:majorUnit val="0.04"/>
      </c:valAx>
    </c:plotArea>
    <c:legend>
      <c:legendPos val="b"/>
      <c:layout/>
      <c:overlay val="0"/>
      <c:txPr>
        <a:bodyPr/>
        <a:lstStyle/>
        <a:p>
          <a:pPr>
            <a:defRPr sz="850">
              <a:solidFill>
                <a:srgbClr val="94A3B8"/>
              </a:solidFill>
              <a:latin typeface="Segoe UI"/>
            </a:defRPr>
          </a:pPr>
        </a:p>
      </c:txPr>
    </c:legend>
    <c:plotVisOnly val="1"/>
    <c:dispBlanksAs val="gap"/>
    <c:showDLblsOverMax val="0"/>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Square plan — sharp lock-in</c:v>
                </c:pt>
              </c:strCache>
            </c:strRef>
          </c:tx>
          <c:spPr>
            <a:ln w="27940">
              <a:solidFill>
                <a:srgbClr val="F59E0B"/>
              </a:solidFill>
            </a:ln>
          </c:spPr>
          <c:marker>
            <c:symbol val="none"/>
          </c:marker>
          <c:xVal>
            <c:numRef>
              <c:f>Sheet1!$A$2:$A$82</c:f>
              <c:numCache>
                <c:formatCode>General</c:formatCode>
                <c:ptCount val="81"/>
                <c:pt idx="0">
                  <c:v>0.0</c:v>
                </c:pt>
                <c:pt idx="1">
                  <c:v>0.25</c:v>
                </c:pt>
                <c:pt idx="2">
                  <c:v>0.5</c:v>
                </c:pt>
                <c:pt idx="3">
                  <c:v>0.75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pt idx="49">
                  <c:v>12.25</c:v>
                </c:pt>
                <c:pt idx="50">
                  <c:v>12.5</c:v>
                </c:pt>
                <c:pt idx="51">
                  <c:v>12.75</c:v>
                </c:pt>
                <c:pt idx="52">
                  <c:v>13.0</c:v>
                </c:pt>
                <c:pt idx="53">
                  <c:v>13.25</c:v>
                </c:pt>
                <c:pt idx="54">
                  <c:v>13.5</c:v>
                </c:pt>
                <c:pt idx="55">
                  <c:v>13.75</c:v>
                </c:pt>
                <c:pt idx="56">
                  <c:v>14.0</c:v>
                </c:pt>
                <c:pt idx="57">
                  <c:v>14.25</c:v>
                </c:pt>
                <c:pt idx="58">
                  <c:v>14.5</c:v>
                </c:pt>
                <c:pt idx="59">
                  <c:v>14.75</c:v>
                </c:pt>
                <c:pt idx="60">
                  <c:v>15.0</c:v>
                </c:pt>
                <c:pt idx="61">
                  <c:v>15.25</c:v>
                </c:pt>
                <c:pt idx="62">
                  <c:v>15.5</c:v>
                </c:pt>
                <c:pt idx="63">
                  <c:v>15.75</c:v>
                </c:pt>
                <c:pt idx="64">
                  <c:v>16.0</c:v>
                </c:pt>
                <c:pt idx="65">
                  <c:v>16.25</c:v>
                </c:pt>
                <c:pt idx="66">
                  <c:v>16.5</c:v>
                </c:pt>
                <c:pt idx="67">
                  <c:v>16.75</c:v>
                </c:pt>
                <c:pt idx="68">
                  <c:v>17.0</c:v>
                </c:pt>
                <c:pt idx="69">
                  <c:v>17.25</c:v>
                </c:pt>
                <c:pt idx="70">
                  <c:v>17.5</c:v>
                </c:pt>
                <c:pt idx="71">
                  <c:v>17.75</c:v>
                </c:pt>
                <c:pt idx="72">
                  <c:v>18.0</c:v>
                </c:pt>
                <c:pt idx="73">
                  <c:v>18.25</c:v>
                </c:pt>
                <c:pt idx="74">
                  <c:v>18.5</c:v>
                </c:pt>
                <c:pt idx="75">
                  <c:v>18.75</c:v>
                </c:pt>
                <c:pt idx="76">
                  <c:v>19.0</c:v>
                </c:pt>
                <c:pt idx="77">
                  <c:v>19.25</c:v>
                </c:pt>
                <c:pt idx="78">
                  <c:v>19.5</c:v>
                </c:pt>
                <c:pt idx="79">
                  <c:v>19.75</c:v>
                </c:pt>
                <c:pt idx="80">
                  <c:v>20.0</c:v>
                </c:pt>
              </c:numCache>
            </c:numRef>
          </c:xVal>
          <c:yVal>
            <c:numRef>
              <c:f>Sheet1!$B$2:$B$82</c:f>
              <c:numCache>
                <c:formatCode>General</c:formatCode>
                <c:ptCount val="81"/>
                <c:pt idx="0">
                  <c:v>0.18</c:v>
                </c:pt>
                <c:pt idx="1">
                  <c:v>0.18</c:v>
                </c:pt>
                <c:pt idx="2">
                  <c:v>0.18000000000000013</c:v>
                </c:pt>
                <c:pt idx="3">
                  <c:v>0.1800000000000015</c:v>
                </c:pt>
                <c:pt idx="4">
                  <c:v>0.18000000000001473</c:v>
                </c:pt>
                <c:pt idx="5">
                  <c:v>0.18000000000013502</c:v>
                </c:pt>
                <c:pt idx="6">
                  <c:v>0.1800000000011447</c:v>
                </c:pt>
                <c:pt idx="7">
                  <c:v>0.18000000000898284</c:v>
                </c:pt>
                <c:pt idx="8">
                  <c:v>0.18000000006525743</c:v>
                </c:pt>
                <c:pt idx="9">
                  <c:v>0.18000000043887046</c:v>
                </c:pt>
                <c:pt idx="10">
                  <c:v>0.18000000273232455</c:v>
                </c:pt>
                <c:pt idx="11">
                  <c:v>0.1800000157477255</c:v>
                </c:pt>
                <c:pt idx="12">
                  <c:v>0.18000008402199907</c:v>
                </c:pt>
                <c:pt idx="13">
                  <c:v>0.18000041500927966</c:v>
                </c:pt>
                <c:pt idx="14">
                  <c:v>0.1800018976330189</c:v>
                </c:pt>
                <c:pt idx="15">
                  <c:v>0.18000803260243578</c:v>
                </c:pt>
                <c:pt idx="16">
                  <c:v>0.18003147675400585</c:v>
                </c:pt>
                <c:pt idx="17">
                  <c:v>0.1801141860975699</c:v>
                </c:pt>
                <c:pt idx="18">
                  <c:v>0.18038346536557895</c:v>
                </c:pt>
                <c:pt idx="19">
                  <c:v>0.18119214390330815</c:v>
                </c:pt>
                <c:pt idx="20">
                  <c:v>0.18343100098526036</c:v>
                </c:pt>
                <c:pt idx="21">
                  <c:v>0.189141187702981</c:v>
                </c:pt>
                <c:pt idx="22">
                  <c:v>0.20254623524170115</c:v>
                </c:pt>
                <c:pt idx="23">
                  <c:v>0.23147958824637654</c:v>
                </c:pt>
                <c:pt idx="24">
                  <c:v>0.2888142363315267</c:v>
                </c:pt>
                <c:pt idx="25">
                  <c:v>0.3929246763045098</c:v>
                </c:pt>
                <c:pt idx="26">
                  <c:v>0.5657055572243457</c:v>
                </c:pt>
                <c:pt idx="27">
                  <c:v>0.8268080554278334</c:v>
                </c:pt>
                <c:pt idx="28">
                  <c:v>1.1841175717371653</c:v>
                </c:pt>
                <c:pt idx="29">
                  <c:v>1.6230565074470853</c:v>
                </c:pt>
                <c:pt idx="30">
                  <c:v>2.0998695977324697</c:v>
                </c:pt>
                <c:pt idx="31">
                  <c:v>2.54455678679063</c:v>
                </c:pt>
                <c:pt idx="32">
                  <c:v>2.875984486384281</c:v>
                </c:pt>
                <c:pt idx="33">
                  <c:v>3.0256052437396597</c:v>
                </c:pt>
                <c:pt idx="34">
                  <c:v>2.9604912931848117</c:v>
                </c:pt>
                <c:pt idx="35">
                  <c:v>2.6951161723660984</c:v>
                </c:pt>
                <c:pt idx="36">
                  <c:v>2.2861251943988816</c:v>
                </c:pt>
                <c:pt idx="37">
                  <c:v>1.8126757426640074</c:v>
                </c:pt>
                <c:pt idx="38">
                  <c:v>1.3516700279454854</c:v>
                </c:pt>
                <c:pt idx="39">
                  <c:v>0.9583955134850697</c:v>
                </c:pt>
                <c:pt idx="40">
                  <c:v>0.6587237247589717</c:v>
                </c:pt>
                <c:pt idx="41">
                  <c:v>0.4525581677727356</c:v>
                </c:pt>
                <c:pt idx="42">
                  <c:v>0.32365577008384816</c:v>
                </c:pt>
                <c:pt idx="43">
                  <c:v>0.25009331037071303</c:v>
                </c:pt>
                <c:pt idx="44">
                  <c:v>0.21166064013399066</c:v>
                </c:pt>
                <c:pt idx="45">
                  <c:v>0.19323891625114875</c:v>
                </c:pt>
                <c:pt idx="46">
                  <c:v>0.18512477498626562</c:v>
                </c:pt>
                <c:pt idx="47">
                  <c:v>0.18183648248862053</c:v>
                </c:pt>
                <c:pt idx="48">
                  <c:v>0.18060923999363154</c:v>
                </c:pt>
                <c:pt idx="49">
                  <c:v>0.1801871025220237</c:v>
                </c:pt>
                <c:pt idx="50">
                  <c:v>0.18005319373697354</c:v>
                </c:pt>
                <c:pt idx="51">
                  <c:v>0.18001400009506774</c:v>
                </c:pt>
                <c:pt idx="52">
                  <c:v>0.18000341107360904</c:v>
                </c:pt>
                <c:pt idx="53">
                  <c:v>0.18000076937987344</c:v>
                </c:pt>
                <c:pt idx="54">
                  <c:v>0.18000016064979452</c:v>
                </c:pt>
                <c:pt idx="55">
                  <c:v>0.1800000310533995</c:v>
                </c:pt>
                <c:pt idx="56">
                  <c:v>0.18000000555683818</c:v>
                </c:pt>
                <c:pt idx="57">
                  <c:v>0.18000000092052582</c:v>
                </c:pt>
                <c:pt idx="58">
                  <c:v>0.1800000001411672</c:v>
                </c:pt>
                <c:pt idx="59">
                  <c:v>0.18000000002004107</c:v>
                </c:pt>
                <c:pt idx="60">
                  <c:v>0.1800000000026339</c:v>
                </c:pt>
                <c:pt idx="61">
                  <c:v>0.18000000000032046</c:v>
                </c:pt>
                <c:pt idx="62">
                  <c:v>0.18000000000003608</c:v>
                </c:pt>
                <c:pt idx="63">
                  <c:v>0.18000000000000377</c:v>
                </c:pt>
                <c:pt idx="64">
                  <c:v>0.18000000000000035</c:v>
                </c:pt>
                <c:pt idx="65">
                  <c:v>0.18000000000000002</c:v>
                </c:pt>
                <c:pt idx="66">
                  <c:v>0.18</c:v>
                </c:pt>
                <c:pt idx="67">
                  <c:v>0.18</c:v>
                </c:pt>
                <c:pt idx="68">
                  <c:v>0.18</c:v>
                </c:pt>
                <c:pt idx="69">
                  <c:v>0.18</c:v>
                </c:pt>
                <c:pt idx="70">
                  <c:v>0.18</c:v>
                </c:pt>
                <c:pt idx="71">
                  <c:v>0.18</c:v>
                </c:pt>
                <c:pt idx="72">
                  <c:v>0.18</c:v>
                </c:pt>
                <c:pt idx="73">
                  <c:v>0.18</c:v>
                </c:pt>
                <c:pt idx="74">
                  <c:v>0.18</c:v>
                </c:pt>
                <c:pt idx="75">
                  <c:v>0.18</c:v>
                </c:pt>
                <c:pt idx="76">
                  <c:v>0.18</c:v>
                </c:pt>
                <c:pt idx="77">
                  <c:v>0.18</c:v>
                </c:pt>
                <c:pt idx="78">
                  <c:v>0.18</c:v>
                </c:pt>
                <c:pt idx="79">
                  <c:v>0.18</c:v>
                </c:pt>
                <c:pt idx="80">
                  <c:v>0.18</c:v>
                </c:pt>
              </c:numCache>
            </c:numRef>
          </c:yVal>
          <c:smooth val="0"/>
        </c:ser>
        <c:ser>
          <c:idx val="1"/>
          <c:order val="1"/>
          <c:tx>
            <c:strRef>
              <c:f>Sheet1!$B$84</c:f>
              <c:strCache>
                <c:ptCount val="1"/>
                <c:pt idx="0">
                  <c:v>Stepped Y-plan — smeared response</c:v>
                </c:pt>
              </c:strCache>
            </c:strRef>
          </c:tx>
          <c:spPr>
            <a:ln w="33020">
              <a:solidFill>
                <a:srgbClr val="22D3EE"/>
              </a:solidFill>
            </a:ln>
          </c:spPr>
          <c:marker>
            <c:symbol val="none"/>
          </c:marker>
          <c:xVal>
            <c:numRef>
              <c:f>Sheet1!$A$85:$A$165</c:f>
              <c:numCache>
                <c:formatCode>General</c:formatCode>
                <c:ptCount val="81"/>
                <c:pt idx="0">
                  <c:v>0.0</c:v>
                </c:pt>
                <c:pt idx="1">
                  <c:v>0.25</c:v>
                </c:pt>
                <c:pt idx="2">
                  <c:v>0.5</c:v>
                </c:pt>
                <c:pt idx="3">
                  <c:v>0.75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pt idx="49">
                  <c:v>12.25</c:v>
                </c:pt>
                <c:pt idx="50">
                  <c:v>12.5</c:v>
                </c:pt>
                <c:pt idx="51">
                  <c:v>12.75</c:v>
                </c:pt>
                <c:pt idx="52">
                  <c:v>13.0</c:v>
                </c:pt>
                <c:pt idx="53">
                  <c:v>13.25</c:v>
                </c:pt>
                <c:pt idx="54">
                  <c:v>13.5</c:v>
                </c:pt>
                <c:pt idx="55">
                  <c:v>13.75</c:v>
                </c:pt>
                <c:pt idx="56">
                  <c:v>14.0</c:v>
                </c:pt>
                <c:pt idx="57">
                  <c:v>14.25</c:v>
                </c:pt>
                <c:pt idx="58">
                  <c:v>14.5</c:v>
                </c:pt>
                <c:pt idx="59">
                  <c:v>14.75</c:v>
                </c:pt>
                <c:pt idx="60">
                  <c:v>15.0</c:v>
                </c:pt>
                <c:pt idx="61">
                  <c:v>15.25</c:v>
                </c:pt>
                <c:pt idx="62">
                  <c:v>15.5</c:v>
                </c:pt>
                <c:pt idx="63">
                  <c:v>15.75</c:v>
                </c:pt>
                <c:pt idx="64">
                  <c:v>16.0</c:v>
                </c:pt>
                <c:pt idx="65">
                  <c:v>16.25</c:v>
                </c:pt>
                <c:pt idx="66">
                  <c:v>16.5</c:v>
                </c:pt>
                <c:pt idx="67">
                  <c:v>16.75</c:v>
                </c:pt>
                <c:pt idx="68">
                  <c:v>17.0</c:v>
                </c:pt>
                <c:pt idx="69">
                  <c:v>17.25</c:v>
                </c:pt>
                <c:pt idx="70">
                  <c:v>17.5</c:v>
                </c:pt>
                <c:pt idx="71">
                  <c:v>17.75</c:v>
                </c:pt>
                <c:pt idx="72">
                  <c:v>18.0</c:v>
                </c:pt>
                <c:pt idx="73">
                  <c:v>18.25</c:v>
                </c:pt>
                <c:pt idx="74">
                  <c:v>18.5</c:v>
                </c:pt>
                <c:pt idx="75">
                  <c:v>18.75</c:v>
                </c:pt>
                <c:pt idx="76">
                  <c:v>19.0</c:v>
                </c:pt>
                <c:pt idx="77">
                  <c:v>19.25</c:v>
                </c:pt>
                <c:pt idx="78">
                  <c:v>19.5</c:v>
                </c:pt>
                <c:pt idx="79">
                  <c:v>19.75</c:v>
                </c:pt>
                <c:pt idx="80">
                  <c:v>20.0</c:v>
                </c:pt>
              </c:numCache>
            </c:numRef>
          </c:xVal>
          <c:yVal>
            <c:numRef>
              <c:f>Sheet1!$B$85:$B$165</c:f>
              <c:numCache>
                <c:formatCode>General</c:formatCode>
                <c:ptCount val="81"/>
                <c:pt idx="0">
                  <c:v>0.2106949362706897</c:v>
                </c:pt>
                <c:pt idx="1">
                  <c:v>0.21718967205007172</c:v>
                </c:pt>
                <c:pt idx="2">
                  <c:v>0.22481567229587554</c:v>
                </c:pt>
                <c:pt idx="3">
                  <c:v>0.23371424028052046</c:v>
                </c:pt>
                <c:pt idx="4">
                  <c:v>0.24403256719230737</c:v>
                </c:pt>
                <c:pt idx="5">
                  <c:v>0.25592142392611894</c:v>
                </c:pt>
                <c:pt idx="6">
                  <c:v>0.26953229773847065</c:v>
                </c:pt>
                <c:pt idx="7">
                  <c:v>0.28501396837016457</c:v>
                </c:pt>
                <c:pt idx="8">
                  <c:v>0.30250854022149426</c:v>
                </c:pt>
                <c:pt idx="9">
                  <c:v>0.32214697243615215</c:v>
                </c:pt>
                <c:pt idx="10">
                  <c:v>0.3440441765814067</c:v>
                </c:pt>
                <c:pt idx="11">
                  <c:v>0.3682937809953227</c:v>
                </c:pt>
                <c:pt idx="12">
                  <c:v>0.3949626905347753</c:v>
                </c:pt>
                <c:pt idx="13">
                  <c:v>0.4240855989016578</c:v>
                </c:pt>
                <c:pt idx="14">
                  <c:v>0.4556596362811536</c:v>
                </c:pt>
                <c:pt idx="15">
                  <c:v>0.48963935593787855</c:v>
                </c:pt>
                <c:pt idx="16">
                  <c:v>0.5259322779338738</c:v>
                </c:pt>
                <c:pt idx="17">
                  <c:v>0.5643952146270703</c:v>
                </c:pt>
                <c:pt idx="18">
                  <c:v>0.6048315996885348</c:v>
                </c:pt>
                <c:pt idx="19">
                  <c:v>0.6469900290070465</c:v>
                </c:pt>
                <c:pt idx="20">
                  <c:v>0.6905641974622454</c:v>
                </c:pt>
                <c:pt idx="21">
                  <c:v>0.7351943801322351</c:v>
                </c:pt>
                <c:pt idx="22">
                  <c:v>0.7804705606692046</c:v>
                </c:pt>
                <c:pt idx="23">
                  <c:v>0.8259372545890442</c:v>
                </c:pt>
                <c:pt idx="24">
                  <c:v>0.8711000129785706</c:v>
                </c:pt>
                <c:pt idx="25">
                  <c:v>0.9154335251101382</c:v>
                </c:pt>
                <c:pt idx="26">
                  <c:v>0.9583911696339977</c:v>
                </c:pt>
                <c:pt idx="27">
                  <c:v>0.9994157967009609</c:v>
                </c:pt>
                <c:pt idx="28">
                  <c:v>1.0379514610247607</c:v>
                </c:pt>
                <c:pt idx="29">
                  <c:v>1.0734557719641074</c:v>
                </c:pt>
                <c:pt idx="30">
                  <c:v>1.1054124843826847</c:v>
                </c:pt>
                <c:pt idx="31">
                  <c:v>1.133343926071167</c:v>
                </c:pt>
                <c:pt idx="32">
                  <c:v>1.1568228459841103</c:v>
                </c:pt>
                <c:pt idx="33">
                  <c:v>1.1754832737485015</c:v>
                </c:pt>
                <c:pt idx="34">
                  <c:v>1.1890300052161349</c:v>
                </c:pt>
                <c:pt idx="35">
                  <c:v>1.1972463706611975</c:v>
                </c:pt>
                <c:pt idx="36">
                  <c:v>1.2</c:v>
                </c:pt>
                <c:pt idx="37">
                  <c:v>1.1972463706611975</c:v>
                </c:pt>
                <c:pt idx="38">
                  <c:v>1.1890300052161349</c:v>
                </c:pt>
                <c:pt idx="39">
                  <c:v>1.1754832737485015</c:v>
                </c:pt>
                <c:pt idx="40">
                  <c:v>1.1568228459841103</c:v>
                </c:pt>
                <c:pt idx="41">
                  <c:v>1.133343926071167</c:v>
                </c:pt>
                <c:pt idx="42">
                  <c:v>1.1054124843826847</c:v>
                </c:pt>
                <c:pt idx="43">
                  <c:v>1.0734557719641074</c:v>
                </c:pt>
                <c:pt idx="44">
                  <c:v>1.0379514610247607</c:v>
                </c:pt>
                <c:pt idx="45">
                  <c:v>0.9994157967009609</c:v>
                </c:pt>
                <c:pt idx="46">
                  <c:v>0.9583911696339977</c:v>
                </c:pt>
                <c:pt idx="47">
                  <c:v>0.9154335251101382</c:v>
                </c:pt>
                <c:pt idx="48">
                  <c:v>0.8711000129785706</c:v>
                </c:pt>
                <c:pt idx="49">
                  <c:v>0.8259372545890442</c:v>
                </c:pt>
                <c:pt idx="50">
                  <c:v>0.7804705606692046</c:v>
                </c:pt>
                <c:pt idx="51">
                  <c:v>0.7351943801322351</c:v>
                </c:pt>
                <c:pt idx="52">
                  <c:v>0.6905641974622454</c:v>
                </c:pt>
                <c:pt idx="53">
                  <c:v>0.6469900290070465</c:v>
                </c:pt>
                <c:pt idx="54">
                  <c:v>0.6048315996885348</c:v>
                </c:pt>
                <c:pt idx="55">
                  <c:v>0.5643952146270703</c:v>
                </c:pt>
                <c:pt idx="56">
                  <c:v>0.5259322779338738</c:v>
                </c:pt>
                <c:pt idx="57">
                  <c:v>0.48963935593787855</c:v>
                </c:pt>
                <c:pt idx="58">
                  <c:v>0.4556596362811536</c:v>
                </c:pt>
                <c:pt idx="59">
                  <c:v>0.4240855989016578</c:v>
                </c:pt>
                <c:pt idx="60">
                  <c:v>0.3949626905347753</c:v>
                </c:pt>
                <c:pt idx="61">
                  <c:v>0.3682937809953227</c:v>
                </c:pt>
                <c:pt idx="62">
                  <c:v>0.3440441765814067</c:v>
                </c:pt>
                <c:pt idx="63">
                  <c:v>0.32214697243615215</c:v>
                </c:pt>
                <c:pt idx="64">
                  <c:v>0.30250854022149426</c:v>
                </c:pt>
                <c:pt idx="65">
                  <c:v>0.28501396837016457</c:v>
                </c:pt>
                <c:pt idx="66">
                  <c:v>0.26953229773847065</c:v>
                </c:pt>
                <c:pt idx="67">
                  <c:v>0.25592142392611894</c:v>
                </c:pt>
                <c:pt idx="68">
                  <c:v>0.24403256719230737</c:v>
                </c:pt>
                <c:pt idx="69">
                  <c:v>0.23371424028052046</c:v>
                </c:pt>
                <c:pt idx="70">
                  <c:v>0.22481567229587554</c:v>
                </c:pt>
                <c:pt idx="71">
                  <c:v>0.21718967205007172</c:v>
                </c:pt>
                <c:pt idx="72">
                  <c:v>0.2106949362706897</c:v>
                </c:pt>
                <c:pt idx="73">
                  <c:v>0.205197826310268</c:v>
                </c:pt>
                <c:pt idx="74">
                  <c:v>0.20057365128942947</c:v>
                </c:pt>
                <c:pt idx="75">
                  <c:v>0.1967075059960824</c:v>
                </c:pt>
                <c:pt idx="76">
                  <c:v>0.1934947185544188</c:v>
                </c:pt>
                <c:pt idx="77">
                  <c:v>0.19084096623090618</c:v>
                </c:pt>
                <c:pt idx="78">
                  <c:v>0.18866211821604872</c:v>
                </c:pt>
                <c:pt idx="79">
                  <c:v>0.1868838623230796</c:v>
                </c:pt>
                <c:pt idx="80">
                  <c:v>0.18544116880928288</c:v>
                </c:pt>
              </c:numCache>
            </c:numRef>
          </c:yVal>
          <c:smooth val="0"/>
        </c:ser>
        <c:axId val="-2128940872"/>
        <c:axId val="-2129643912"/>
      </c:scatterChart>
      <c:valAx>
        <c:axId val="-2128940872"/>
        <c:scaling>
          <c:orientation val="minMax"/>
          <c:max val="20.0"/>
          <c:min val="0.0"/>
        </c:scaling>
        <c:delete val="0"/>
        <c:axPos val="b"/>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9643912"/>
        <c:crosses val="autoZero"/>
        <c:crossBetween val="midCat"/>
        <c:majorUnit val="2.0"/>
      </c:valAx>
      <c:valAx>
        <c:axId val="-2129643912"/>
        <c:scaling>
          <c:orientation val="minMax"/>
          <c:max val="3.4"/>
          <c:min val="0.0"/>
        </c:scaling>
        <c:delete val="0"/>
        <c:axPos val="l"/>
        <c:majorGridlines>
          <c:spPr>
            <a:ln w="6350">
              <a:solidFill>
                <a:srgbClr val="22314A"/>
              </a:solidFill>
            </a:ln>
          </c:spPr>
        </c:majorGridlines>
        <c:numFmt formatCode="0.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8940872"/>
        <c:crosses val="autoZero"/>
        <c:crossBetween val="midCat"/>
        <c:majorUnit val="0.5"/>
      </c:valAx>
    </c:plotArea>
    <c:legend>
      <c:legendPos val="b"/>
      <c:layout/>
      <c:overlay val="0"/>
      <c:txPr>
        <a:bodyPr/>
        <a:lstStyle/>
        <a:p>
          <a:pPr>
            <a:defRPr sz="850">
              <a:solidFill>
                <a:srgbClr val="94A3B8"/>
              </a:solidFill>
              <a:latin typeface="Segoe UI"/>
            </a:defRPr>
          </a:pPr>
        </a:p>
      </c:txPr>
    </c:legend>
    <c:plotVisOnly val="1"/>
    <c:dispBlanksAs val="gap"/>
    <c:showDLblsOverMax val="0"/>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c:v>
                </c:pt>
              </c:strCache>
            </c:strRef>
          </c:tx>
          <c:dPt>
            <c:idx val="0"/>
            <c:spPr>
              <a:solidFill>
                <a:srgbClr val="F87171"/>
              </a:solidFill>
              <a:ln>
                <a:noFill/>
              </a:ln>
            </c:spPr>
          </c:dPt>
          <c:dPt>
            <c:idx val="1"/>
            <c:spPr>
              <a:solidFill>
                <a:srgbClr val="F59E0B"/>
              </a:solidFill>
              <a:ln>
                <a:noFill/>
              </a:ln>
            </c:spPr>
          </c:dPt>
          <c:dPt>
            <c:idx val="2"/>
            <c:spPr>
              <a:solidFill>
                <a:srgbClr val="34D399"/>
              </a:solidFill>
              <a:ln>
                <a:noFill/>
              </a:ln>
            </c:spPr>
          </c:dPt>
          <c:cat>
            <c:strRef>
              <c:f>Sheet1!$A$2:$A$4</c:f>
              <c:strCache>
                <c:ptCount val="3"/>
                <c:pt idx="0">
                  <c:v>Initial massing
(May 2003)</c:v>
                </c:pt>
                <c:pt idx="1">
                  <c:v>After setbacks
&amp; taper</c:v>
                </c:pt>
                <c:pt idx="2">
                  <c:v>Final shape
+ tuning</c:v>
                </c:pt>
              </c:strCache>
            </c:strRef>
          </c:cat>
          <c:val>
            <c:numRef>
              <c:f>Sheet1!$B$2:$B$4</c:f>
              <c:numCache>
                <c:formatCode>General</c:formatCode>
                <c:ptCount val="3"/>
                <c:pt idx="0">
                  <c:v>37</c:v>
                </c:pt>
                <c:pt idx="1">
                  <c:v>19</c:v>
                </c:pt>
                <c:pt idx="2">
                  <c:v>12</c:v>
                </c:pt>
              </c:numCache>
            </c:numRef>
          </c:val>
        </c:ser>
        <c:dLbls>
          <c:numFmt formatCode="0" sourceLinked="0"/>
          <c:txPr>
            <a:bodyPr/>
            <a:lstStyle/>
            <a:p>
              <a:pPr>
                <a:defRPr sz="1300" b="1">
                  <a:solidFill>
                    <a:srgbClr val="E8EEF7"/>
                  </a:solidFill>
                  <a:latin typeface="Segoe UI Semibold"/>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13994440"/>
        <c:crosses val="autoZero"/>
        <c:auto val="1"/>
        <c:lblAlgn val="ctr"/>
        <c:lblOffset val="100"/>
        <c:noMultiLvlLbl val="0"/>
      </c:catAx>
      <c:valAx>
        <c:axId val="-2113994440"/>
        <c:scaling>
          <c:max val="45.0"/>
          <c:min val="0.0"/>
        </c:scaling>
        <c:delete val="0"/>
        <c:axPos val="l"/>
        <c:majorGridlines>
          <c:spPr>
            <a:ln w="6350">
              <a:solidFill>
                <a:srgbClr val="22314A"/>
              </a:solidFill>
            </a:ln>
          </c:spPr>
        </c:majorGridlines>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068027336"/>
        <c:crosses val="autoZero"/>
        <c:majorUnit val="10.0"/>
      </c:valAx>
    </c:plotArea>
    <c:dispBlanksAs val="gap"/>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overturning moment</c:v>
                </c:pt>
              </c:strCache>
            </c:strRef>
          </c:tx>
          <c:spPr>
            <a:ln w="30480">
              <a:solidFill>
                <a:srgbClr val="22D3EE"/>
              </a:solidFill>
            </a:ln>
          </c:spPr>
          <c:marker>
            <c:symbol val="none"/>
          </c:marker>
          <c:xVal>
            <c:numRef>
              <c:f>Sheet1!$A$2:$A$42</c:f>
              <c:numCache>
                <c:formatCode>General</c:formatCode>
                <c:ptCount val="41"/>
                <c:pt idx="0">
                  <c:v>1.0</c:v>
                </c:pt>
                <c:pt idx="1">
                  <c:v>0.9506249999999999</c:v>
                </c:pt>
                <c:pt idx="2">
                  <c:v>0.9025</c:v>
                </c:pt>
                <c:pt idx="3">
                  <c:v>0.8556250000000001</c:v>
                </c:pt>
                <c:pt idx="4">
                  <c:v>0.81</c:v>
                </c:pt>
                <c:pt idx="5">
                  <c:v>0.765625</c:v>
                </c:pt>
                <c:pt idx="6">
                  <c:v>0.7224999999999999</c:v>
                </c:pt>
                <c:pt idx="7">
                  <c:v>0.6806249999999999</c:v>
                </c:pt>
                <c:pt idx="8">
                  <c:v>0.6400000000000001</c:v>
                </c:pt>
                <c:pt idx="9">
                  <c:v>0.6006250000000001</c:v>
                </c:pt>
                <c:pt idx="10">
                  <c:v>0.5625</c:v>
                </c:pt>
                <c:pt idx="11">
                  <c:v>0.525625</c:v>
                </c:pt>
                <c:pt idx="12">
                  <c:v>0.48999999999999994</c:v>
                </c:pt>
                <c:pt idx="13">
                  <c:v>0.45562500000000006</c:v>
                </c:pt>
                <c:pt idx="14">
                  <c:v>0.42250000000000004</c:v>
                </c:pt>
                <c:pt idx="15">
                  <c:v>0.390625</c:v>
                </c:pt>
                <c:pt idx="16">
                  <c:v>0.36</c:v>
                </c:pt>
                <c:pt idx="17">
                  <c:v>0.33062499999999995</c:v>
                </c:pt>
                <c:pt idx="18">
                  <c:v>0.30250000000000005</c:v>
                </c:pt>
                <c:pt idx="19">
                  <c:v>0.275625</c:v>
                </c:pt>
                <c:pt idx="20">
                  <c:v>0.25</c:v>
                </c:pt>
                <c:pt idx="21">
                  <c:v>0.225625</c:v>
                </c:pt>
                <c:pt idx="22">
                  <c:v>0.20249999999999996</c:v>
                </c:pt>
                <c:pt idx="23">
                  <c:v>0.18062500000000004</c:v>
                </c:pt>
                <c:pt idx="24">
                  <c:v>0.16000000000000003</c:v>
                </c:pt>
                <c:pt idx="25">
                  <c:v>0.140625</c:v>
                </c:pt>
                <c:pt idx="26">
                  <c:v>0.12249999999999998</c:v>
                </c:pt>
                <c:pt idx="27">
                  <c:v>0.10562499999999997</c:v>
                </c:pt>
                <c:pt idx="28">
                  <c:v>0.09000000000000002</c:v>
                </c:pt>
                <c:pt idx="29">
                  <c:v>0.07562500000000001</c:v>
                </c:pt>
                <c:pt idx="30">
                  <c:v>0.0625</c:v>
                </c:pt>
                <c:pt idx="31">
                  <c:v>0.05062499999999999</c:v>
                </c:pt>
                <c:pt idx="32">
                  <c:v>0.03999999999999998</c:v>
                </c:pt>
                <c:pt idx="33">
                  <c:v>0.030625000000000017</c:v>
                </c:pt>
                <c:pt idx="34">
                  <c:v>0.022500000000000006</c:v>
                </c:pt>
                <c:pt idx="35">
                  <c:v>0.015625</c:v>
                </c:pt>
                <c:pt idx="36">
                  <c:v>0.009999999999999995</c:v>
                </c:pt>
                <c:pt idx="37">
                  <c:v>0.005624999999999994</c:v>
                </c:pt>
                <c:pt idx="38">
                  <c:v>0.0025000000000000044</c:v>
                </c:pt>
                <c:pt idx="39">
                  <c:v>0.0006250000000000011</c:v>
                </c:pt>
                <c:pt idx="40">
                  <c:v>0.0</c:v>
                </c:pt>
              </c:numCache>
            </c:numRef>
          </c:xVal>
          <c:yVal>
            <c:numRef>
              <c:f>Sheet1!$B$2:$B$42</c:f>
              <c:numCache>
                <c:formatCode>General</c:formatCode>
                <c:ptCount val="4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1.0</c:v>
                </c:pt>
              </c:numCache>
            </c:numRef>
          </c:yVal>
          <c:smooth val="0"/>
        </c:ser>
        <c:axId val="-2128940872"/>
        <c:axId val="-2129643912"/>
      </c:scatterChart>
      <c:valAx>
        <c:axId val="-2128940872"/>
        <c:scaling>
          <c:orientation val="minMax"/>
          <c:max val="1.05"/>
          <c:min val="0.0"/>
        </c:scaling>
        <c:delete val="0"/>
        <c:axPos val="b"/>
        <c:numFmt formatCode="0.0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9643912"/>
        <c:crosses val="autoZero"/>
        <c:crossBetween val="midCat"/>
        <c:majorUnit val="0.25"/>
      </c:valAx>
      <c:valAx>
        <c:axId val="-2129643912"/>
        <c:scaling>
          <c:orientation val="minMax"/>
          <c:max val="1.0"/>
          <c:min val="0.0"/>
        </c:scaling>
        <c:delete val="0"/>
        <c:axPos val="l"/>
        <c:majorGridlines>
          <c:spPr>
            <a:ln w="6350">
              <a:solidFill>
                <a:srgbClr val="22314A"/>
              </a:solidFill>
            </a:ln>
          </c:spPr>
        </c:majorGridlines>
        <c:numFmt formatCode="0.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8940872"/>
        <c:crosses val="autoZero"/>
        <c:crossBetween val="midCat"/>
        <c:majorUnit val="0.2"/>
      </c:valAx>
    </c:plotArea>
    <c:plotVisOnly val="1"/>
    <c:dispBlanksAs val="gap"/>
    <c:showDLblsOverMax val="0"/>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acceleration</c:v>
                </c:pt>
              </c:strCache>
            </c:strRef>
          </c:tx>
          <c:spPr>
            <a:ln w="13970">
              <a:solidFill>
                <a:srgbClr val="2DD4BF"/>
              </a:solidFill>
            </a:ln>
          </c:spPr>
          <c:marker>
            <c:symbol val="none"/>
          </c:marker>
          <c:xVal>
            <c:numRef>
              <c:f>Sheet1!$A$2:$A$202</c:f>
              <c:numCache>
                <c:formatCode>General</c:formatCode>
                <c:ptCount val="20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pt idx="81">
                  <c:v>243</c:v>
                </c:pt>
                <c:pt idx="82">
                  <c:v>246</c:v>
                </c:pt>
                <c:pt idx="83">
                  <c:v>249</c:v>
                </c:pt>
                <c:pt idx="84">
                  <c:v>252</c:v>
                </c:pt>
                <c:pt idx="85">
                  <c:v>255</c:v>
                </c:pt>
                <c:pt idx="86">
                  <c:v>258</c:v>
                </c:pt>
                <c:pt idx="87">
                  <c:v>261</c:v>
                </c:pt>
                <c:pt idx="88">
                  <c:v>264</c:v>
                </c:pt>
                <c:pt idx="89">
                  <c:v>267</c:v>
                </c:pt>
                <c:pt idx="90">
                  <c:v>270</c:v>
                </c:pt>
                <c:pt idx="91">
                  <c:v>273</c:v>
                </c:pt>
                <c:pt idx="92">
                  <c:v>276</c:v>
                </c:pt>
                <c:pt idx="93">
                  <c:v>279</c:v>
                </c:pt>
                <c:pt idx="94">
                  <c:v>282</c:v>
                </c:pt>
                <c:pt idx="95">
                  <c:v>285</c:v>
                </c:pt>
                <c:pt idx="96">
                  <c:v>288</c:v>
                </c:pt>
                <c:pt idx="97">
                  <c:v>291</c:v>
                </c:pt>
                <c:pt idx="98">
                  <c:v>294</c:v>
                </c:pt>
                <c:pt idx="99">
                  <c:v>297</c:v>
                </c:pt>
                <c:pt idx="100">
                  <c:v>300</c:v>
                </c:pt>
                <c:pt idx="101">
                  <c:v>303</c:v>
                </c:pt>
                <c:pt idx="102">
                  <c:v>306</c:v>
                </c:pt>
                <c:pt idx="103">
                  <c:v>309</c:v>
                </c:pt>
                <c:pt idx="104">
                  <c:v>312</c:v>
                </c:pt>
                <c:pt idx="105">
                  <c:v>315</c:v>
                </c:pt>
                <c:pt idx="106">
                  <c:v>318</c:v>
                </c:pt>
                <c:pt idx="107">
                  <c:v>321</c:v>
                </c:pt>
                <c:pt idx="108">
                  <c:v>324</c:v>
                </c:pt>
                <c:pt idx="109">
                  <c:v>327</c:v>
                </c:pt>
                <c:pt idx="110">
                  <c:v>330</c:v>
                </c:pt>
                <c:pt idx="111">
                  <c:v>333</c:v>
                </c:pt>
                <c:pt idx="112">
                  <c:v>336</c:v>
                </c:pt>
                <c:pt idx="113">
                  <c:v>339</c:v>
                </c:pt>
                <c:pt idx="114">
                  <c:v>342</c:v>
                </c:pt>
                <c:pt idx="115">
                  <c:v>345</c:v>
                </c:pt>
                <c:pt idx="116">
                  <c:v>348</c:v>
                </c:pt>
                <c:pt idx="117">
                  <c:v>351</c:v>
                </c:pt>
                <c:pt idx="118">
                  <c:v>354</c:v>
                </c:pt>
                <c:pt idx="119">
                  <c:v>357</c:v>
                </c:pt>
                <c:pt idx="120">
                  <c:v>360</c:v>
                </c:pt>
                <c:pt idx="121">
                  <c:v>363</c:v>
                </c:pt>
                <c:pt idx="122">
                  <c:v>366</c:v>
                </c:pt>
                <c:pt idx="123">
                  <c:v>369</c:v>
                </c:pt>
                <c:pt idx="124">
                  <c:v>372</c:v>
                </c:pt>
                <c:pt idx="125">
                  <c:v>375</c:v>
                </c:pt>
                <c:pt idx="126">
                  <c:v>378</c:v>
                </c:pt>
                <c:pt idx="127">
                  <c:v>381</c:v>
                </c:pt>
                <c:pt idx="128">
                  <c:v>384</c:v>
                </c:pt>
                <c:pt idx="129">
                  <c:v>387</c:v>
                </c:pt>
                <c:pt idx="130">
                  <c:v>390</c:v>
                </c:pt>
                <c:pt idx="131">
                  <c:v>393</c:v>
                </c:pt>
                <c:pt idx="132">
                  <c:v>396</c:v>
                </c:pt>
                <c:pt idx="133">
                  <c:v>399</c:v>
                </c:pt>
                <c:pt idx="134">
                  <c:v>402</c:v>
                </c:pt>
                <c:pt idx="135">
                  <c:v>405</c:v>
                </c:pt>
                <c:pt idx="136">
                  <c:v>408</c:v>
                </c:pt>
                <c:pt idx="137">
                  <c:v>411</c:v>
                </c:pt>
                <c:pt idx="138">
                  <c:v>414</c:v>
                </c:pt>
                <c:pt idx="139">
                  <c:v>417</c:v>
                </c:pt>
                <c:pt idx="140">
                  <c:v>420</c:v>
                </c:pt>
                <c:pt idx="141">
                  <c:v>423</c:v>
                </c:pt>
                <c:pt idx="142">
                  <c:v>426</c:v>
                </c:pt>
                <c:pt idx="143">
                  <c:v>429</c:v>
                </c:pt>
                <c:pt idx="144">
                  <c:v>432</c:v>
                </c:pt>
                <c:pt idx="145">
                  <c:v>435</c:v>
                </c:pt>
                <c:pt idx="146">
                  <c:v>438</c:v>
                </c:pt>
                <c:pt idx="147">
                  <c:v>441</c:v>
                </c:pt>
                <c:pt idx="148">
                  <c:v>444</c:v>
                </c:pt>
                <c:pt idx="149">
                  <c:v>447</c:v>
                </c:pt>
                <c:pt idx="150">
                  <c:v>450</c:v>
                </c:pt>
                <c:pt idx="151">
                  <c:v>453</c:v>
                </c:pt>
                <c:pt idx="152">
                  <c:v>456</c:v>
                </c:pt>
                <c:pt idx="153">
                  <c:v>459</c:v>
                </c:pt>
                <c:pt idx="154">
                  <c:v>462</c:v>
                </c:pt>
                <c:pt idx="155">
                  <c:v>465</c:v>
                </c:pt>
                <c:pt idx="156">
                  <c:v>468</c:v>
                </c:pt>
                <c:pt idx="157">
                  <c:v>471</c:v>
                </c:pt>
                <c:pt idx="158">
                  <c:v>474</c:v>
                </c:pt>
                <c:pt idx="159">
                  <c:v>477</c:v>
                </c:pt>
                <c:pt idx="160">
                  <c:v>480</c:v>
                </c:pt>
                <c:pt idx="161">
                  <c:v>483</c:v>
                </c:pt>
                <c:pt idx="162">
                  <c:v>486</c:v>
                </c:pt>
                <c:pt idx="163">
                  <c:v>489</c:v>
                </c:pt>
                <c:pt idx="164">
                  <c:v>492</c:v>
                </c:pt>
                <c:pt idx="165">
                  <c:v>495</c:v>
                </c:pt>
                <c:pt idx="166">
                  <c:v>498</c:v>
                </c:pt>
                <c:pt idx="167">
                  <c:v>501</c:v>
                </c:pt>
                <c:pt idx="168">
                  <c:v>504</c:v>
                </c:pt>
                <c:pt idx="169">
                  <c:v>507</c:v>
                </c:pt>
                <c:pt idx="170">
                  <c:v>510</c:v>
                </c:pt>
                <c:pt idx="171">
                  <c:v>513</c:v>
                </c:pt>
                <c:pt idx="172">
                  <c:v>516</c:v>
                </c:pt>
                <c:pt idx="173">
                  <c:v>519</c:v>
                </c:pt>
                <c:pt idx="174">
                  <c:v>522</c:v>
                </c:pt>
                <c:pt idx="175">
                  <c:v>525</c:v>
                </c:pt>
                <c:pt idx="176">
                  <c:v>528</c:v>
                </c:pt>
                <c:pt idx="177">
                  <c:v>531</c:v>
                </c:pt>
                <c:pt idx="178">
                  <c:v>534</c:v>
                </c:pt>
                <c:pt idx="179">
                  <c:v>537</c:v>
                </c:pt>
                <c:pt idx="180">
                  <c:v>540</c:v>
                </c:pt>
                <c:pt idx="181">
                  <c:v>543</c:v>
                </c:pt>
                <c:pt idx="182">
                  <c:v>546</c:v>
                </c:pt>
                <c:pt idx="183">
                  <c:v>549</c:v>
                </c:pt>
                <c:pt idx="184">
                  <c:v>552</c:v>
                </c:pt>
                <c:pt idx="185">
                  <c:v>555</c:v>
                </c:pt>
                <c:pt idx="186">
                  <c:v>558</c:v>
                </c:pt>
                <c:pt idx="187">
                  <c:v>561</c:v>
                </c:pt>
                <c:pt idx="188">
                  <c:v>564</c:v>
                </c:pt>
                <c:pt idx="189">
                  <c:v>567</c:v>
                </c:pt>
                <c:pt idx="190">
                  <c:v>570</c:v>
                </c:pt>
                <c:pt idx="191">
                  <c:v>573</c:v>
                </c:pt>
                <c:pt idx="192">
                  <c:v>576</c:v>
                </c:pt>
                <c:pt idx="193">
                  <c:v>579</c:v>
                </c:pt>
                <c:pt idx="194">
                  <c:v>582</c:v>
                </c:pt>
                <c:pt idx="195">
                  <c:v>585</c:v>
                </c:pt>
                <c:pt idx="196">
                  <c:v>588</c:v>
                </c:pt>
                <c:pt idx="197">
                  <c:v>591</c:v>
                </c:pt>
                <c:pt idx="198">
                  <c:v>594</c:v>
                </c:pt>
                <c:pt idx="199">
                  <c:v>597</c:v>
                </c:pt>
                <c:pt idx="200">
                  <c:v>600</c:v>
                </c:pt>
              </c:numCache>
            </c:numRef>
          </c:xVal>
          <c:yVal>
            <c:numRef>
              <c:f>Sheet1!$B$2:$B$202</c:f>
              <c:numCache>
                <c:formatCode>General</c:formatCode>
                <c:ptCount val="201"/>
                <c:pt idx="0">
                  <c:v>0.0</c:v>
                </c:pt>
                <c:pt idx="1">
                  <c:v>3.9076956819619513</c:v>
                </c:pt>
                <c:pt idx="2">
                  <c:v>-4.044558704379469</c:v>
                </c:pt>
                <c:pt idx="3">
                  <c:v>-0.3211558554812654</c:v>
                </c:pt>
                <c:pt idx="4">
                  <c:v>4.912699392865994</c:v>
                </c:pt>
                <c:pt idx="5">
                  <c:v>-4.636737263506284</c:v>
                </c:pt>
                <c:pt idx="6">
                  <c:v>-0.7541818689082825</c:v>
                </c:pt>
                <c:pt idx="7">
                  <c:v>5.843546494044237</c:v>
                </c:pt>
                <c:pt idx="8">
                  <c:v>-5.032324862090514</c:v>
                </c:pt>
                <c:pt idx="9">
                  <c:v>-1.265519211000575</c:v>
                </c:pt>
                <c:pt idx="10">
                  <c:v>6.61025827073463</c:v>
                </c:pt>
                <c:pt idx="11">
                  <c:v>-5.189802491173643</c:v>
                </c:pt>
                <c:pt idx="12">
                  <c:v>-1.8052075313774025</c:v>
                </c:pt>
                <c:pt idx="13">
                  <c:v>7.136078725013317</c:v>
                </c:pt>
                <c:pt idx="14">
                  <c:v>-5.095994302217309</c:v>
                </c:pt>
                <c:pt idx="15">
                  <c:v>-2.314065315056586</c:v>
                </c:pt>
                <c:pt idx="16">
                  <c:v>7.366701206514588</c:v>
                </c:pt>
                <c:pt idx="17">
                  <c:v>-4.76628610790881</c:v>
                </c:pt>
                <c:pt idx="18">
                  <c:v>-2.7323421150302805</c:v>
                </c:pt>
                <c:pt idx="19">
                  <c:v>7.276978529563292</c:v>
                </c:pt>
                <c:pt idx="20">
                  <c:v>-4.241302604202421</c:v>
                </c:pt>
                <c:pt idx="21">
                  <c:v>-3.008666888239333</c:v>
                </c:pt>
                <c:pt idx="22">
                  <c:v>6.874267133706986</c:v>
                </c:pt>
                <c:pt idx="23">
                  <c:v>-3.5805487936175093</c:v>
                </c:pt>
                <c:pt idx="24">
                  <c:v>-3.1080664700608764</c:v>
                </c:pt>
                <c:pt idx="25">
                  <c:v>6.19796790532763</c:v>
                </c:pt>
                <c:pt idx="26">
                  <c:v>-2.853900134499881</c:v>
                </c:pt>
                <c:pt idx="27">
                  <c:v>-3.017939788138873</c:v>
                </c:pt>
                <c:pt idx="28">
                  <c:v>5.315294975273204</c:v>
                </c:pt>
                <c:pt idx="29">
                  <c:v>-2.1320875887659594</c:v>
                </c:pt>
                <c:pt idx="30">
                  <c:v>-2.751132836319189</c:v>
                </c:pt>
                <c:pt idx="31">
                  <c:v>4.313770004029191</c:v>
                </c:pt>
                <c:pt idx="32">
                  <c:v>-1.4774351764386502</c:v>
                </c:pt>
                <c:pt idx="33">
                  <c:v>-2.3456335427153587</c:v>
                </c:pt>
                <c:pt idx="34">
                  <c:v>3.2913442623556737</c:v>
                </c:pt>
                <c:pt idx="35">
                  <c:v>-0.9360555193820393</c:v>
                </c:pt>
                <c:pt idx="36">
                  <c:v>-1.8608463065868524</c:v>
                </c:pt>
                <c:pt idx="37">
                  <c:v>2.345343064088572</c:v>
                </c:pt>
                <c:pt idx="38">
                  <c:v>-0.532500947319514</c:v>
                </c:pt>
                <c:pt idx="39">
                  <c:v>-1.3708561709315512</c:v>
                </c:pt>
                <c:pt idx="40">
                  <c:v>1.5615699391080637</c:v>
                </c:pt>
                <c:pt idx="41">
                  <c:v>-0.26753189374095043</c:v>
                </c:pt>
                <c:pt idx="42">
                  <c:v>-0.9554938974956709</c:v>
                </c:pt>
                <c:pt idx="43">
                  <c:v>1.0048834569282659</c:v>
                </c:pt>
                <c:pt idx="44">
                  <c:v>-0.11924480305840146</c:v>
                </c:pt>
                <c:pt idx="45">
                  <c:v>-0.6903132497459319</c:v>
                </c:pt>
                <c:pt idx="46">
                  <c:v>0.7123711859761305</c:v>
                </c:pt>
                <c:pt idx="47">
                  <c:v>-0.04735355532920763</c:v>
                </c:pt>
                <c:pt idx="48">
                  <c:v>-0.6367510483424554</c:v>
                </c:pt>
                <c:pt idx="49">
                  <c:v>0.6899170700525638</c:v>
                </c:pt>
                <c:pt idx="50">
                  <c:v>4.1692743905237746e-16</c:v>
                </c:pt>
                <c:pt idx="51">
                  <c:v>-0.8337375052801634</c:v>
                </c:pt>
                <c:pt idx="52">
                  <c:v>0.9125323961586049</c:v>
                </c:pt>
                <c:pt idx="53">
                  <c:v>0.07786492807666129</c:v>
                </c:pt>
                <c:pt idx="54">
                  <c:v>-1.2918582377836154</c:v>
                </c:pt>
                <c:pt idx="55">
                  <c:v>1.3283507310005065</c:v>
                </c:pt>
                <c:pt idx="56">
                  <c:v>0.23569441837599975</c:v>
                </c:pt>
                <c:pt idx="57">
                  <c:v>-1.990860445413695</c:v>
                </c:pt>
                <c:pt idx="58">
                  <c:v>1.8657333332399186</c:v>
                </c:pt>
                <c:pt idx="59">
                  <c:v>0.50937009907769</c:v>
                </c:pt>
                <c:pt idx="60">
                  <c:v>-2.8808826618841845</c:v>
                </c:pt>
                <c:pt idx="61">
                  <c:v>2.4425510027956534</c:v>
                </c:pt>
                <c:pt idx="62">
                  <c:v>0.9151449434746952</c:v>
                </c:pt>
                <c:pt idx="63">
                  <c:v>-3.8873224378037503</c:v>
                </c:pt>
                <c:pt idx="64">
                  <c:v>2.976448960979654</c:v>
                </c:pt>
                <c:pt idx="65">
                  <c:v>1.4463561256255244</c:v>
                </c:pt>
                <c:pt idx="66">
                  <c:v>-4.918798300836615</c:v>
                </c:pt>
                <c:pt idx="67">
                  <c:v>3.3947953830509663</c:v>
                </c:pt>
                <c:pt idx="68">
                  <c:v>2.073389656785486</c:v>
                </c:pt>
                <c:pt idx="69">
                  <c:v>-5.877269716313354</c:v>
                </c:pt>
                <c:pt idx="70">
                  <c:v>3.6430741289336055</c:v>
                </c:pt>
                <c:pt idx="71">
                  <c:v>2.746943948538115</c:v>
                </c:pt>
                <c:pt idx="72">
                  <c:v>-6.669101717117336</c:v>
                </c:pt>
                <c:pt idx="73">
                  <c:v>3.690699278048808</c:v>
                </c:pt>
                <c:pt idx="74">
                  <c:v>3.4041963906456947</c:v>
                </c:pt>
                <c:pt idx="75">
                  <c:v>-7.215734977460818</c:v>
                </c:pt>
                <c:pt idx="76">
                  <c:v>3.5335744328066045</c:v>
                </c:pt>
                <c:pt idx="77">
                  <c:v>3.9770835919681136</c:v>
                </c:pt>
                <c:pt idx="78">
                  <c:v>-7.462663796046989</c:v>
                </c:pt>
                <c:pt idx="79">
                  <c:v>3.1931482553138557</c:v>
                </c:pt>
                <c:pt idx="80">
                  <c:v>4.401613794034326</c:v>
                </c:pt>
                <c:pt idx="81">
                  <c:v>-7.385628865066426</c:v>
                </c:pt>
                <c:pt idx="82">
                  <c:v>2.7121737131037653</c:v>
                </c:pt>
                <c:pt idx="83">
                  <c:v>4.6269777999142265</c:v>
                </c:pt>
                <c:pt idx="84">
                  <c:v>-6.993273275576523</c:v>
                </c:pt>
                <c:pt idx="85">
                  <c:v>2.1478031093480245</c:v>
                </c:pt>
                <c:pt idx="86">
                  <c:v>4.623233193250319</c:v>
                </c:pt>
                <c:pt idx="87">
                  <c:v>-6.325945943758657</c:v>
                </c:pt>
                <c:pt idx="88">
                  <c:v>1.5629895359829709</c:v>
                </c:pt>
                <c:pt idx="89">
                  <c:v>4.386505527459485</c:v>
                </c:pt>
                <c:pt idx="90">
                  <c:v>-5.4508115644879</c:v>
                </c:pt>
                <c:pt idx="91">
                  <c:v>1.0173746108615973</c:v>
                </c:pt>
                <c:pt idx="92">
                  <c:v>3.9409586271663306</c:v>
                </c:pt>
                <c:pt idx="93">
                  <c:v>-4.453880376976482</c:v>
                </c:pt>
                <c:pt idx="94">
                  <c:v>0.5588958143980065</c:v>
                </c:pt>
                <c:pt idx="95">
                  <c:v>3.337195101796699</c:v>
                </c:pt>
                <c:pt idx="96">
                  <c:v>-3.4299472126342376</c:v>
                </c:pt>
                <c:pt idx="97">
                  <c:v>0.2172382461624877</c:v>
                </c:pt>
                <c:pt idx="98">
                  <c:v>2.647205407146862</c:v>
                </c:pt>
                <c:pt idx="99">
                  <c:v>-2.471680217077879</c:v>
                </c:pt>
                <c:pt idx="100">
                  <c:v>-2.4613562677544184e-15</c:v>
                </c:pt>
                <c:pt idx="101">
                  <c:v>1.9564306227211834</c:v>
                </c:pt>
                <c:pt idx="102">
                  <c:v>-1.659194020805498</c:v>
                </c:pt>
                <c:pt idx="103">
                  <c:v>-0.10792851972133816</c:v>
                </c:pt>
                <c:pt idx="104">
                  <c:v>1.353882932156454</c:v>
                </c:pt>
                <c:pt idx="105">
                  <c:v>-1.0513686621771363</c:v>
                </c:pt>
                <c:pt idx="106">
                  <c:v>-0.14170463457421975</c:v>
                </c:pt>
                <c:pt idx="107">
                  <c:v>0.9215294801220126</c:v>
                </c:pt>
                <c:pt idx="108">
                  <c:v>-0.6799442984823744</c:v>
                </c:pt>
                <c:pt idx="109">
                  <c:v>-0.1509675734854286</c:v>
                </c:pt>
                <c:pt idx="110">
                  <c:v>0.7242555353371688</c:v>
                </c:pt>
                <c:pt idx="111">
                  <c:v>-0.5470627770716069</c:v>
                </c:pt>
                <c:pt idx="112">
                  <c:v>-0.1921331379336802</c:v>
                </c:pt>
                <c:pt idx="113">
                  <c:v>0.8016666884783101</c:v>
                </c:pt>
                <c:pt idx="114">
                  <c:v>-0.6264867348657587</c:v>
                </c:pt>
                <c:pt idx="115">
                  <c:v>-0.3196054686522059</c:v>
                </c:pt>
                <c:pt idx="116">
                  <c:v>1.1627733759305625</c:v>
                </c:pt>
                <c:pt idx="117">
                  <c:v>-0.8682615104518696</c:v>
                </c:pt>
                <c:pt idx="118">
                  <c:v>-0.5771133945352569</c:v>
                </c:pt>
                <c:pt idx="119">
                  <c:v>1.784251068813455</c:v>
                </c:pt>
                <c:pt idx="120">
                  <c:v>-1.2061542024792116</c:v>
                </c:pt>
                <c:pt idx="121">
                  <c:v>-0.9903702602475841</c:v>
                </c:pt>
                <c:pt idx="122">
                  <c:v>2.6125298531984815</c:v>
                </c:pt>
                <c:pt idx="123">
                  <c:v>-1.5668624455279405</c:v>
                </c:pt>
                <c:pt idx="124">
                  <c:v>-1.5620887930474665</c:v>
                </c:pt>
                <c:pt idx="125">
                  <c:v>3.5694932578025202</c:v>
                </c:pt>
                <c:pt idx="126">
                  <c:v>-1.8797759920188</c:v>
                </c:pt>
                <c:pt idx="127">
                  <c:v>-2.270077836630532</c:v>
                </c:pt>
                <c:pt idx="128">
                  <c:v>4.561117958677273</c:v>
                </c:pt>
                <c:pt idx="129">
                  <c:v>-2.0860229229472265</c:v>
                </c:pt>
                <c:pt idx="130">
                  <c:v>-3.0687449287681794</c:v>
                </c:pt>
                <c:pt idx="131">
                  <c:v>5.488020155177396</c:v>
                </c:pt>
                <c:pt idx="132">
                  <c:v>-2.1456447636130687</c:v>
                </c:pt>
                <c:pt idx="133">
                  <c:v>-3.8938798773455763</c:v>
                </c:pt>
                <c:pt idx="134">
                  <c:v>6.256637319560288</c:v>
                </c:pt>
                <c:pt idx="135">
                  <c:v>-2.0420053733318495</c:v>
                </c:pt>
                <c:pt idx="136">
                  <c:v>-4.6701579894459115</c:v>
                </c:pt>
                <c:pt idx="137">
                  <c:v>6.789695708027705</c:v>
                </c:pt>
                <c:pt idx="138">
                  <c:v>-1.7829126127584203</c:v>
                </c:pt>
                <c:pt idx="139">
                  <c:v>-5.320434344247185</c:v>
                </c:pt>
                <c:pt idx="140">
                  <c:v>7.034704364109477</c:v>
                </c:pt>
                <c:pt idx="141">
                  <c:v>-1.3983703608350666</c:v>
                </c:pt>
                <c:pt idx="142">
                  <c:v>-5.775650647490229</c:v>
                </c:pt>
                <c:pt idx="143">
                  <c:v>6.969463812712316</c:v>
                </c:pt>
                <c:pt idx="144">
                  <c:v>-0.9353242047182214</c:v>
                </c:pt>
                <c:pt idx="145">
                  <c:v>-5.984076953847522</c:v>
                </c:pt>
                <c:pt idx="146">
                  <c:v>6.603950766129443</c:v>
                </c:pt>
                <c:pt idx="147">
                  <c:v>-0.45015907364247465</c:v>
                </c:pt>
                <c:pt idx="148">
                  <c:v>-5.918675775107527</c:v>
                </c:pt>
                <c:pt idx="149">
                  <c:v>5.978391563659319</c:v>
                </c:pt>
                <c:pt idx="150">
                  <c:v>2.914054092359005e-13</c:v>
                </c:pt>
                <c:pt idx="151">
                  <c:v>-5.581598533092295</c:v>
                </c:pt>
                <c:pt idx="152">
                  <c:v>5.157809514337946</c:v>
                </c:pt>
                <c:pt idx="153">
                  <c:v>0.3659797980063192</c:v>
                </c:pt>
                <c:pt idx="154">
                  <c:v>-5.005176411864622</c:v>
                </c:pt>
                <c:pt idx="155">
                  <c:v>4.223765038494171</c:v>
                </c:pt>
                <c:pt idx="156">
                  <c:v>0.6140458293809793</c:v>
                </c:pt>
                <c:pt idx="157">
                  <c:v>-4.249205062893838</c:v>
                </c:pt>
                <c:pt idx="158">
                  <c:v>3.2643478296456254</c:v>
                </c:pt>
                <c:pt idx="159">
                  <c:v>0.7311514482334185</c:v>
                </c:pt>
                <c:pt idx="160">
                  <c:v>-3.3947898227047264</c:v>
                </c:pt>
                <c:pt idx="161">
                  <c:v>2.363684564526452</c:v>
                </c:pt>
                <c:pt idx="162">
                  <c:v>0.7272179152528635</c:v>
                </c:pt>
                <c:pt idx="163">
                  <c:v>-2.5354555661439684</c:v>
                </c:pt>
                <c:pt idx="164">
                  <c:v>1.5922688324231797</c:v>
                </c:pt>
                <c:pt idx="165">
                  <c:v>0.6341127902566331</c:v>
                </c:pt>
                <c:pt idx="166">
                  <c:v>-1.7665770648014467</c:v>
                </c:pt>
                <c:pt idx="167">
                  <c:v>0.9992974383242195</c:v>
                </c:pt>
                <c:pt idx="168">
                  <c:v>0.5014376385088078</c:v>
                </c:pt>
                <c:pt idx="169">
                  <c:v>-1.1744065289476175</c:v>
                </c:pt>
                <c:pt idx="170">
                  <c:v>0.6079257272104402</c:v>
                </c:pt>
                <c:pt idx="171">
                  <c:v>0.38966650481151477</c:v>
                </c:pt>
                <c:pt idx="172">
                  <c:v>-0.8260362295165661</c:v>
                </c:pt>
                <c:pt idx="173">
                  <c:v>0.41396972221876</c:v>
                </c:pt>
                <c:pt idx="174">
                  <c:v>0.36153751053841576</c:v>
                </c:pt>
                <c:pt idx="175">
                  <c:v>-0.7615273361024893</c:v>
                </c:pt>
                <c:pt idx="176">
                  <c:v>0.3881346619731501</c:v>
                </c:pt>
                <c:pt idx="177">
                  <c:v>0.4728437539990181</c:v>
                </c:pt>
                <c:pt idx="178">
                  <c:v>-0.9891743512073635</c:v>
                </c:pt>
                <c:pt idx="179">
                  <c:v>0.4813958533155449</c:v>
                </c:pt>
                <c:pt idx="180">
                  <c:v>0.763864045683807</c:v>
                </c:pt>
                <c:pt idx="181">
                  <c:v>-1.484490497040701</c:v>
                </c:pt>
                <c:pt idx="182">
                  <c:v>0.6327569566576081</c:v>
                </c:pt>
                <c:pt idx="183">
                  <c:v>1.2526058188590636</c:v>
                </c:pt>
                <c:pt idx="184">
                  <c:v>-2.193041433323309</c:v>
                </c:pt>
                <c:pt idx="185">
                  <c:v>0.7783141658370442</c:v>
                </c:pt>
                <c:pt idx="186">
                  <c:v>1.930809815688244</c:v>
                </c:pt>
                <c:pt idx="187">
                  <c:v>-3.0367805019436727</c:v>
                </c:pt>
                <c:pt idx="188">
                  <c:v>0.8603998713662361</c:v>
                </c:pt>
                <c:pt idx="189">
                  <c:v>2.763316928807156</c:v>
                </c:pt>
                <c:pt idx="190">
                  <c:v>-3.9231081297174644</c:v>
                </c:pt>
                <c:pt idx="191">
                  <c:v>0.8355854982758861</c:v>
                </c:pt>
                <c:pt idx="192">
                  <c:v>3.6909664465446617</c:v>
                </c:pt>
                <c:pt idx="193">
                  <c:v>-4.7555453429939885</c:v>
                </c:pt>
                <c:pt idx="194">
                  <c:v>0.6804886069212279</c:v>
                </c:pt>
                <c:pt idx="195">
                  <c:v>4.636737263506437</c:v>
                </c:pt>
                <c:pt idx="196">
                  <c:v>-5.444718356504066</c:v>
                </c:pt>
                <c:pt idx="197">
                  <c:v>0.3946317484079737</c:v>
                </c:pt>
                <c:pt idx="198">
                  <c:v>5.514418410194161</c:v>
                </c:pt>
                <c:pt idx="199">
                  <c:v>-5.918321902989346</c:v>
                </c:pt>
                <c:pt idx="200">
                  <c:v>-1.3584510926666093e-14</c:v>
                </c:pt>
              </c:numCache>
            </c:numRef>
          </c:yVal>
          <c:smooth val="0"/>
        </c:ser>
        <c:axId val="-2128940872"/>
        <c:axId val="-2129643912"/>
      </c:scatterChart>
      <c:valAx>
        <c:axId val="-2128940872"/>
        <c:scaling>
          <c:orientation val="minMax"/>
          <c:max val="600.0"/>
          <c:min val="0.0"/>
        </c:scaling>
        <c:delete val="0"/>
        <c:axPos val="b"/>
        <c:numFmt formatCode="0" sourceLinked="0"/>
        <c:majorTickMark val="none"/>
        <c:minorTickMark val="none"/>
        <c:tickLblPos val="low"/>
        <c:spPr>
          <a:ln w="9525">
            <a:solidFill>
              <a:srgbClr val="22314A"/>
            </a:solidFill>
          </a:ln>
        </c:spPr>
        <c:txPr>
          <a:bodyPr/>
          <a:lstStyle/>
          <a:p>
            <a:pPr>
              <a:defRPr sz="850">
                <a:solidFill>
                  <a:srgbClr val="94A3B8"/>
                </a:solidFill>
                <a:latin typeface="Segoe UI"/>
              </a:defRPr>
            </a:pPr>
          </a:p>
        </c:txPr>
        <c:crossAx val="-2129643912"/>
        <c:crosses val="autoZero"/>
        <c:crossBetween val="midCat"/>
        <c:majorUnit val="120.0"/>
      </c:valAx>
      <c:valAx>
        <c:axId val="-2129643912"/>
        <c:scaling>
          <c:orientation val="minMax"/>
          <c:max val="15.0"/>
          <c:min val="-15.0"/>
        </c:scaling>
        <c:delete val="0"/>
        <c:axPos val="l"/>
        <c:majorGridlines>
          <c:spPr>
            <a:ln w="6350">
              <a:solidFill>
                <a:srgbClr val="22314A"/>
              </a:solidFill>
            </a:ln>
          </c:spPr>
        </c:majorGridlines>
        <c:numFmt formatCode="0" sourceLinked="0"/>
        <c:majorTickMark val="none"/>
        <c:minorTickMark val="none"/>
        <c:tickLblPos val="nextTo"/>
        <c:spPr>
          <a:ln w="9525">
            <a:solidFill>
              <a:srgbClr val="22314A"/>
            </a:solidFill>
          </a:ln>
        </c:spPr>
        <c:txPr>
          <a:bodyPr/>
          <a:lstStyle/>
          <a:p>
            <a:pPr>
              <a:defRPr sz="850">
                <a:solidFill>
                  <a:srgbClr val="94A3B8"/>
                </a:solidFill>
                <a:latin typeface="Segoe UI"/>
              </a:defRPr>
            </a:pPr>
          </a:p>
        </c:txPr>
        <c:crossAx val="-2128940872"/>
        <c:crosses val="autoZero"/>
        <c:crossBetween val="midCat"/>
        <c:majorUnit val="5.0"/>
      </c:valAx>
    </c:plotArea>
    <c:plotVisOnly val="1"/>
    <c:dispBlanksAs val="gap"/>
    <c:showDLblsOverMax val="0"/>
  </c:chart>
  <c:spPr>
    <a:noFill/>
    <a:ln>
      <a:noFill/>
    </a:ln>
  </c:spPr>
  <c:txPr>
    <a:bodyPr/>
    <a:lstStyle/>
    <a:p>
      <a:pPr>
        <a:defRPr sz="900">
          <a:solidFill>
            <a:srgbClr val="94A3B8"/>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Burj Khalifa is not primarily a gravity problem — at 828 m the wind governs. The deck follows the design logic: wind climate, vortex shedding, aerodynamic shaping, wind-tunnel programme, structural response, foundations and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tower was designed for a 50-year mean-hourly wind of 23.5 m/s at 10 m in open terrain; standard boundary-layer assumptions put the 600 m value at 41 m/s. The top speed is a derived value, not a measured one. The point: the lever arm is enormous even if the wind speed is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Vortex shedding is the crosswind mechanism that governs supertall towers. The chart is a teaching schematic: for a 50 m wide bluff body with St = 0.12 and a 0.10 Hz first mode, lock-in would occur near 42 m/s. Burj Khalifa avoids a single lock-in frequency by changing its plan at every 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Y-plan is the architectural signature, but it is also the aerodynamic device. Each wing sets back in turn, clockwise, changing the plan at every tier. The result is not one vortex street but a stack of different bluff bodies.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wind-tunnel programme was not a single test. It ran through the design: massing studies, aeroelastic checks, high-Reynolds sections, cladding pressure mapping and rigid force-balance work. 40+ tests across two RWDI tunnels.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Reynolds number is the similarity parameter the wind tunnel cannot match. At 1:500 the model is roughly 2.7e5; full scale is 1.3e8. Rounded or tapered corners are Reynolds-sensitive, which is why 1:50 sectional tests were used alongside the whole-building aeroelastic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dynamic argument. A square plan has a narrow, violent lock-in peak near Vr = 8.3. The stepped Y-plan smears that peak across a wide band and lowers its amplitude. Aeroelastic damping — the wind damping the building — is captured only by an aeroelastic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of the wind programme: initial predictions were about 37 milli-g, more than twice the comfort target. Setbacks and taper cut it to 19; final geometry and structural tuning brought it to 12 — a 68% reduction without a tuned mass damper.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Comfort is a serviceability limit state checked at the 5-year storm, not the 50-year strength case. The design target sits inside the residential band, which is why 12 milli-g mattered. With no auxiliary damper, that margin had to be bought with shape and stiffness.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buttressed core is the structural idea that makes the Y-plan work. Three wings around a hexagonal hub: each wing buttresses the other two, giving torsional stiffness without a perimeter frame. The same geometry that confuses the wind also carries the 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outriggers are the load-path shortcut. Instead of the core alone resisting overturning, five sets of outrigger walls engage the perimeter columns and widen the structural depth. The moment diagram shows why the base is the expensive part.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is a piled raft: a 3.7 m raft on 192 bored piles, 1.5 m diameter and about 47 m deep. The basement excavation is part of the design — removing soil weight compensates for the tower, so net ground pressure stays manageable.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Construction is where the aerodynamic argument meets logistics. 330,000 cubic metres of concrete, 39,000 tonnes of steel, 22 million man-hours. The setbacks were aligned to the structural grid so the shape could be built with a climbing formwork cycle, not special transfers.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models, not one. Climate gives the input, shape studies narrow the options, the tunnel measures the loads, the finite-element model turns loads into stresses, and the design closes the loop. Each model checks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building itself is the last model. Accelerometers, GPS, anemometers and strain gauges check the assumptions: frequency, damping, and the actual acceleration envelope. Measured damping of 1–2% is why the design cannot rely on a high damping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is deliberately conservative: it separates what was designed from what was measured. The 68% acceleration reduction and the no-damper outcome are the headline. The caveat matters — comfort numbers are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transferable principles. The strongest is the first: shape is cheaper than stiffness. The rest are process lessons — test dynamics, align architecture with structure, keep margin, verify at two scales, design for people.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instabilities, one shape response. Vortex shedding and lock-in are the design drivers; galloping and flutter are checked and kept far from the design speed. Wake buffering matters because Dubai Marina grew up around the tower.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method: separate reported facts from predictions, derived quantities and teaching schematics. The deck's argument is that the shape did most of the engineering work — and the test programme proved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cxnSp>
        <p:nvCxnSpPr>
          <p:cNvPr id="2" name="Connector 1"/>
          <p:cNvCxnSpPr/>
          <p:nvPr/>
        </p:nvCxnSpPr>
        <p:spPr>
          <a:xfrm>
            <a:off x="717158"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434317"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151475"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868634"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585792"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302951"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020109"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737268"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54426"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71585"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88743"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05902"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323061"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40219"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757378"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474536" y="0"/>
            <a:ext cx="0" cy="6858000"/>
          </a:xfrm>
          <a:prstGeom prst="line">
            <a:avLst/>
          </a:prstGeom>
          <a:ln w="5080">
            <a:solidFill>
              <a:srgbClr val="0A212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0" y="6858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13716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20574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27432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34290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41148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8006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172200"/>
            <a:ext cx="12191695" cy="0"/>
          </a:xfrm>
          <a:prstGeom prst="line">
            <a:avLst/>
          </a:prstGeom>
          <a:ln w="5080">
            <a:solidFill>
              <a:srgbClr val="091B27"/>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223760" y="640080"/>
            <a:ext cx="5120640" cy="5120640"/>
          </a:xfrm>
          <a:prstGeom prst="ellipse">
            <a:avLst/>
          </a:prstGeom>
          <a:solidFill>
            <a:srgbClr val="22D3EE">
              <a:alpha val="4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9235440" y="1828800"/>
            <a:ext cx="950976" cy="4114800"/>
          </a:xfrm>
          <a:custGeom>
            <a:avLst/>
            <a:gdLst/>
            <a:ahLst/>
            <a:cxnLst/>
            <a:rect l="l" t="t" r="r" b="b"/>
            <a:pathLst>
              <a:path w="104" h="450">
                <a:moveTo>
                  <a:pt x="0" y="450"/>
                </a:moveTo>
                <a:lnTo>
                  <a:pt x="0" y="410"/>
                </a:lnTo>
                <a:lnTo>
                  <a:pt x="4" y="410"/>
                </a:lnTo>
                <a:lnTo>
                  <a:pt x="4" y="369"/>
                </a:lnTo>
                <a:lnTo>
                  <a:pt x="7" y="369"/>
                </a:lnTo>
                <a:lnTo>
                  <a:pt x="7" y="328"/>
                </a:lnTo>
                <a:lnTo>
                  <a:pt x="10" y="328"/>
                </a:lnTo>
                <a:lnTo>
                  <a:pt x="10" y="288"/>
                </a:lnTo>
                <a:lnTo>
                  <a:pt x="13" y="288"/>
                </a:lnTo>
                <a:lnTo>
                  <a:pt x="13" y="247"/>
                </a:lnTo>
                <a:lnTo>
                  <a:pt x="15" y="247"/>
                </a:lnTo>
                <a:lnTo>
                  <a:pt x="15" y="207"/>
                </a:lnTo>
                <a:lnTo>
                  <a:pt x="18" y="207"/>
                </a:lnTo>
                <a:lnTo>
                  <a:pt x="18" y="166"/>
                </a:lnTo>
                <a:lnTo>
                  <a:pt x="21" y="166"/>
                </a:lnTo>
                <a:lnTo>
                  <a:pt x="21" y="126"/>
                </a:lnTo>
                <a:lnTo>
                  <a:pt x="23" y="126"/>
                </a:lnTo>
                <a:lnTo>
                  <a:pt x="39" y="126"/>
                </a:lnTo>
                <a:lnTo>
                  <a:pt x="46" y="96"/>
                </a:lnTo>
                <a:lnTo>
                  <a:pt x="50" y="6"/>
                </a:lnTo>
                <a:lnTo>
                  <a:pt x="52" y="0"/>
                </a:lnTo>
                <a:lnTo>
                  <a:pt x="54" y="6"/>
                </a:lnTo>
                <a:lnTo>
                  <a:pt x="58" y="96"/>
                </a:lnTo>
                <a:lnTo>
                  <a:pt x="65" y="126"/>
                </a:lnTo>
                <a:lnTo>
                  <a:pt x="81" y="126"/>
                </a:lnTo>
                <a:lnTo>
                  <a:pt x="83" y="126"/>
                </a:lnTo>
                <a:lnTo>
                  <a:pt x="83" y="166"/>
                </a:lnTo>
                <a:lnTo>
                  <a:pt x="86" y="166"/>
                </a:lnTo>
                <a:lnTo>
                  <a:pt x="86" y="207"/>
                </a:lnTo>
                <a:lnTo>
                  <a:pt x="89" y="207"/>
                </a:lnTo>
                <a:lnTo>
                  <a:pt x="89" y="247"/>
                </a:lnTo>
                <a:lnTo>
                  <a:pt x="91" y="247"/>
                </a:lnTo>
                <a:lnTo>
                  <a:pt x="91" y="288"/>
                </a:lnTo>
                <a:lnTo>
                  <a:pt x="94" y="288"/>
                </a:lnTo>
                <a:lnTo>
                  <a:pt x="94" y="328"/>
                </a:lnTo>
                <a:lnTo>
                  <a:pt x="97" y="328"/>
                </a:lnTo>
                <a:lnTo>
                  <a:pt x="97" y="369"/>
                </a:lnTo>
                <a:lnTo>
                  <a:pt x="100" y="369"/>
                </a:lnTo>
                <a:lnTo>
                  <a:pt x="100" y="410"/>
                </a:lnTo>
                <a:lnTo>
                  <a:pt x="104" y="410"/>
                </a:lnTo>
                <a:lnTo>
                  <a:pt x="104" y="450"/>
                </a:lnTo>
                <a:lnTo>
                  <a:pt x="104" y="450"/>
                </a:lnTo>
                <a:close/>
              </a:path>
            </a:pathLst>
          </a:custGeom>
          <a:gradFill rotWithShape="1">
            <a:gsLst>
              <a:gs pos="0">
                <a:srgbClr val="183A63"/>
              </a:gs>
              <a:gs pos="100000">
                <a:srgbClr val="091628"/>
              </a:gs>
            </a:gsLst>
            <a:lin scaled="0" ang="16200000"/>
          </a:gradFill>
          <a:ln w="12700">
            <a:solidFill>
              <a:srgbClr val="1CAB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276560" y="5469575"/>
            <a:ext cx="868735"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12173" y="4995550"/>
            <a:ext cx="797509"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45967" y="4521525"/>
            <a:ext cx="729921"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74596" y="4106753"/>
            <a:ext cx="672663"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683496" y="1801368"/>
            <a:ext cx="54864" cy="548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823960" y="5943600"/>
            <a:ext cx="2103120" cy="0"/>
          </a:xfrm>
          <a:prstGeom prst="line">
            <a:avLst/>
          </a:prstGeom>
          <a:ln w="13970">
            <a:solidFill>
              <a:srgbClr val="167A8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698480" y="1051560"/>
            <a:ext cx="0" cy="4892040"/>
          </a:xfrm>
          <a:prstGeom prst="line">
            <a:avLst/>
          </a:prstGeom>
          <a:ln w="10160">
            <a:solidFill>
              <a:srgbClr val="17849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597896" y="5943600"/>
            <a:ext cx="201168" cy="0"/>
          </a:xfrm>
          <a:prstGeom prst="line">
            <a:avLst/>
          </a:prstGeom>
          <a:ln w="12700">
            <a:solidFill>
              <a:srgbClr val="1CABC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97896" y="1051560"/>
            <a:ext cx="201168" cy="0"/>
          </a:xfrm>
          <a:prstGeom prst="line">
            <a:avLst/>
          </a:prstGeom>
          <a:ln w="12700">
            <a:solidFill>
              <a:srgbClr val="1CABC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rot="16200000">
            <a:off x="10853928" y="3108960"/>
            <a:ext cx="457200" cy="914400"/>
          </a:xfrm>
          <a:prstGeom prst="rect">
            <a:avLst/>
          </a:prstGeom>
          <a:noFill/>
        </p:spPr>
        <p:txBody>
          <a:bodyPr wrap="square" lIns="0" rIns="0" tIns="0" bIns="0" anchor="t">
            <a:noAutofit/>
          </a:bodyPr>
          <a:lstStyle/>
          <a:p>
            <a:pPr algn="ctr">
              <a:lnSpc>
                <a:spcPct val="110000"/>
              </a:lnSpc>
              <a:spcBef>
                <a:spcPts val="0"/>
              </a:spcBef>
              <a:spcAft>
                <a:spcPts val="0"/>
              </a:spcAft>
            </a:pPr>
            <a:r>
              <a:rPr sz="900" b="1" i="0">
                <a:solidFill>
                  <a:srgbClr val="22D3EE"/>
                </a:solidFill>
                <a:latin typeface="Segoe UI"/>
              </a:rPr>
              <a:t>828 m</a:t>
            </a:r>
          </a:p>
        </p:txBody>
      </p:sp>
      <p:sp>
        <p:nvSpPr>
          <p:cNvPr id="39" name="Right Arrow 38"/>
          <p:cNvSpPr/>
          <p:nvPr/>
        </p:nvSpPr>
        <p:spPr>
          <a:xfrm>
            <a:off x="7882127" y="2240280"/>
            <a:ext cx="868680" cy="68580"/>
          </a:xfrm>
          <a:prstGeom prst="rightArrow">
            <a:avLst/>
          </a:prstGeom>
          <a:solidFill>
            <a:srgbClr val="13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ight Arrow 39"/>
          <p:cNvSpPr/>
          <p:nvPr/>
        </p:nvSpPr>
        <p:spPr>
          <a:xfrm>
            <a:off x="7882127" y="2926080"/>
            <a:ext cx="868680" cy="68580"/>
          </a:xfrm>
          <a:prstGeom prst="rightArrow">
            <a:avLst/>
          </a:prstGeom>
          <a:solidFill>
            <a:srgbClr val="13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Arrow 40"/>
          <p:cNvSpPr/>
          <p:nvPr/>
        </p:nvSpPr>
        <p:spPr>
          <a:xfrm>
            <a:off x="7882127" y="3611880"/>
            <a:ext cx="868680" cy="68580"/>
          </a:xfrm>
          <a:prstGeom prst="rightArrow">
            <a:avLst/>
          </a:prstGeom>
          <a:solidFill>
            <a:srgbClr val="13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Arrow 41"/>
          <p:cNvSpPr/>
          <p:nvPr/>
        </p:nvSpPr>
        <p:spPr>
          <a:xfrm>
            <a:off x="7882127" y="4297680"/>
            <a:ext cx="868680" cy="68580"/>
          </a:xfrm>
          <a:prstGeom prst="rightArrow">
            <a:avLst/>
          </a:prstGeom>
          <a:solidFill>
            <a:srgbClr val="13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7882127" y="4983480"/>
            <a:ext cx="868680" cy="68580"/>
          </a:xfrm>
          <a:prstGeom prst="rightArrow">
            <a:avLst/>
          </a:prstGeom>
          <a:solidFill>
            <a:srgbClr val="13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1993392"/>
            <a:ext cx="914400" cy="182880"/>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1CABC3"/>
                </a:solidFill>
                <a:latin typeface="Segoe UI"/>
              </a:rPr>
              <a:t>WIND</a:t>
            </a:r>
          </a:p>
        </p:txBody>
      </p:sp>
      <p:sp>
        <p:nvSpPr>
          <p:cNvPr id="45" name="TextBox 44"/>
          <p:cNvSpPr txBox="1"/>
          <p:nvPr/>
        </p:nvSpPr>
        <p:spPr>
          <a:xfrm>
            <a:off x="8549640" y="6053328"/>
            <a:ext cx="2743200" cy="201168"/>
          </a:xfrm>
          <a:prstGeom prst="rect">
            <a:avLst/>
          </a:prstGeom>
          <a:noFill/>
        </p:spPr>
        <p:txBody>
          <a:bodyPr wrap="square" lIns="0" rIns="0" tIns="0" bIns="0" anchor="t">
            <a:noAutofit/>
          </a:bodyPr>
          <a:lstStyle/>
          <a:p>
            <a:pPr algn="l">
              <a:lnSpc>
                <a:spcPct val="110000"/>
              </a:lnSpc>
              <a:spcBef>
                <a:spcPts val="0"/>
              </a:spcBef>
              <a:spcAft>
                <a:spcPts val="0"/>
              </a:spcAft>
            </a:pPr>
            <a:r>
              <a:rPr sz="680" b="0" i="0">
                <a:solidFill>
                  <a:srgbClr val="64748B"/>
                </a:solidFill>
                <a:latin typeface="Segoe UI"/>
              </a:rPr>
              <a:t>TECHNICAL ELEVATION  ·  163 FLOORS</a:t>
            </a:r>
          </a:p>
        </p:txBody>
      </p:sp>
      <p:sp>
        <p:nvSpPr>
          <p:cNvPr id="46" name="Rectangle 45"/>
          <p:cNvSpPr/>
          <p:nvPr/>
        </p:nvSpPr>
        <p:spPr>
          <a:xfrm>
            <a:off x="658368" y="1417320"/>
            <a:ext cx="45720" cy="35661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1298448"/>
            <a:ext cx="6949440" cy="274320"/>
          </a:xfrm>
          <a:prstGeom prst="rect">
            <a:avLst/>
          </a:prstGeom>
          <a:noFill/>
        </p:spPr>
        <p:txBody>
          <a:bodyPr wrap="square" lIns="0" rIns="0" tIns="0" bIns="0" anchor="t">
            <a:noAutofit/>
          </a:bodyPr>
          <a:lstStyle/>
          <a:p>
            <a:pPr algn="l">
              <a:lnSpc>
                <a:spcPct val="110000"/>
              </a:lnSpc>
              <a:spcBef>
                <a:spcPts val="0"/>
              </a:spcBef>
              <a:spcAft>
                <a:spcPts val="0"/>
              </a:spcAft>
            </a:pPr>
            <a:r>
              <a:rPr sz="1000" b="1" i="0">
                <a:solidFill>
                  <a:srgbClr val="22D3EE"/>
                </a:solidFill>
                <a:latin typeface="Segoe UI"/>
              </a:rPr>
              <a:t>TECHNICAL DOSSIER  ·  WIND ENGINEERING</a:t>
            </a:r>
          </a:p>
        </p:txBody>
      </p:sp>
      <p:sp>
        <p:nvSpPr>
          <p:cNvPr id="48" name="TextBox 47"/>
          <p:cNvSpPr txBox="1"/>
          <p:nvPr/>
        </p:nvSpPr>
        <p:spPr>
          <a:xfrm>
            <a:off x="841248" y="1627632"/>
            <a:ext cx="7498079" cy="822960"/>
          </a:xfrm>
          <a:prstGeom prst="rect">
            <a:avLst/>
          </a:prstGeom>
          <a:noFill/>
        </p:spPr>
        <p:txBody>
          <a:bodyPr wrap="square" lIns="0" rIns="0" tIns="0" bIns="0" anchor="t">
            <a:noAutofit/>
          </a:bodyPr>
          <a:lstStyle/>
          <a:p>
            <a:pPr algn="l">
              <a:lnSpc>
                <a:spcPct val="95000"/>
              </a:lnSpc>
              <a:spcBef>
                <a:spcPts val="0"/>
              </a:spcBef>
              <a:spcAft>
                <a:spcPts val="0"/>
              </a:spcAft>
            </a:pPr>
            <a:r>
              <a:rPr sz="5400" b="1" i="0">
                <a:solidFill>
                  <a:srgbClr val="E8EEF7"/>
                </a:solidFill>
                <a:latin typeface="Segoe UI Semibold"/>
              </a:rPr>
              <a:t>Burj Khalifa</a:t>
            </a:r>
          </a:p>
        </p:txBody>
      </p:sp>
      <p:sp>
        <p:nvSpPr>
          <p:cNvPr id="49" name="TextBox 48"/>
          <p:cNvSpPr txBox="1"/>
          <p:nvPr/>
        </p:nvSpPr>
        <p:spPr>
          <a:xfrm>
            <a:off x="868680" y="2578608"/>
            <a:ext cx="7315200" cy="914400"/>
          </a:xfrm>
          <a:prstGeom prst="rect">
            <a:avLst/>
          </a:prstGeom>
          <a:noFill/>
        </p:spPr>
        <p:txBody>
          <a:bodyPr wrap="square" lIns="0" rIns="0" tIns="0" bIns="0" anchor="t">
            <a:noAutofit/>
          </a:bodyPr>
          <a:lstStyle/>
          <a:p>
            <a:pPr algn="l">
              <a:lnSpc>
                <a:spcPct val="100000"/>
              </a:lnSpc>
              <a:spcBef>
                <a:spcPts val="0"/>
              </a:spcBef>
              <a:spcAft>
                <a:spcPts val="0"/>
              </a:spcAft>
            </a:pPr>
            <a:r>
              <a:rPr sz="2100" b="0" i="0">
                <a:solidFill>
                  <a:srgbClr val="A2E4F3"/>
                </a:solidFill>
                <a:latin typeface="Segoe UI Light"/>
              </a:rPr>
              <a:t>Engineering 828 metres against the wind</a:t>
            </a:r>
          </a:p>
        </p:txBody>
      </p:sp>
      <p:sp>
        <p:nvSpPr>
          <p:cNvPr id="50" name="TextBox 49"/>
          <p:cNvSpPr txBox="1"/>
          <p:nvPr/>
        </p:nvSpPr>
        <p:spPr>
          <a:xfrm>
            <a:off x="868680" y="3310128"/>
            <a:ext cx="6766560" cy="1005840"/>
          </a:xfrm>
          <a:prstGeom prst="rect">
            <a:avLst/>
          </a:prstGeom>
          <a:noFill/>
        </p:spPr>
        <p:txBody>
          <a:bodyPr wrap="square" lIns="0" rIns="0" tIns="0" bIns="0" anchor="t">
            <a:noAutofit/>
          </a:bodyPr>
          <a:lstStyle/>
          <a:p>
            <a:pPr algn="l">
              <a:lnSpc>
                <a:spcPct val="128000"/>
              </a:lnSpc>
              <a:spcBef>
                <a:spcPts val="0"/>
              </a:spcBef>
              <a:spcAft>
                <a:spcPts val="0"/>
              </a:spcAft>
            </a:pPr>
            <a:r>
              <a:rPr sz="1150" b="0" i="0">
                <a:solidFill>
                  <a:srgbClr val="94A3B8"/>
                </a:solidFill>
                <a:latin typeface="Segoe UI"/>
              </a:rPr>
              <a:t>How aerodynamic shaping, boundary-layer wind-tunnel simulation and a buttressed concrete core produced the world's tallest building.</a:t>
            </a:r>
          </a:p>
        </p:txBody>
      </p:sp>
      <p:sp>
        <p:nvSpPr>
          <p:cNvPr id="51" name="TextBox 50"/>
          <p:cNvSpPr txBox="1"/>
          <p:nvPr/>
        </p:nvSpPr>
        <p:spPr>
          <a:xfrm>
            <a:off x="868680" y="4956048"/>
            <a:ext cx="1828800" cy="457200"/>
          </a:xfrm>
          <a:prstGeom prst="rect">
            <a:avLst/>
          </a:prstGeom>
          <a:noFill/>
        </p:spPr>
        <p:txBody>
          <a:bodyPr wrap="square" lIns="0" rIns="0" tIns="0" bIns="0" anchor="t">
            <a:noAutofit/>
          </a:bodyPr>
          <a:lstStyle/>
          <a:p>
            <a:pPr algn="l">
              <a:lnSpc>
                <a:spcPct val="90000"/>
              </a:lnSpc>
              <a:spcBef>
                <a:spcPts val="0"/>
              </a:spcBef>
              <a:spcAft>
                <a:spcPts val="0"/>
              </a:spcAft>
            </a:pPr>
            <a:r>
              <a:rPr sz="2600" b="1" i="0">
                <a:solidFill>
                  <a:srgbClr val="E8EEF7"/>
                </a:solidFill>
                <a:latin typeface="Segoe UI"/>
              </a:rPr>
              <a:t>828</a:t>
            </a:r>
            <a:r>
              <a:rPr sz="1100" b="0" i="0">
                <a:solidFill>
                  <a:srgbClr val="22D3EE"/>
                </a:solidFill>
                <a:latin typeface="Segoe UI"/>
              </a:rPr>
              <a:t>m</a:t>
            </a:r>
          </a:p>
        </p:txBody>
      </p:sp>
      <p:sp>
        <p:nvSpPr>
          <p:cNvPr id="52" name="TextBox 51"/>
          <p:cNvSpPr txBox="1"/>
          <p:nvPr/>
        </p:nvSpPr>
        <p:spPr>
          <a:xfrm>
            <a:off x="868680" y="5431536"/>
            <a:ext cx="1920240" cy="27432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ARCHITECTURAL HEIGHT</a:t>
            </a:r>
          </a:p>
        </p:txBody>
      </p:sp>
      <p:cxnSp>
        <p:nvCxnSpPr>
          <p:cNvPr id="53" name="Connector 52"/>
          <p:cNvCxnSpPr/>
          <p:nvPr/>
        </p:nvCxnSpPr>
        <p:spPr>
          <a:xfrm>
            <a:off x="2560320" y="5029200"/>
            <a:ext cx="0" cy="59436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862072" y="4956048"/>
            <a:ext cx="1828800" cy="457200"/>
          </a:xfrm>
          <a:prstGeom prst="rect">
            <a:avLst/>
          </a:prstGeom>
          <a:noFill/>
        </p:spPr>
        <p:txBody>
          <a:bodyPr wrap="square" lIns="0" rIns="0" tIns="0" bIns="0" anchor="t">
            <a:noAutofit/>
          </a:bodyPr>
          <a:lstStyle/>
          <a:p>
            <a:pPr algn="l">
              <a:lnSpc>
                <a:spcPct val="90000"/>
              </a:lnSpc>
              <a:spcBef>
                <a:spcPts val="0"/>
              </a:spcBef>
              <a:spcAft>
                <a:spcPts val="0"/>
              </a:spcAft>
            </a:pPr>
            <a:r>
              <a:rPr sz="2600" b="1" i="0">
                <a:solidFill>
                  <a:srgbClr val="E8EEF7"/>
                </a:solidFill>
                <a:latin typeface="Segoe UI"/>
              </a:rPr>
              <a:t>163</a:t>
            </a:r>
            <a:r>
              <a:rPr sz="1100" b="0" i="0">
                <a:solidFill>
                  <a:srgbClr val="22D3EE"/>
                </a:solidFill>
                <a:latin typeface="Segoe UI"/>
              </a:rPr>
              <a:t/>
            </a:r>
          </a:p>
        </p:txBody>
      </p:sp>
      <p:sp>
        <p:nvSpPr>
          <p:cNvPr id="55" name="TextBox 54"/>
          <p:cNvSpPr txBox="1"/>
          <p:nvPr/>
        </p:nvSpPr>
        <p:spPr>
          <a:xfrm>
            <a:off x="2862072" y="5431536"/>
            <a:ext cx="1920240" cy="27432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FLOORS</a:t>
            </a:r>
          </a:p>
        </p:txBody>
      </p:sp>
      <p:cxnSp>
        <p:nvCxnSpPr>
          <p:cNvPr id="56" name="Connector 55"/>
          <p:cNvCxnSpPr/>
          <p:nvPr/>
        </p:nvCxnSpPr>
        <p:spPr>
          <a:xfrm>
            <a:off x="4553712" y="5029200"/>
            <a:ext cx="0" cy="59436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855464" y="4956048"/>
            <a:ext cx="1828800" cy="457200"/>
          </a:xfrm>
          <a:prstGeom prst="rect">
            <a:avLst/>
          </a:prstGeom>
          <a:noFill/>
        </p:spPr>
        <p:txBody>
          <a:bodyPr wrap="square" lIns="0" rIns="0" tIns="0" bIns="0" anchor="t">
            <a:noAutofit/>
          </a:bodyPr>
          <a:lstStyle/>
          <a:p>
            <a:pPr algn="l">
              <a:lnSpc>
                <a:spcPct val="90000"/>
              </a:lnSpc>
              <a:spcBef>
                <a:spcPts val="0"/>
              </a:spcBef>
              <a:spcAft>
                <a:spcPts val="0"/>
              </a:spcAft>
            </a:pPr>
            <a:r>
              <a:rPr sz="2600" b="1" i="0">
                <a:solidFill>
                  <a:srgbClr val="E8EEF7"/>
                </a:solidFill>
                <a:latin typeface="Segoe UI"/>
              </a:rPr>
              <a:t>27</a:t>
            </a:r>
            <a:r>
              <a:rPr sz="1100" b="0" i="0">
                <a:solidFill>
                  <a:srgbClr val="22D3EE"/>
                </a:solidFill>
                <a:latin typeface="Segoe UI"/>
              </a:rPr>
              <a:t/>
            </a:r>
          </a:p>
        </p:txBody>
      </p:sp>
      <p:sp>
        <p:nvSpPr>
          <p:cNvPr id="58" name="TextBox 57"/>
          <p:cNvSpPr txBox="1"/>
          <p:nvPr/>
        </p:nvSpPr>
        <p:spPr>
          <a:xfrm>
            <a:off x="4855464" y="5431536"/>
            <a:ext cx="1920240" cy="27432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SETBACKS</a:t>
            </a:r>
          </a:p>
        </p:txBody>
      </p:sp>
      <p:cxnSp>
        <p:nvCxnSpPr>
          <p:cNvPr id="59" name="Connector 58"/>
          <p:cNvCxnSpPr/>
          <p:nvPr/>
        </p:nvCxnSpPr>
        <p:spPr>
          <a:xfrm>
            <a:off x="6547104" y="5029200"/>
            <a:ext cx="0" cy="59436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848856" y="4956048"/>
            <a:ext cx="1828800" cy="457200"/>
          </a:xfrm>
          <a:prstGeom prst="rect">
            <a:avLst/>
          </a:prstGeom>
          <a:noFill/>
        </p:spPr>
        <p:txBody>
          <a:bodyPr wrap="square" lIns="0" rIns="0" tIns="0" bIns="0" anchor="t">
            <a:noAutofit/>
          </a:bodyPr>
          <a:lstStyle/>
          <a:p>
            <a:pPr algn="l">
              <a:lnSpc>
                <a:spcPct val="90000"/>
              </a:lnSpc>
              <a:spcBef>
                <a:spcPts val="0"/>
              </a:spcBef>
              <a:spcAft>
                <a:spcPts val="0"/>
              </a:spcAft>
            </a:pPr>
            <a:r>
              <a:rPr sz="2600" b="1" i="0">
                <a:solidFill>
                  <a:srgbClr val="E8EEF7"/>
                </a:solidFill>
                <a:latin typeface="Segoe UI"/>
              </a:rPr>
              <a:t>40+</a:t>
            </a:r>
            <a:r>
              <a:rPr sz="1100" b="0" i="0">
                <a:solidFill>
                  <a:srgbClr val="22D3EE"/>
                </a:solidFill>
                <a:latin typeface="Segoe UI"/>
              </a:rPr>
              <a:t/>
            </a:r>
          </a:p>
        </p:txBody>
      </p:sp>
      <p:sp>
        <p:nvSpPr>
          <p:cNvPr id="61" name="TextBox 60"/>
          <p:cNvSpPr txBox="1"/>
          <p:nvPr/>
        </p:nvSpPr>
        <p:spPr>
          <a:xfrm>
            <a:off x="6848856" y="5431536"/>
            <a:ext cx="1920240" cy="27432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WIND-TUNNEL TESTS</a:t>
            </a:r>
          </a:p>
        </p:txBody>
      </p:sp>
      <p:sp>
        <p:nvSpPr>
          <p:cNvPr id="62" name="TextBox 61"/>
          <p:cNvSpPr txBox="1"/>
          <p:nvPr/>
        </p:nvSpPr>
        <p:spPr>
          <a:xfrm>
            <a:off x="868680" y="6236208"/>
            <a:ext cx="5943600" cy="274320"/>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TECHNICAL PRESENTATION  ·  OCTOBER 2026</a:t>
            </a:r>
          </a:p>
        </p:txBody>
      </p:sp>
      <p:sp>
        <p:nvSpPr>
          <p:cNvPr id="63" name="TextBox 62"/>
          <p:cNvSpPr txBox="1"/>
          <p:nvPr/>
        </p:nvSpPr>
        <p:spPr>
          <a:xfrm>
            <a:off x="9997135" y="6236208"/>
            <a:ext cx="1554480" cy="274320"/>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EXECUTIVE SUMMARY</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A 828-metre wind machine — tamed by geometry</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02 / 20</a:t>
            </a:r>
          </a:p>
        </p:txBody>
      </p:sp>
      <p:sp>
        <p:nvSpPr>
          <p:cNvPr id="5" name="Rounded Rectangle 4"/>
          <p:cNvSpPr/>
          <p:nvPr/>
        </p:nvSpPr>
        <p:spPr>
          <a:xfrm>
            <a:off x="640080" y="1536192"/>
            <a:ext cx="5358384" cy="178308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536192"/>
            <a:ext cx="5321808"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664208"/>
            <a:ext cx="4937760" cy="228600"/>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F59E0B"/>
                </a:solidFill>
                <a:latin typeface="Segoe UI"/>
              </a:rPr>
              <a:t>THE PROBLEM</a:t>
            </a:r>
          </a:p>
        </p:txBody>
      </p:sp>
      <p:sp>
        <p:nvSpPr>
          <p:cNvPr id="8" name="TextBox 7"/>
          <p:cNvSpPr txBox="1"/>
          <p:nvPr/>
        </p:nvSpPr>
        <p:spPr>
          <a:xfrm>
            <a:off x="841247" y="1901952"/>
            <a:ext cx="4956048" cy="1325880"/>
          </a:xfrm>
          <a:prstGeom prst="rect">
            <a:avLst/>
          </a:prstGeom>
          <a:noFill/>
        </p:spPr>
        <p:txBody>
          <a:bodyPr wrap="square" lIns="0" rIns="0" tIns="0" bIns="0" anchor="t">
            <a:noAutofit/>
          </a:bodyPr>
          <a:lstStyle/>
          <a:p>
            <a:pPr algn="l">
              <a:lnSpc>
                <a:spcPct val="124000"/>
              </a:lnSpc>
              <a:spcBef>
                <a:spcPts val="0"/>
              </a:spcBef>
              <a:spcAft>
                <a:spcPts val="0"/>
              </a:spcAft>
            </a:pPr>
            <a:r>
              <a:rPr sz="1030" b="1" i="0">
                <a:solidFill>
                  <a:srgbClr val="E8EEF7"/>
                </a:solidFill>
                <a:latin typeface="Segoe UI"/>
              </a:rPr>
              <a:t>At 828 m, wind — not gravity — sets the structural agenda. </a:t>
            </a:r>
            <a:r>
              <a:rPr sz="1030" b="0" i="0">
                <a:solidFill>
                  <a:srgbClr val="94A3B8"/>
                </a:solidFill>
                <a:latin typeface="Segoe UI"/>
              </a:rPr>
              <a:t>A slender tower in a 50-year storm meets roughly 43 m/s at the crown; vortex shedding can lock into its first modes and amplify motion.</a:t>
            </a:r>
          </a:p>
        </p:txBody>
      </p:sp>
      <p:sp>
        <p:nvSpPr>
          <p:cNvPr id="9" name="Rounded Rectangle 8"/>
          <p:cNvSpPr/>
          <p:nvPr/>
        </p:nvSpPr>
        <p:spPr>
          <a:xfrm>
            <a:off x="6199632" y="1536192"/>
            <a:ext cx="5358384" cy="178308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536192"/>
            <a:ext cx="5321808"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4937760" cy="228600"/>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THE ANSWER</a:t>
            </a:r>
          </a:p>
        </p:txBody>
      </p:sp>
      <p:sp>
        <p:nvSpPr>
          <p:cNvPr id="12" name="TextBox 11"/>
          <p:cNvSpPr txBox="1"/>
          <p:nvPr/>
        </p:nvSpPr>
        <p:spPr>
          <a:xfrm>
            <a:off x="6400800" y="1901952"/>
            <a:ext cx="4956048" cy="1325880"/>
          </a:xfrm>
          <a:prstGeom prst="rect">
            <a:avLst/>
          </a:prstGeom>
          <a:noFill/>
        </p:spPr>
        <p:txBody>
          <a:bodyPr wrap="square" lIns="0" rIns="0" tIns="0" bIns="0" anchor="t">
            <a:noAutofit/>
          </a:bodyPr>
          <a:lstStyle/>
          <a:p>
            <a:pPr algn="l">
              <a:lnSpc>
                <a:spcPct val="124000"/>
              </a:lnSpc>
              <a:spcBef>
                <a:spcPts val="0"/>
              </a:spcBef>
              <a:spcAft>
                <a:spcPts val="0"/>
              </a:spcAft>
            </a:pPr>
            <a:r>
              <a:rPr sz="1030" b="1" i="0">
                <a:solidFill>
                  <a:srgbClr val="E8EEF7"/>
                </a:solidFill>
                <a:latin typeface="Segoe UI"/>
              </a:rPr>
              <a:t>Change the shape at every tier. </a:t>
            </a:r>
            <a:r>
              <a:rPr sz="1030" b="0" i="0">
                <a:solidFill>
                  <a:srgbClr val="94A3B8"/>
                </a:solidFill>
                <a:latin typeface="Segoe UI"/>
              </a:rPr>
              <a:t>A Y-plan with 27 spiraling setbacks prevents a coherent vortex street; 40+ tunnel tests and an aeroelastic model verified the response.</a:t>
            </a:r>
          </a:p>
        </p:txBody>
      </p:sp>
      <p:sp>
        <p:nvSpPr>
          <p:cNvPr id="13" name="Rounded Rectangle 12"/>
          <p:cNvSpPr/>
          <p:nvPr/>
        </p:nvSpPr>
        <p:spPr>
          <a:xfrm>
            <a:off x="640080"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828</a:t>
            </a:r>
            <a:r>
              <a:rPr sz="1100" b="1" i="0">
                <a:solidFill>
                  <a:srgbClr val="22D3EE"/>
                </a:solidFill>
                <a:latin typeface="Segoe UI"/>
              </a:rPr>
              <a:t> m</a:t>
            </a:r>
          </a:p>
        </p:txBody>
      </p:sp>
      <p:sp>
        <p:nvSpPr>
          <p:cNvPr id="15" name="TextBox 14"/>
          <p:cNvSpPr txBox="1"/>
          <p:nvPr/>
        </p:nvSpPr>
        <p:spPr>
          <a:xfrm>
            <a:off x="786384"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HEIGHT</a:t>
            </a:r>
          </a:p>
        </p:txBody>
      </p:sp>
      <p:sp>
        <p:nvSpPr>
          <p:cNvPr id="16" name="Rounded Rectangle 15"/>
          <p:cNvSpPr/>
          <p:nvPr/>
        </p:nvSpPr>
        <p:spPr>
          <a:xfrm>
            <a:off x="2459736"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06040"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163</a:t>
            </a:r>
            <a:r>
              <a:rPr sz="1100" b="1" i="0">
                <a:solidFill>
                  <a:srgbClr val="22D3EE"/>
                </a:solidFill>
                <a:latin typeface="Segoe UI"/>
              </a:rPr>
              <a:t/>
            </a:r>
          </a:p>
        </p:txBody>
      </p:sp>
      <p:sp>
        <p:nvSpPr>
          <p:cNvPr id="18" name="TextBox 17"/>
          <p:cNvSpPr txBox="1"/>
          <p:nvPr/>
        </p:nvSpPr>
        <p:spPr>
          <a:xfrm>
            <a:off x="2606040"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FLOORS</a:t>
            </a:r>
          </a:p>
        </p:txBody>
      </p:sp>
      <p:sp>
        <p:nvSpPr>
          <p:cNvPr id="19" name="Rounded Rectangle 18"/>
          <p:cNvSpPr/>
          <p:nvPr/>
        </p:nvSpPr>
        <p:spPr>
          <a:xfrm>
            <a:off x="4279392"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25696"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27</a:t>
            </a:r>
            <a:r>
              <a:rPr sz="1100" b="1" i="0">
                <a:solidFill>
                  <a:srgbClr val="F59E0B"/>
                </a:solidFill>
                <a:latin typeface="Segoe UI"/>
              </a:rPr>
              <a:t/>
            </a:r>
          </a:p>
        </p:txBody>
      </p:sp>
      <p:sp>
        <p:nvSpPr>
          <p:cNvPr id="21" name="TextBox 20"/>
          <p:cNvSpPr txBox="1"/>
          <p:nvPr/>
        </p:nvSpPr>
        <p:spPr>
          <a:xfrm>
            <a:off x="4425696"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SETBACKS</a:t>
            </a:r>
          </a:p>
        </p:txBody>
      </p:sp>
      <p:sp>
        <p:nvSpPr>
          <p:cNvPr id="22" name="Rounded Rectangle 21"/>
          <p:cNvSpPr/>
          <p:nvPr/>
        </p:nvSpPr>
        <p:spPr>
          <a:xfrm>
            <a:off x="6099048"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40+</a:t>
            </a:r>
            <a:r>
              <a:rPr sz="1100" b="1" i="0">
                <a:solidFill>
                  <a:srgbClr val="F59E0B"/>
                </a:solidFill>
                <a:latin typeface="Segoe UI"/>
              </a:rPr>
              <a:t/>
            </a:r>
          </a:p>
        </p:txBody>
      </p:sp>
      <p:sp>
        <p:nvSpPr>
          <p:cNvPr id="24" name="TextBox 23"/>
          <p:cNvSpPr txBox="1"/>
          <p:nvPr/>
        </p:nvSpPr>
        <p:spPr>
          <a:xfrm>
            <a:off x="6245352"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TUNNEL TESTS</a:t>
            </a:r>
          </a:p>
        </p:txBody>
      </p:sp>
      <p:sp>
        <p:nvSpPr>
          <p:cNvPr id="25" name="Rounded Rectangle 24"/>
          <p:cNvSpPr/>
          <p:nvPr/>
        </p:nvSpPr>
        <p:spPr>
          <a:xfrm>
            <a:off x="7918704"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5008"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1:500</a:t>
            </a:r>
            <a:r>
              <a:rPr sz="1100" b="1" i="0">
                <a:solidFill>
                  <a:srgbClr val="60A5FA"/>
                </a:solidFill>
                <a:latin typeface="Segoe UI"/>
              </a:rPr>
              <a:t/>
            </a:r>
          </a:p>
        </p:txBody>
      </p:sp>
      <p:sp>
        <p:nvSpPr>
          <p:cNvPr id="27" name="TextBox 26"/>
          <p:cNvSpPr txBox="1"/>
          <p:nvPr/>
        </p:nvSpPr>
        <p:spPr>
          <a:xfrm>
            <a:off x="8065008"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AEROELASTIC SCALE</a:t>
            </a:r>
          </a:p>
        </p:txBody>
      </p:sp>
      <p:sp>
        <p:nvSpPr>
          <p:cNvPr id="28" name="Rounded Rectangle 27"/>
          <p:cNvSpPr/>
          <p:nvPr/>
        </p:nvSpPr>
        <p:spPr>
          <a:xfrm>
            <a:off x="9738360" y="3529584"/>
            <a:ext cx="1700784" cy="1298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84664" y="3657600"/>
            <a:ext cx="1426464" cy="548640"/>
          </a:xfrm>
          <a:prstGeom prst="rect">
            <a:avLst/>
          </a:prstGeom>
          <a:noFill/>
        </p:spPr>
        <p:txBody>
          <a:bodyPr wrap="square" lIns="0" rIns="0" tIns="0" bIns="0" anchor="t">
            <a:noAutofit/>
          </a:bodyPr>
          <a:lstStyle/>
          <a:p>
            <a:pPr algn="l">
              <a:lnSpc>
                <a:spcPct val="95000"/>
              </a:lnSpc>
              <a:spcBef>
                <a:spcPts val="0"/>
              </a:spcBef>
              <a:spcAft>
                <a:spcPts val="0"/>
              </a:spcAft>
            </a:pPr>
            <a:r>
              <a:rPr sz="2700" b="1" i="0">
                <a:solidFill>
                  <a:srgbClr val="E8EEF7"/>
                </a:solidFill>
                <a:latin typeface="Segoe UI"/>
              </a:rPr>
              <a:t>12</a:t>
            </a:r>
            <a:r>
              <a:rPr sz="1100" b="1" i="0">
                <a:solidFill>
                  <a:srgbClr val="34D399"/>
                </a:solidFill>
                <a:latin typeface="Segoe UI"/>
              </a:rPr>
              <a:t> mg</a:t>
            </a:r>
          </a:p>
        </p:txBody>
      </p:sp>
      <p:sp>
        <p:nvSpPr>
          <p:cNvPr id="30" name="TextBox 29"/>
          <p:cNvSpPr txBox="1"/>
          <p:nvPr/>
        </p:nvSpPr>
        <p:spPr>
          <a:xfrm>
            <a:off x="9884664" y="4370831"/>
            <a:ext cx="1426464" cy="365760"/>
          </a:xfrm>
          <a:prstGeom prst="rect">
            <a:avLst/>
          </a:prstGeom>
          <a:noFill/>
        </p:spPr>
        <p:txBody>
          <a:bodyPr wrap="square" lIns="0" rIns="0" tIns="0" bIns="0" anchor="t">
            <a:noAutofit/>
          </a:bodyPr>
          <a:lstStyle/>
          <a:p>
            <a:pPr algn="l">
              <a:lnSpc>
                <a:spcPct val="102000"/>
              </a:lnSpc>
              <a:spcBef>
                <a:spcPts val="0"/>
              </a:spcBef>
              <a:spcAft>
                <a:spcPts val="0"/>
              </a:spcAft>
            </a:pPr>
            <a:r>
              <a:rPr sz="760" b="0" i="0">
                <a:solidFill>
                  <a:srgbClr val="94A3B8"/>
                </a:solidFill>
                <a:latin typeface="Segoe UI"/>
              </a:rPr>
              <a:t>PEAK ACCELERATION</a:t>
            </a:r>
          </a:p>
        </p:txBody>
      </p:sp>
      <p:sp>
        <p:nvSpPr>
          <p:cNvPr id="31" name="Rounded Rectangle 30"/>
          <p:cNvSpPr/>
          <p:nvPr/>
        </p:nvSpPr>
        <p:spPr>
          <a:xfrm>
            <a:off x="640080" y="5138928"/>
            <a:ext cx="10911535" cy="82296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5138928"/>
            <a:ext cx="10874959"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5257800"/>
            <a:ext cx="1920240" cy="228600"/>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34D399"/>
                </a:solidFill>
                <a:latin typeface="Segoe UI"/>
              </a:rPr>
              <a:t>DESIGN OUTCOME</a:t>
            </a:r>
          </a:p>
        </p:txBody>
      </p:sp>
      <p:sp>
        <p:nvSpPr>
          <p:cNvPr id="34" name="TextBox 33"/>
          <p:cNvSpPr txBox="1"/>
          <p:nvPr/>
        </p:nvSpPr>
        <p:spPr>
          <a:xfrm>
            <a:off x="2331720" y="5230368"/>
            <a:ext cx="2286000" cy="292608"/>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Comfort target</a:t>
            </a:r>
          </a:p>
        </p:txBody>
      </p:sp>
      <p:sp>
        <p:nvSpPr>
          <p:cNvPr id="35" name="TextBox 34"/>
          <p:cNvSpPr txBox="1"/>
          <p:nvPr/>
        </p:nvSpPr>
        <p:spPr>
          <a:xfrm>
            <a:off x="2331720" y="5541264"/>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94A3B8"/>
                </a:solidFill>
                <a:latin typeface="Segoe UI"/>
              </a:rPr>
              <a:t>criteria satisfied</a:t>
            </a:r>
          </a:p>
        </p:txBody>
      </p:sp>
      <p:sp>
        <p:nvSpPr>
          <p:cNvPr id="36" name="TextBox 35"/>
          <p:cNvSpPr txBox="1"/>
          <p:nvPr/>
        </p:nvSpPr>
        <p:spPr>
          <a:xfrm>
            <a:off x="4663440" y="5230368"/>
            <a:ext cx="2286000" cy="292608"/>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0</a:t>
            </a:r>
          </a:p>
        </p:txBody>
      </p:sp>
      <p:sp>
        <p:nvSpPr>
          <p:cNvPr id="37" name="TextBox 36"/>
          <p:cNvSpPr txBox="1"/>
          <p:nvPr/>
        </p:nvSpPr>
        <p:spPr>
          <a:xfrm>
            <a:off x="4663440" y="5541264"/>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94A3B8"/>
                </a:solidFill>
                <a:latin typeface="Segoe UI"/>
              </a:rPr>
              <a:t>auxiliary dampers</a:t>
            </a:r>
          </a:p>
        </p:txBody>
      </p:sp>
      <p:sp>
        <p:nvSpPr>
          <p:cNvPr id="38" name="TextBox 37"/>
          <p:cNvSpPr txBox="1"/>
          <p:nvPr/>
        </p:nvSpPr>
        <p:spPr>
          <a:xfrm>
            <a:off x="6995159" y="5230368"/>
            <a:ext cx="2286000" cy="292608"/>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1.5 m</a:t>
            </a:r>
          </a:p>
        </p:txBody>
      </p:sp>
      <p:sp>
        <p:nvSpPr>
          <p:cNvPr id="39" name="TextBox 38"/>
          <p:cNvSpPr txBox="1"/>
          <p:nvPr/>
        </p:nvSpPr>
        <p:spPr>
          <a:xfrm>
            <a:off x="6995159" y="5541264"/>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94A3B8"/>
                </a:solidFill>
                <a:latin typeface="Segoe UI"/>
              </a:rPr>
              <a:t>total sway at the top</a:t>
            </a:r>
          </a:p>
        </p:txBody>
      </p:sp>
      <p:sp>
        <p:nvSpPr>
          <p:cNvPr id="40" name="TextBox 39"/>
          <p:cNvSpPr txBox="1"/>
          <p:nvPr/>
        </p:nvSpPr>
        <p:spPr>
          <a:xfrm>
            <a:off x="9326880" y="5230368"/>
            <a:ext cx="2286000" cy="292608"/>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22 M</a:t>
            </a:r>
          </a:p>
        </p:txBody>
      </p:sp>
      <p:sp>
        <p:nvSpPr>
          <p:cNvPr id="41" name="TextBox 40"/>
          <p:cNvSpPr txBox="1"/>
          <p:nvPr/>
        </p:nvSpPr>
        <p:spPr>
          <a:xfrm>
            <a:off x="9326880" y="5541264"/>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94A3B8"/>
                </a:solidFill>
                <a:latin typeface="Segoe UI"/>
              </a:rPr>
              <a:t>construction man-hours</a:t>
            </a:r>
          </a:p>
        </p:txBody>
      </p:sp>
      <p:sp>
        <p:nvSpPr>
          <p:cNvPr id="42" name="TextBox 41"/>
          <p:cNvSpPr txBox="1"/>
          <p:nvPr/>
        </p:nvSpPr>
        <p:spPr>
          <a:xfrm>
            <a:off x="640080" y="605332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Sources: SOM; Irwin (CTBUH 2005); Baker et al. (SEI 2015); Novak (ICC 2023). 12 milli-g is the aeroelastic prediction for a 5-year return period.</a:t>
            </a:r>
          </a:p>
        </p:txBody>
      </p:sp>
      <p:cxnSp>
        <p:nvCxnSpPr>
          <p:cNvPr id="43" name="Connector 42"/>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5" name="TextBox 44"/>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WIND STATISTICS</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At 828 m, wind becomes the design driver</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03 / 20</a:t>
            </a:r>
          </a:p>
        </p:txBody>
      </p:sp>
      <p:graphicFrame>
        <p:nvGraphicFramePr>
          <p:cNvPr id="5" name="Chart 4"/>
          <p:cNvGraphicFramePr>
            <a:graphicFrameLocks noGrp="1"/>
          </p:cNvGraphicFramePr>
          <p:nvPr/>
        </p:nvGraphicFramePr>
        <p:xfrm>
          <a:off x="502920" y="1481328"/>
          <a:ext cx="6903720" cy="3886200"/>
        </p:xfrm>
        <a:graphic>
          <a:graphicData uri="http://schemas.openxmlformats.org/drawingml/2006/chart">
            <c:chart xmlns:c="http://schemas.openxmlformats.org/drawingml/2006/chart" r:id="rId2"/>
          </a:graphicData>
        </a:graphic>
      </p:graphicFrame>
      <p:sp>
        <p:nvSpPr>
          <p:cNvPr id="6" name="TextBox 5"/>
          <p:cNvSpPr txBox="1"/>
          <p:nvPr/>
        </p:nvSpPr>
        <p:spPr>
          <a:xfrm>
            <a:off x="685800" y="5440680"/>
            <a:ext cx="365760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HEIGHT ABOVE GROUND (m)</a:t>
            </a:r>
          </a:p>
        </p:txBody>
      </p:sp>
      <p:sp>
        <p:nvSpPr>
          <p:cNvPr id="7" name="TextBox 6"/>
          <p:cNvSpPr txBox="1"/>
          <p:nvPr/>
        </p:nvSpPr>
        <p:spPr>
          <a:xfrm>
            <a:off x="658368" y="1417320"/>
            <a:ext cx="274320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MEAN HOURLY WIND (m/s)</a:t>
            </a:r>
          </a:p>
        </p:txBody>
      </p:sp>
      <p:sp>
        <p:nvSpPr>
          <p:cNvPr id="8" name="Rounded Rectangle 7"/>
          <p:cNvSpPr/>
          <p:nvPr/>
        </p:nvSpPr>
        <p:spPr>
          <a:xfrm>
            <a:off x="7699248" y="1481328"/>
            <a:ext cx="3840480" cy="22128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17536" y="1481328"/>
            <a:ext cx="3803904"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7" y="1591056"/>
            <a:ext cx="347472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THE DESIGN PROFILE</a:t>
            </a:r>
          </a:p>
        </p:txBody>
      </p:sp>
      <p:sp>
        <p:nvSpPr>
          <p:cNvPr id="11" name="TextBox 10"/>
          <p:cNvSpPr txBox="1"/>
          <p:nvPr/>
        </p:nvSpPr>
        <p:spPr>
          <a:xfrm>
            <a:off x="7882127" y="1865376"/>
            <a:ext cx="3566160" cy="41148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E8EEF7"/>
                </a:solidFill>
                <a:latin typeface="Segoe UI Semibold"/>
              </a:rPr>
              <a:t>U(z) = U₁₀ · (z/10)^α</a:t>
            </a:r>
          </a:p>
        </p:txBody>
      </p:sp>
      <p:sp>
        <p:nvSpPr>
          <p:cNvPr id="12" name="TextBox 11"/>
          <p:cNvSpPr txBox="1"/>
          <p:nvPr/>
        </p:nvSpPr>
        <p:spPr>
          <a:xfrm>
            <a:off x="7882127" y="2304288"/>
            <a:ext cx="3474720" cy="822960"/>
          </a:xfrm>
          <a:prstGeom prst="rect">
            <a:avLst/>
          </a:prstGeom>
          <a:noFill/>
        </p:spPr>
        <p:txBody>
          <a:bodyPr wrap="square" lIns="0" rIns="0" tIns="0" bIns="0" anchor="t">
            <a:noAutofit/>
          </a:bodyPr>
          <a:lstStyle/>
          <a:p>
            <a:pPr algn="l">
              <a:lnSpc>
                <a:spcPct val="145000"/>
              </a:lnSpc>
              <a:spcBef>
                <a:spcPts val="0"/>
              </a:spcBef>
              <a:spcAft>
                <a:spcPts val="0"/>
              </a:spcAft>
            </a:pPr>
            <a:r>
              <a:rPr sz="880" b="0" i="0">
                <a:solidFill>
                  <a:srgbClr val="94A3B8"/>
                </a:solidFill>
                <a:latin typeface="Segoe UI"/>
              </a:rPr>
              <a:t>α ≈ 0.136  ·  fitted to the reported 10 m and 600 m values
q(z) = ½ ρ U(z)²</a:t>
            </a:r>
          </a:p>
        </p:txBody>
      </p:sp>
      <p:sp>
        <p:nvSpPr>
          <p:cNvPr id="13" name="TextBox 12"/>
          <p:cNvSpPr txBox="1"/>
          <p:nvPr/>
        </p:nvSpPr>
        <p:spPr>
          <a:xfrm>
            <a:off x="7882127" y="3017520"/>
            <a:ext cx="3474720" cy="45720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64748B"/>
                </a:solidFill>
                <a:latin typeface="Segoe UI"/>
              </a:rPr>
              <a:t>50-year return period, mean-hourly — not a 3-second gust.</a:t>
            </a:r>
          </a:p>
        </p:txBody>
      </p:sp>
      <p:sp>
        <p:nvSpPr>
          <p:cNvPr id="14" name="TextBox 13"/>
          <p:cNvSpPr txBox="1"/>
          <p:nvPr/>
        </p:nvSpPr>
        <p:spPr>
          <a:xfrm>
            <a:off x="7882127" y="3401568"/>
            <a:ext cx="3474720" cy="219456"/>
          </a:xfrm>
          <a:prstGeom prst="rect">
            <a:avLst/>
          </a:prstGeom>
          <a:noFill/>
        </p:spPr>
        <p:txBody>
          <a:bodyPr wrap="square" lIns="0" rIns="0" tIns="0" bIns="0" anchor="t">
            <a:noAutofit/>
          </a:bodyPr>
          <a:lstStyle/>
          <a:p>
            <a:pPr algn="l">
              <a:lnSpc>
                <a:spcPct val="110000"/>
              </a:lnSpc>
              <a:spcBef>
                <a:spcPts val="0"/>
              </a:spcBef>
              <a:spcAft>
                <a:spcPts val="0"/>
              </a:spcAft>
            </a:pPr>
            <a:r>
              <a:rPr sz="680" b="0" i="0">
                <a:solidFill>
                  <a:srgbClr val="64748B"/>
                </a:solidFill>
                <a:latin typeface="Segoe UI"/>
              </a:rPr>
              <a:t>Mean profile only: gust factors enter in the load cases.</a:t>
            </a:r>
          </a:p>
        </p:txBody>
      </p:sp>
      <p:sp>
        <p:nvSpPr>
          <p:cNvPr id="15" name="Rounded Rectangle 14"/>
          <p:cNvSpPr/>
          <p:nvPr/>
        </p:nvSpPr>
        <p:spPr>
          <a:xfrm>
            <a:off x="7699248" y="3730752"/>
            <a:ext cx="3840480" cy="1874519"/>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7" y="3840480"/>
            <a:ext cx="1170432"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22D3EE"/>
                </a:solidFill>
                <a:latin typeface="Segoe UI Semibold"/>
              </a:rPr>
              <a:t>23.5 m/s</a:t>
            </a:r>
          </a:p>
        </p:txBody>
      </p:sp>
      <p:sp>
        <p:nvSpPr>
          <p:cNvPr id="17" name="TextBox 16"/>
          <p:cNvSpPr txBox="1"/>
          <p:nvPr/>
        </p:nvSpPr>
        <p:spPr>
          <a:xfrm>
            <a:off x="9052560" y="3858768"/>
            <a:ext cx="2331720" cy="274320"/>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94A3B8"/>
                </a:solidFill>
                <a:latin typeface="Segoe UI"/>
              </a:rPr>
              <a:t>50-year mean-hourly wind at 10 m</a:t>
            </a:r>
          </a:p>
        </p:txBody>
      </p:sp>
      <p:sp>
        <p:nvSpPr>
          <p:cNvPr id="18" name="TextBox 17"/>
          <p:cNvSpPr txBox="1"/>
          <p:nvPr/>
        </p:nvSpPr>
        <p:spPr>
          <a:xfrm>
            <a:off x="7882127" y="4242816"/>
            <a:ext cx="1170432"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22D3EE"/>
                </a:solidFill>
                <a:latin typeface="Segoe UI Semibold"/>
              </a:rPr>
              <a:t>41 m/s</a:t>
            </a:r>
          </a:p>
        </p:txBody>
      </p:sp>
      <p:sp>
        <p:nvSpPr>
          <p:cNvPr id="19" name="TextBox 18"/>
          <p:cNvSpPr txBox="1"/>
          <p:nvPr/>
        </p:nvSpPr>
        <p:spPr>
          <a:xfrm>
            <a:off x="9052560" y="4261104"/>
            <a:ext cx="2331720" cy="274320"/>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94A3B8"/>
                </a:solidFill>
                <a:latin typeface="Segoe UI"/>
              </a:rPr>
              <a:t>50-year mean-hourly wind at 600 m</a:t>
            </a:r>
          </a:p>
        </p:txBody>
      </p:sp>
      <p:sp>
        <p:nvSpPr>
          <p:cNvPr id="20" name="TextBox 19"/>
          <p:cNvSpPr txBox="1"/>
          <p:nvPr/>
        </p:nvSpPr>
        <p:spPr>
          <a:xfrm>
            <a:off x="7882127" y="4645152"/>
            <a:ext cx="1170432"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22D3EE"/>
                </a:solidFill>
                <a:latin typeface="Segoe UI Semibold"/>
              </a:rPr>
              <a:t>≈ 43 m/s</a:t>
            </a:r>
          </a:p>
        </p:txBody>
      </p:sp>
      <p:sp>
        <p:nvSpPr>
          <p:cNvPr id="21" name="TextBox 20"/>
          <p:cNvSpPr txBox="1"/>
          <p:nvPr/>
        </p:nvSpPr>
        <p:spPr>
          <a:xfrm>
            <a:off x="9052560" y="4663440"/>
            <a:ext cx="2331720" cy="274320"/>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94A3B8"/>
                </a:solidFill>
                <a:latin typeface="Segoe UI"/>
              </a:rPr>
              <a:t>derived at the 828 m crown</a:t>
            </a:r>
          </a:p>
        </p:txBody>
      </p:sp>
      <p:sp>
        <p:nvSpPr>
          <p:cNvPr id="22" name="TextBox 21"/>
          <p:cNvSpPr txBox="1"/>
          <p:nvPr/>
        </p:nvSpPr>
        <p:spPr>
          <a:xfrm>
            <a:off x="7882127" y="5047488"/>
            <a:ext cx="1170432"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22D3EE"/>
                </a:solidFill>
                <a:latin typeface="Segoe UI Semibold"/>
              </a:rPr>
              <a:t>≈ 1.06 kPa</a:t>
            </a:r>
          </a:p>
        </p:txBody>
      </p:sp>
      <p:sp>
        <p:nvSpPr>
          <p:cNvPr id="23" name="TextBox 22"/>
          <p:cNvSpPr txBox="1"/>
          <p:nvPr/>
        </p:nvSpPr>
        <p:spPr>
          <a:xfrm>
            <a:off x="9052560" y="5065776"/>
            <a:ext cx="2331720" cy="274320"/>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94A3B8"/>
                </a:solidFill>
                <a:latin typeface="Segoe UI"/>
              </a:rPr>
              <a:t>dynamic pressure at the crown</a:t>
            </a:r>
          </a:p>
        </p:txBody>
      </p:sp>
      <p:sp>
        <p:nvSpPr>
          <p:cNvPr id="24" name="TextBox 23"/>
          <p:cNvSpPr txBox="1"/>
          <p:nvPr/>
        </p:nvSpPr>
        <p:spPr>
          <a:xfrm>
            <a:off x="640080" y="5833872"/>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919" b="1" i="0">
                <a:solidFill>
                  <a:srgbClr val="22D3EE"/>
                </a:solidFill>
                <a:latin typeface="Segoe UI"/>
              </a:rPr>
              <a:t>Insight: </a:t>
            </a:r>
            <a:r>
              <a:rPr sz="919" b="0" i="0">
                <a:solidFill>
                  <a:srgbClr val="94A3B8"/>
                </a:solidFill>
                <a:latin typeface="Segoe UI"/>
              </a:rPr>
              <a:t>a 50-year event is not a rare outlier in the design process — it is the load case that sizes the lateral system.</a:t>
            </a:r>
          </a:p>
        </p:txBody>
      </p:sp>
      <p:sp>
        <p:nvSpPr>
          <p:cNvPr id="25" name="TextBox 24"/>
          <p:cNvSpPr txBox="1"/>
          <p:nvPr/>
        </p:nvSpPr>
        <p:spPr>
          <a:xfrm>
            <a:off x="640080" y="6080760"/>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Anchors: Irwin, 'The Wind Engineering of the Burj Dubai Tower' (CTBUH 2005). Curve: power-law interpolation, α fitted to 23.5 m/s at 10 m and 41 m/s at 600 m; dynamic pressure with ρ = 1.15 kg/m³.</a:t>
            </a:r>
          </a:p>
        </p:txBody>
      </p:sp>
      <p:cxnSp>
        <p:nvCxnSpPr>
          <p:cNvPr id="26" name="Connector 25"/>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28" name="TextBox 27"/>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AERODYNAMICS</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The real enemy: vortex shedding and lock-in</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04 / 20</a:t>
            </a:r>
          </a:p>
        </p:txBody>
      </p:sp>
      <p:sp>
        <p:nvSpPr>
          <p:cNvPr id="5" name="Rounded Rectangle 4"/>
          <p:cNvSpPr/>
          <p:nvPr/>
        </p:nvSpPr>
        <p:spPr>
          <a:xfrm>
            <a:off x="640080" y="1481328"/>
            <a:ext cx="5715000" cy="4224528"/>
          </a:xfrm>
          <a:prstGeom prst="roundRect">
            <a:avLst>
              <a:gd name="adj" fmla="val 5000"/>
            </a:avLst>
          </a:prstGeom>
          <a:solidFill>
            <a:srgbClr val="0B1424"/>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91056"/>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64748B"/>
                </a:solidFill>
                <a:latin typeface="Segoe UI"/>
              </a:rPr>
              <a:t>PLAN VIEW  ·  BLUFF BODY IN CROSSFLOW</a:t>
            </a:r>
          </a:p>
        </p:txBody>
      </p:sp>
      <p:sp>
        <p:nvSpPr>
          <p:cNvPr id="7" name="Right Arrow 6"/>
          <p:cNvSpPr/>
          <p:nvPr/>
        </p:nvSpPr>
        <p:spPr>
          <a:xfrm>
            <a:off x="868680" y="2697480"/>
            <a:ext cx="1051560" cy="100584"/>
          </a:xfrm>
          <a:prstGeom prst="rightArrow">
            <a:avLst/>
          </a:prstGeom>
          <a:solidFill>
            <a:srgbClr val="167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868680" y="3127248"/>
            <a:ext cx="1051560" cy="100584"/>
          </a:xfrm>
          <a:prstGeom prst="rightArrow">
            <a:avLst/>
          </a:prstGeom>
          <a:solidFill>
            <a:srgbClr val="167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868680" y="3557016"/>
            <a:ext cx="1051560" cy="100584"/>
          </a:xfrm>
          <a:prstGeom prst="rightArrow">
            <a:avLst/>
          </a:prstGeom>
          <a:solidFill>
            <a:srgbClr val="167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68680" y="3986784"/>
            <a:ext cx="1051560" cy="100584"/>
          </a:xfrm>
          <a:prstGeom prst="rightArrow">
            <a:avLst/>
          </a:prstGeom>
          <a:solidFill>
            <a:srgbClr val="167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9663"/>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750" b="1" i="0">
                <a:solidFill>
                  <a:srgbClr val="22D3EE"/>
                </a:solidFill>
                <a:latin typeface="Segoe UI"/>
              </a:rPr>
              <a:t>WIND</a:t>
            </a:r>
          </a:p>
        </p:txBody>
      </p:sp>
      <p:cxnSp>
        <p:nvCxnSpPr>
          <p:cNvPr id="12" name="Connector 11"/>
          <p:cNvCxnSpPr/>
          <p:nvPr/>
        </p:nvCxnSpPr>
        <p:spPr>
          <a:xfrm>
            <a:off x="1965960" y="2487168"/>
            <a:ext cx="0" cy="1737360"/>
          </a:xfrm>
          <a:prstGeom prst="line">
            <a:avLst/>
          </a:prstGeom>
          <a:ln w="12700">
            <a:solidFill>
              <a:srgbClr val="17849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84831" y="2395728"/>
            <a:ext cx="566928" cy="1901952"/>
          </a:xfrm>
          <a:prstGeom prst="roundRect">
            <a:avLst>
              <a:gd name="adj" fmla="val 18000"/>
            </a:avLst>
          </a:prstGeom>
          <a:solidFill>
            <a:srgbClr val="152238"/>
          </a:solidFill>
          <a:ln w="1778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75104" y="4370832"/>
            <a:ext cx="822960" cy="219456"/>
          </a:xfrm>
          <a:prstGeom prst="rect">
            <a:avLst/>
          </a:prstGeom>
          <a:noFill/>
        </p:spPr>
        <p:txBody>
          <a:bodyPr wrap="square" lIns="0" rIns="0" tIns="0" bIns="0" anchor="t">
            <a:noAutofit/>
          </a:bodyPr>
          <a:lstStyle/>
          <a:p>
            <a:pPr algn="ctr">
              <a:lnSpc>
                <a:spcPct val="110000"/>
              </a:lnSpc>
              <a:spcBef>
                <a:spcPts val="0"/>
              </a:spcBef>
              <a:spcAft>
                <a:spcPts val="0"/>
              </a:spcAft>
            </a:pPr>
            <a:r>
              <a:rPr sz="750" b="1" i="0">
                <a:solidFill>
                  <a:srgbClr val="22D3EE"/>
                </a:solidFill>
                <a:latin typeface="Segoe UI"/>
              </a:rPr>
              <a:t>TOWER</a:t>
            </a:r>
          </a:p>
        </p:txBody>
      </p:sp>
      <p:cxnSp>
        <p:nvCxnSpPr>
          <p:cNvPr id="15" name="Connector 14"/>
          <p:cNvCxnSpPr/>
          <p:nvPr/>
        </p:nvCxnSpPr>
        <p:spPr>
          <a:xfrm>
            <a:off x="2651760" y="3346704"/>
            <a:ext cx="2788920"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852928" y="2679192"/>
            <a:ext cx="420624" cy="420624"/>
          </a:xfrm>
          <a:prstGeom prst="ellipse">
            <a:avLst/>
          </a:prstGeom>
          <a:solidFill>
            <a:srgbClr val="32271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2761488"/>
            <a:ext cx="292608" cy="256032"/>
          </a:xfrm>
          <a:prstGeom prst="rect">
            <a:avLst/>
          </a:prstGeom>
          <a:noFill/>
        </p:spPr>
        <p:txBody>
          <a:bodyPr wrap="square" lIns="0" rIns="0" tIns="0" bIns="0" anchor="t">
            <a:noAutofit/>
          </a:bodyPr>
          <a:lstStyle/>
          <a:p>
            <a:pPr algn="ctr">
              <a:lnSpc>
                <a:spcPct val="110000"/>
              </a:lnSpc>
              <a:spcBef>
                <a:spcPts val="0"/>
              </a:spcBef>
              <a:spcAft>
                <a:spcPts val="0"/>
              </a:spcAft>
            </a:pPr>
            <a:r>
              <a:rPr sz="1100" b="0" i="0">
                <a:solidFill>
                  <a:srgbClr val="F59E0B"/>
                </a:solidFill>
                <a:latin typeface="Segoe UI"/>
              </a:rPr>
              <a:t>↻</a:t>
            </a:r>
          </a:p>
        </p:txBody>
      </p:sp>
      <p:sp>
        <p:nvSpPr>
          <p:cNvPr id="18" name="Oval 17"/>
          <p:cNvSpPr/>
          <p:nvPr/>
        </p:nvSpPr>
        <p:spPr>
          <a:xfrm>
            <a:off x="3429000" y="3593592"/>
            <a:ext cx="420624" cy="420624"/>
          </a:xfrm>
          <a:prstGeom prst="ellipse">
            <a:avLst/>
          </a:prstGeom>
          <a:solidFill>
            <a:srgbClr val="32271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3675888"/>
            <a:ext cx="292608" cy="256032"/>
          </a:xfrm>
          <a:prstGeom prst="rect">
            <a:avLst/>
          </a:prstGeom>
          <a:noFill/>
        </p:spPr>
        <p:txBody>
          <a:bodyPr wrap="square" lIns="0" rIns="0" tIns="0" bIns="0" anchor="t">
            <a:noAutofit/>
          </a:bodyPr>
          <a:lstStyle/>
          <a:p>
            <a:pPr algn="ctr">
              <a:lnSpc>
                <a:spcPct val="110000"/>
              </a:lnSpc>
              <a:spcBef>
                <a:spcPts val="0"/>
              </a:spcBef>
              <a:spcAft>
                <a:spcPts val="0"/>
              </a:spcAft>
            </a:pPr>
            <a:r>
              <a:rPr sz="1100" b="0" i="0">
                <a:solidFill>
                  <a:srgbClr val="F59E0B"/>
                </a:solidFill>
                <a:latin typeface="Segoe UI"/>
              </a:rPr>
              <a:t>↺</a:t>
            </a:r>
          </a:p>
        </p:txBody>
      </p:sp>
      <p:sp>
        <p:nvSpPr>
          <p:cNvPr id="20" name="Oval 19"/>
          <p:cNvSpPr/>
          <p:nvPr/>
        </p:nvSpPr>
        <p:spPr>
          <a:xfrm>
            <a:off x="4005072" y="2679192"/>
            <a:ext cx="420624" cy="420624"/>
          </a:xfrm>
          <a:prstGeom prst="ellipse">
            <a:avLst/>
          </a:prstGeom>
          <a:solidFill>
            <a:srgbClr val="32271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69080" y="2761488"/>
            <a:ext cx="292608" cy="256032"/>
          </a:xfrm>
          <a:prstGeom prst="rect">
            <a:avLst/>
          </a:prstGeom>
          <a:noFill/>
        </p:spPr>
        <p:txBody>
          <a:bodyPr wrap="square" lIns="0" rIns="0" tIns="0" bIns="0" anchor="t">
            <a:noAutofit/>
          </a:bodyPr>
          <a:lstStyle/>
          <a:p>
            <a:pPr algn="ctr">
              <a:lnSpc>
                <a:spcPct val="110000"/>
              </a:lnSpc>
              <a:spcBef>
                <a:spcPts val="0"/>
              </a:spcBef>
              <a:spcAft>
                <a:spcPts val="0"/>
              </a:spcAft>
            </a:pPr>
            <a:r>
              <a:rPr sz="1100" b="0" i="0">
                <a:solidFill>
                  <a:srgbClr val="F59E0B"/>
                </a:solidFill>
                <a:latin typeface="Segoe UI"/>
              </a:rPr>
              <a:t>↻</a:t>
            </a:r>
          </a:p>
        </p:txBody>
      </p:sp>
      <p:sp>
        <p:nvSpPr>
          <p:cNvPr id="22" name="Oval 21"/>
          <p:cNvSpPr/>
          <p:nvPr/>
        </p:nvSpPr>
        <p:spPr>
          <a:xfrm>
            <a:off x="4581144" y="3593592"/>
            <a:ext cx="420624" cy="420624"/>
          </a:xfrm>
          <a:prstGeom prst="ellipse">
            <a:avLst/>
          </a:prstGeom>
          <a:solidFill>
            <a:srgbClr val="32271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2" y="3675888"/>
            <a:ext cx="292608" cy="256032"/>
          </a:xfrm>
          <a:prstGeom prst="rect">
            <a:avLst/>
          </a:prstGeom>
          <a:noFill/>
        </p:spPr>
        <p:txBody>
          <a:bodyPr wrap="square" lIns="0" rIns="0" tIns="0" bIns="0" anchor="t">
            <a:noAutofit/>
          </a:bodyPr>
          <a:lstStyle/>
          <a:p>
            <a:pPr algn="ctr">
              <a:lnSpc>
                <a:spcPct val="110000"/>
              </a:lnSpc>
              <a:spcBef>
                <a:spcPts val="0"/>
              </a:spcBef>
              <a:spcAft>
                <a:spcPts val="0"/>
              </a:spcAft>
            </a:pPr>
            <a:r>
              <a:rPr sz="1100" b="0" i="0">
                <a:solidFill>
                  <a:srgbClr val="F59E0B"/>
                </a:solidFill>
                <a:latin typeface="Segoe UI"/>
              </a:rPr>
              <a:t>↺</a:t>
            </a:r>
          </a:p>
        </p:txBody>
      </p:sp>
      <p:sp>
        <p:nvSpPr>
          <p:cNvPr id="24" name="TextBox 23"/>
          <p:cNvSpPr txBox="1"/>
          <p:nvPr/>
        </p:nvSpPr>
        <p:spPr>
          <a:xfrm>
            <a:off x="3246120" y="4224528"/>
            <a:ext cx="246888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F59E0B"/>
                </a:solidFill>
                <a:latin typeface="Segoe UI"/>
              </a:rPr>
              <a:t>alternating vortices</a:t>
            </a:r>
          </a:p>
        </p:txBody>
      </p:sp>
      <p:sp>
        <p:nvSpPr>
          <p:cNvPr id="25" name="Rounded Rectangle 24"/>
          <p:cNvSpPr/>
          <p:nvPr/>
        </p:nvSpPr>
        <p:spPr>
          <a:xfrm>
            <a:off x="822959" y="4864608"/>
            <a:ext cx="5349240" cy="71323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9264" y="4956048"/>
            <a:ext cx="5029200" cy="274320"/>
          </a:xfrm>
          <a:prstGeom prst="rect">
            <a:avLst/>
          </a:prstGeom>
          <a:noFill/>
        </p:spPr>
        <p:txBody>
          <a:bodyPr wrap="square" lIns="0" rIns="0" tIns="0" bIns="0" anchor="t">
            <a:noAutofit/>
          </a:bodyPr>
          <a:lstStyle/>
          <a:p>
            <a:pPr algn="l">
              <a:lnSpc>
                <a:spcPct val="110000"/>
              </a:lnSpc>
              <a:spcBef>
                <a:spcPts val="0"/>
              </a:spcBef>
              <a:spcAft>
                <a:spcPts val="0"/>
              </a:spcAft>
            </a:pPr>
            <a:r>
              <a:rPr sz="1700" b="0" i="0">
                <a:solidFill>
                  <a:srgbClr val="E8EEF7"/>
                </a:solidFill>
                <a:latin typeface="Segoe UI Semibold"/>
              </a:rPr>
              <a:t>f  =  St · U / D</a:t>
            </a:r>
          </a:p>
        </p:txBody>
      </p:sp>
      <p:sp>
        <p:nvSpPr>
          <p:cNvPr id="27" name="TextBox 26"/>
          <p:cNvSpPr txBox="1"/>
          <p:nvPr/>
        </p:nvSpPr>
        <p:spPr>
          <a:xfrm>
            <a:off x="3017520" y="4992624"/>
            <a:ext cx="3063240" cy="457200"/>
          </a:xfrm>
          <a:prstGeom prst="rect">
            <a:avLst/>
          </a:prstGeom>
          <a:noFill/>
        </p:spPr>
        <p:txBody>
          <a:bodyPr wrap="square" lIns="0" rIns="0" tIns="0" bIns="0" anchor="t">
            <a:noAutofit/>
          </a:bodyPr>
          <a:lstStyle/>
          <a:p>
            <a:pPr algn="l">
              <a:lnSpc>
                <a:spcPct val="130000"/>
              </a:lnSpc>
              <a:spcBef>
                <a:spcPts val="0"/>
              </a:spcBef>
              <a:spcAft>
                <a:spcPts val="0"/>
              </a:spcAft>
            </a:pPr>
            <a:r>
              <a:rPr sz="760" b="0" i="0">
                <a:solidFill>
                  <a:srgbClr val="94A3B8"/>
                </a:solidFill>
                <a:latin typeface="Segoe UI"/>
              </a:rPr>
              <a:t>St ≈ 0.12  ·  D = plan width
resonance when f  ≈  structural mode</a:t>
            </a:r>
          </a:p>
        </p:txBody>
      </p:sp>
      <p:graphicFrame>
        <p:nvGraphicFramePr>
          <p:cNvPr id="28" name="Chart 27"/>
          <p:cNvGraphicFramePr>
            <a:graphicFrameLocks noGrp="1"/>
          </p:cNvGraphicFramePr>
          <p:nvPr/>
        </p:nvGraphicFramePr>
        <p:xfrm>
          <a:off x="6446520" y="1444752"/>
          <a:ext cx="5102352" cy="4041648"/>
        </p:xfrm>
        <a:graphic>
          <a:graphicData uri="http://schemas.openxmlformats.org/drawingml/2006/chart">
            <c:chart xmlns:c="http://schemas.openxmlformats.org/drawingml/2006/chart" r:id="rId2"/>
          </a:graphicData>
        </a:graphic>
      </p:graphicFrame>
      <p:sp>
        <p:nvSpPr>
          <p:cNvPr id="29" name="TextBox 28"/>
          <p:cNvSpPr txBox="1"/>
          <p:nvPr/>
        </p:nvSpPr>
        <p:spPr>
          <a:xfrm>
            <a:off x="6675120" y="5504688"/>
            <a:ext cx="320040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WIND SPEED U (m/s)</a:t>
            </a:r>
          </a:p>
        </p:txBody>
      </p:sp>
      <p:sp>
        <p:nvSpPr>
          <p:cNvPr id="30" name="TextBox 29"/>
          <p:cNvSpPr txBox="1"/>
          <p:nvPr/>
        </p:nvSpPr>
        <p:spPr>
          <a:xfrm>
            <a:off x="10241280" y="1536192"/>
            <a:ext cx="1188720" cy="320040"/>
          </a:xfrm>
          <a:prstGeom prst="rect">
            <a:avLst/>
          </a:prstGeom>
          <a:noFill/>
        </p:spPr>
        <p:txBody>
          <a:bodyPr wrap="square" lIns="0" rIns="0" tIns="0" bIns="0" anchor="t">
            <a:noAutofit/>
          </a:bodyPr>
          <a:lstStyle/>
          <a:p>
            <a:pPr algn="r">
              <a:lnSpc>
                <a:spcPct val="110000"/>
              </a:lnSpc>
              <a:spcBef>
                <a:spcPts val="0"/>
              </a:spcBef>
              <a:spcAft>
                <a:spcPts val="0"/>
              </a:spcAft>
            </a:pPr>
            <a:r>
              <a:rPr sz="720" b="1" i="0">
                <a:solidFill>
                  <a:srgbClr val="64748B"/>
                </a:solidFill>
                <a:latin typeface="Segoe UI"/>
              </a:rPr>
              <a:t>f (Hz)</a:t>
            </a:r>
          </a:p>
        </p:txBody>
      </p:sp>
      <p:sp>
        <p:nvSpPr>
          <p:cNvPr id="31" name="TextBox 30"/>
          <p:cNvSpPr txBox="1"/>
          <p:nvPr/>
        </p:nvSpPr>
        <p:spPr>
          <a:xfrm>
            <a:off x="9646920" y="3090672"/>
            <a:ext cx="1783080" cy="502920"/>
          </a:xfrm>
          <a:prstGeom prst="rect">
            <a:avLst/>
          </a:prstGeom>
          <a:noFill/>
        </p:spPr>
        <p:txBody>
          <a:bodyPr wrap="square" lIns="0" rIns="0" tIns="0" bIns="0" anchor="t">
            <a:noAutofit/>
          </a:bodyPr>
          <a:lstStyle/>
          <a:p>
            <a:pPr algn="r">
              <a:lnSpc>
                <a:spcPct val="115000"/>
              </a:lnSpc>
              <a:spcBef>
                <a:spcPts val="0"/>
              </a:spcBef>
              <a:spcAft>
                <a:spcPts val="0"/>
              </a:spcAft>
            </a:pPr>
            <a:r>
              <a:rPr sz="819" b="1" i="0">
                <a:solidFill>
                  <a:srgbClr val="F59E0B"/>
                </a:solidFill>
                <a:latin typeface="Segoe UI"/>
              </a:rPr>
              <a:t>lock-in ≈ 42 m/s
if the mode were 0.10 Hz</a:t>
            </a:r>
          </a:p>
        </p:txBody>
      </p:sp>
      <p:sp>
        <p:nvSpPr>
          <p:cNvPr id="32" name="TextBox 31"/>
          <p:cNvSpPr txBox="1"/>
          <p:nvPr/>
        </p:nvSpPr>
        <p:spPr>
          <a:xfrm>
            <a:off x="640080" y="5852160"/>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919" b="1" i="0">
                <a:solidFill>
                  <a:srgbClr val="F59E0B"/>
                </a:solidFill>
                <a:latin typeface="Segoe UI"/>
              </a:rPr>
              <a:t>Why it matters: </a:t>
            </a:r>
            <a:r>
              <a:rPr sz="919" b="0" i="0">
                <a:solidFill>
                  <a:srgbClr val="94A3B8"/>
                </a:solidFill>
                <a:latin typeface="Segoe UI"/>
              </a:rPr>
              <a:t>a square tower sheds one strong frequency. A tapered, twisted, stepped plan smears that frequency along the height, so no single vortex street can organise.</a:t>
            </a:r>
          </a:p>
        </p:txBody>
      </p:sp>
      <p:sp>
        <p:nvSpPr>
          <p:cNvPr id="33" name="TextBox 32"/>
          <p:cNvSpPr txBox="1"/>
          <p:nvPr/>
        </p:nvSpPr>
        <p:spPr>
          <a:xfrm>
            <a:off x="640080" y="6089904"/>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Physics schematic — not a Burj Khalifa measurement. Shedding relation f = St·U/D with illustrative width and Strouhal number. Shaping strategy: SOM / Irwin (2005).</a:t>
            </a:r>
          </a:p>
        </p:txBody>
      </p:sp>
      <p:cxnSp>
        <p:nvCxnSpPr>
          <p:cNvPr id="34" name="Connector 33"/>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36" name="TextBox 35"/>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F59E0B"/>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F59E0B"/>
                </a:solidFill>
                <a:latin typeface="Segoe UI"/>
              </a:rPr>
              <a:t>MASSING</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Confuse the wind: a Y-plan with 27 spiraling setbacks</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05 / 20</a:t>
            </a:r>
          </a:p>
        </p:txBody>
      </p:sp>
      <p:sp>
        <p:nvSpPr>
          <p:cNvPr id="5" name="TextBox 4"/>
          <p:cNvSpPr txBox="1"/>
          <p:nvPr/>
        </p:nvSpPr>
        <p:spPr>
          <a:xfrm>
            <a:off x="640080" y="1499616"/>
            <a:ext cx="548640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F59E0B"/>
                </a:solidFill>
                <a:latin typeface="Segoe UI"/>
              </a:rPr>
              <a:t>27 TIERS  ·  EACH ONE A DIFFERENT PLAN</a:t>
            </a:r>
          </a:p>
        </p:txBody>
      </p:sp>
      <p:sp>
        <p:nvSpPr>
          <p:cNvPr id="6" name="Rectangle 5"/>
          <p:cNvSpPr/>
          <p:nvPr/>
        </p:nvSpPr>
        <p:spPr>
          <a:xfrm>
            <a:off x="1783080" y="2980944"/>
            <a:ext cx="960120" cy="530352"/>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7200000">
            <a:off x="1062990" y="3396688"/>
            <a:ext cx="960120" cy="530352"/>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4400000">
            <a:off x="1062989" y="2565199"/>
            <a:ext cx="960120" cy="530352"/>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exagon 8"/>
          <p:cNvSpPr/>
          <p:nvPr/>
        </p:nvSpPr>
        <p:spPr>
          <a:xfrm rot="1800000">
            <a:off x="1549725" y="3012765"/>
            <a:ext cx="466709" cy="466709"/>
          </a:xfrm>
          <a:prstGeom prst="hexagon">
            <a:avLst/>
          </a:prstGeom>
          <a:solidFill>
            <a:srgbClr val="101A2C"/>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07408"/>
            <a:ext cx="1828800" cy="219456"/>
          </a:xfrm>
          <a:prstGeom prst="rect">
            <a:avLst/>
          </a:prstGeom>
          <a:noFill/>
        </p:spPr>
        <p:txBody>
          <a:bodyPr wrap="square" lIns="0" rIns="0" tIns="0" bIns="0" anchor="t">
            <a:noAutofit/>
          </a:bodyPr>
          <a:lstStyle/>
          <a:p>
            <a:pPr algn="ctr">
              <a:lnSpc>
                <a:spcPct val="110000"/>
              </a:lnSpc>
              <a:spcBef>
                <a:spcPts val="0"/>
              </a:spcBef>
              <a:spcAft>
                <a:spcPts val="0"/>
              </a:spcAft>
            </a:pPr>
            <a:r>
              <a:rPr sz="800" b="1" i="0">
                <a:solidFill>
                  <a:srgbClr val="94A3B8"/>
                </a:solidFill>
                <a:latin typeface="Segoe UI"/>
              </a:rPr>
              <a:t>BASE  ·  0 m</a:t>
            </a:r>
          </a:p>
        </p:txBody>
      </p:sp>
      <p:sp>
        <p:nvSpPr>
          <p:cNvPr id="11" name="Rectangle 10"/>
          <p:cNvSpPr/>
          <p:nvPr/>
        </p:nvSpPr>
        <p:spPr>
          <a:xfrm rot="660000">
            <a:off x="3604991" y="3107343"/>
            <a:ext cx="749808" cy="420624"/>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7860000">
            <a:off x="2991016" y="3318751"/>
            <a:ext cx="749808" cy="420624"/>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15060000">
            <a:off x="3114919" y="2681329"/>
            <a:ext cx="749808" cy="420624"/>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exagon 13"/>
          <p:cNvSpPr/>
          <p:nvPr/>
        </p:nvSpPr>
        <p:spPr>
          <a:xfrm rot="1800000">
            <a:off x="3426805" y="3061045"/>
            <a:ext cx="370149" cy="370149"/>
          </a:xfrm>
          <a:prstGeom prst="hexagon">
            <a:avLst/>
          </a:prstGeom>
          <a:solidFill>
            <a:srgbClr val="101A2C"/>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4407408"/>
            <a:ext cx="1828800" cy="219456"/>
          </a:xfrm>
          <a:prstGeom prst="rect">
            <a:avLst/>
          </a:prstGeom>
          <a:noFill/>
        </p:spPr>
        <p:txBody>
          <a:bodyPr wrap="square" lIns="0" rIns="0" tIns="0" bIns="0" anchor="t">
            <a:noAutofit/>
          </a:bodyPr>
          <a:lstStyle/>
          <a:p>
            <a:pPr algn="ctr">
              <a:lnSpc>
                <a:spcPct val="110000"/>
              </a:lnSpc>
              <a:spcBef>
                <a:spcPts val="0"/>
              </a:spcBef>
              <a:spcAft>
                <a:spcPts val="0"/>
              </a:spcAft>
            </a:pPr>
            <a:r>
              <a:rPr sz="800" b="1" i="0">
                <a:solidFill>
                  <a:srgbClr val="94A3B8"/>
                </a:solidFill>
                <a:latin typeface="Segoe UI"/>
              </a:rPr>
              <a:t>MID  ·  ≈ 300 m</a:t>
            </a:r>
          </a:p>
        </p:txBody>
      </p:sp>
      <p:sp>
        <p:nvSpPr>
          <p:cNvPr id="16" name="Rectangle 15"/>
          <p:cNvSpPr/>
          <p:nvPr/>
        </p:nvSpPr>
        <p:spPr>
          <a:xfrm rot="1320000">
            <a:off x="5420705" y="3193434"/>
            <a:ext cx="548640" cy="310896"/>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rot="8520000">
            <a:off x="4950192" y="3259560"/>
            <a:ext cx="548640" cy="310896"/>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rot="15720000">
            <a:off x="5128182" y="2819021"/>
            <a:ext cx="548640" cy="310896"/>
          </a:xfrm>
          <a:prstGeom prst="rect">
            <a:avLst/>
          </a:prstGeom>
          <a:solidFill>
            <a:srgbClr val="22D3EE">
              <a:alpha val="14000"/>
            </a:srgbClr>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xagon 18"/>
          <p:cNvSpPr/>
          <p:nvPr/>
        </p:nvSpPr>
        <p:spPr>
          <a:xfrm rot="1800000">
            <a:off x="5303885" y="3109325"/>
            <a:ext cx="273588" cy="273588"/>
          </a:xfrm>
          <a:prstGeom prst="hexagon">
            <a:avLst/>
          </a:prstGeom>
          <a:solidFill>
            <a:srgbClr val="101A2C"/>
          </a:solidFill>
          <a:ln w="15240">
            <a:solidFill>
              <a:srgbClr val="1BA1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4407408"/>
            <a:ext cx="1828800" cy="219456"/>
          </a:xfrm>
          <a:prstGeom prst="rect">
            <a:avLst/>
          </a:prstGeom>
          <a:noFill/>
        </p:spPr>
        <p:txBody>
          <a:bodyPr wrap="square" lIns="0" rIns="0" tIns="0" bIns="0" anchor="t">
            <a:noAutofit/>
          </a:bodyPr>
          <a:lstStyle/>
          <a:p>
            <a:pPr algn="ctr">
              <a:lnSpc>
                <a:spcPct val="110000"/>
              </a:lnSpc>
              <a:spcBef>
                <a:spcPts val="0"/>
              </a:spcBef>
              <a:spcAft>
                <a:spcPts val="0"/>
              </a:spcAft>
            </a:pPr>
            <a:r>
              <a:rPr sz="800" b="1" i="0">
                <a:solidFill>
                  <a:srgbClr val="94A3B8"/>
                </a:solidFill>
                <a:latin typeface="Segoe UI"/>
              </a:rPr>
              <a:t>CROWN  ·  ≈ 600 m</a:t>
            </a:r>
          </a:p>
        </p:txBody>
      </p:sp>
      <p:sp>
        <p:nvSpPr>
          <p:cNvPr id="21" name="Rounded Rectangle 20"/>
          <p:cNvSpPr/>
          <p:nvPr/>
        </p:nvSpPr>
        <p:spPr>
          <a:xfrm>
            <a:off x="6629400" y="1517904"/>
            <a:ext cx="4937760" cy="40416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647688" y="1517904"/>
            <a:ext cx="4901184"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21424" y="1645920"/>
            <a:ext cx="4572000" cy="237744"/>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F59E0B"/>
                </a:solidFill>
                <a:latin typeface="Segoe UI"/>
              </a:rPr>
              <a:t>THE SHAPING MECHANISM</a:t>
            </a:r>
          </a:p>
        </p:txBody>
      </p:sp>
      <p:sp>
        <p:nvSpPr>
          <p:cNvPr id="24" name="TextBox 23"/>
          <p:cNvSpPr txBox="1"/>
          <p:nvPr/>
        </p:nvSpPr>
        <p:spPr>
          <a:xfrm>
            <a:off x="6821424" y="1901952"/>
            <a:ext cx="4572000" cy="914400"/>
          </a:xfrm>
          <a:prstGeom prst="rect">
            <a:avLst/>
          </a:prstGeom>
          <a:noFill/>
        </p:spPr>
        <p:txBody>
          <a:bodyPr wrap="square" lIns="0" rIns="0" tIns="0" bIns="0" anchor="t">
            <a:noAutofit/>
          </a:bodyPr>
          <a:lstStyle/>
          <a:p>
            <a:pPr algn="l">
              <a:lnSpc>
                <a:spcPct val="128000"/>
              </a:lnSpc>
              <a:spcBef>
                <a:spcPts val="0"/>
              </a:spcBef>
              <a:spcAft>
                <a:spcPts val="0"/>
              </a:spcAft>
            </a:pPr>
            <a:r>
              <a:rPr sz="1040" b="0" i="0">
                <a:solidFill>
                  <a:srgbClr val="E8EEF7"/>
                </a:solidFill>
                <a:latin typeface="Segoe UI"/>
              </a:rPr>
              <a:t>Three wings set back in sequence — A, then B, then C, clockwise — so the tower presents a different width, depth and corner geometry at every level.</a:t>
            </a:r>
          </a:p>
        </p:txBody>
      </p:sp>
      <p:sp>
        <p:nvSpPr>
          <p:cNvPr id="25" name="TextBox 24"/>
          <p:cNvSpPr txBox="1"/>
          <p:nvPr/>
        </p:nvSpPr>
        <p:spPr>
          <a:xfrm>
            <a:off x="6821424" y="2944368"/>
            <a:ext cx="365760" cy="274320"/>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F59E0B"/>
                </a:solidFill>
                <a:latin typeface="Segoe UI"/>
              </a:rPr>
              <a:t>01</a:t>
            </a:r>
          </a:p>
        </p:txBody>
      </p:sp>
      <p:sp>
        <p:nvSpPr>
          <p:cNvPr id="26" name="TextBox 25"/>
          <p:cNvSpPr txBox="1"/>
          <p:nvPr/>
        </p:nvSpPr>
        <p:spPr>
          <a:xfrm>
            <a:off x="7223760" y="2926080"/>
            <a:ext cx="4114800" cy="256032"/>
          </a:xfrm>
          <a:prstGeom prst="rect">
            <a:avLst/>
          </a:prstGeom>
          <a:noFill/>
        </p:spPr>
        <p:txBody>
          <a:bodyPr wrap="square" lIns="0" rIns="0" tIns="0" bIns="0" anchor="t">
            <a:noAutofit/>
          </a:bodyPr>
          <a:lstStyle/>
          <a:p>
            <a:pPr algn="l">
              <a:lnSpc>
                <a:spcPct val="110000"/>
              </a:lnSpc>
              <a:spcBef>
                <a:spcPts val="0"/>
              </a:spcBef>
              <a:spcAft>
                <a:spcPts val="0"/>
              </a:spcAft>
            </a:pPr>
            <a:r>
              <a:rPr sz="980" b="1" i="0">
                <a:solidFill>
                  <a:srgbClr val="E8EEF7"/>
                </a:solidFill>
                <a:latin typeface="Segoe UI"/>
              </a:rPr>
              <a:t>No repeating silhouette</a:t>
            </a:r>
          </a:p>
        </p:txBody>
      </p:sp>
      <p:sp>
        <p:nvSpPr>
          <p:cNvPr id="27" name="TextBox 26"/>
          <p:cNvSpPr txBox="1"/>
          <p:nvPr/>
        </p:nvSpPr>
        <p:spPr>
          <a:xfrm>
            <a:off x="7223760" y="3163824"/>
            <a:ext cx="4160520" cy="502920"/>
          </a:xfrm>
          <a:prstGeom prst="rect">
            <a:avLst/>
          </a:prstGeom>
          <a:noFill/>
        </p:spPr>
        <p:txBody>
          <a:bodyPr wrap="square" lIns="0" rIns="0" tIns="0" bIns="0" anchor="t">
            <a:noAutofit/>
          </a:bodyPr>
          <a:lstStyle/>
          <a:p>
            <a:pPr algn="l">
              <a:lnSpc>
                <a:spcPct val="120000"/>
              </a:lnSpc>
              <a:spcBef>
                <a:spcPts val="0"/>
              </a:spcBef>
              <a:spcAft>
                <a:spcPts val="0"/>
              </a:spcAft>
            </a:pPr>
            <a:r>
              <a:rPr sz="819" b="0" i="0">
                <a:solidFill>
                  <a:srgbClr val="94A3B8"/>
                </a:solidFill>
                <a:latin typeface="Segoe UI"/>
              </a:rPr>
              <a:t>The wind never sees the same building twice, so vortices cannot build coherence over height.</a:t>
            </a:r>
          </a:p>
        </p:txBody>
      </p:sp>
      <p:sp>
        <p:nvSpPr>
          <p:cNvPr id="28" name="TextBox 27"/>
          <p:cNvSpPr txBox="1"/>
          <p:nvPr/>
        </p:nvSpPr>
        <p:spPr>
          <a:xfrm>
            <a:off x="6821424" y="3803904"/>
            <a:ext cx="365760" cy="274320"/>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F59E0B"/>
                </a:solidFill>
                <a:latin typeface="Segoe UI"/>
              </a:rPr>
              <a:t>02</a:t>
            </a:r>
          </a:p>
        </p:txBody>
      </p:sp>
      <p:sp>
        <p:nvSpPr>
          <p:cNvPr id="29" name="TextBox 28"/>
          <p:cNvSpPr txBox="1"/>
          <p:nvPr/>
        </p:nvSpPr>
        <p:spPr>
          <a:xfrm>
            <a:off x="7223760" y="3785616"/>
            <a:ext cx="4114800" cy="256032"/>
          </a:xfrm>
          <a:prstGeom prst="rect">
            <a:avLst/>
          </a:prstGeom>
          <a:noFill/>
        </p:spPr>
        <p:txBody>
          <a:bodyPr wrap="square" lIns="0" rIns="0" tIns="0" bIns="0" anchor="t">
            <a:noAutofit/>
          </a:bodyPr>
          <a:lstStyle/>
          <a:p>
            <a:pPr algn="l">
              <a:lnSpc>
                <a:spcPct val="110000"/>
              </a:lnSpc>
              <a:spcBef>
                <a:spcPts val="0"/>
              </a:spcBef>
              <a:spcAft>
                <a:spcPts val="0"/>
              </a:spcAft>
            </a:pPr>
            <a:r>
              <a:rPr sz="980" b="1" i="0">
                <a:solidFill>
                  <a:srgbClr val="E8EEF7"/>
                </a:solidFill>
                <a:latin typeface="Segoe UI"/>
              </a:rPr>
              <a:t>Width steps down</a:t>
            </a:r>
          </a:p>
        </p:txBody>
      </p:sp>
      <p:sp>
        <p:nvSpPr>
          <p:cNvPr id="30" name="TextBox 29"/>
          <p:cNvSpPr txBox="1"/>
          <p:nvPr/>
        </p:nvSpPr>
        <p:spPr>
          <a:xfrm>
            <a:off x="7223760" y="4023360"/>
            <a:ext cx="4160520" cy="502920"/>
          </a:xfrm>
          <a:prstGeom prst="rect">
            <a:avLst/>
          </a:prstGeom>
          <a:noFill/>
        </p:spPr>
        <p:txBody>
          <a:bodyPr wrap="square" lIns="0" rIns="0" tIns="0" bIns="0" anchor="t">
            <a:noAutofit/>
          </a:bodyPr>
          <a:lstStyle/>
          <a:p>
            <a:pPr algn="l">
              <a:lnSpc>
                <a:spcPct val="120000"/>
              </a:lnSpc>
              <a:spcBef>
                <a:spcPts val="0"/>
              </a:spcBef>
              <a:spcAft>
                <a:spcPts val="0"/>
              </a:spcAft>
            </a:pPr>
            <a:r>
              <a:rPr sz="819" b="0" i="0">
                <a:solidFill>
                  <a:srgbClr val="94A3B8"/>
                </a:solidFill>
                <a:latin typeface="Segoe UI"/>
              </a:rPr>
              <a:t>The plan narrows with height, cutting the reference area that generates crosswind force.</a:t>
            </a:r>
          </a:p>
        </p:txBody>
      </p:sp>
      <p:sp>
        <p:nvSpPr>
          <p:cNvPr id="31" name="TextBox 30"/>
          <p:cNvSpPr txBox="1"/>
          <p:nvPr/>
        </p:nvSpPr>
        <p:spPr>
          <a:xfrm>
            <a:off x="6821424" y="4663440"/>
            <a:ext cx="365760" cy="274320"/>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F59E0B"/>
                </a:solidFill>
                <a:latin typeface="Segoe UI"/>
              </a:rPr>
              <a:t>03</a:t>
            </a:r>
          </a:p>
        </p:txBody>
      </p:sp>
      <p:sp>
        <p:nvSpPr>
          <p:cNvPr id="32" name="TextBox 31"/>
          <p:cNvSpPr txBox="1"/>
          <p:nvPr/>
        </p:nvSpPr>
        <p:spPr>
          <a:xfrm>
            <a:off x="7223760" y="4645152"/>
            <a:ext cx="4114800" cy="256032"/>
          </a:xfrm>
          <a:prstGeom prst="rect">
            <a:avLst/>
          </a:prstGeom>
          <a:noFill/>
        </p:spPr>
        <p:txBody>
          <a:bodyPr wrap="square" lIns="0" rIns="0" tIns="0" bIns="0" anchor="t">
            <a:noAutofit/>
          </a:bodyPr>
          <a:lstStyle/>
          <a:p>
            <a:pPr algn="l">
              <a:lnSpc>
                <a:spcPct val="110000"/>
              </a:lnSpc>
              <a:spcBef>
                <a:spcPts val="0"/>
              </a:spcBef>
              <a:spcAft>
                <a:spcPts val="0"/>
              </a:spcAft>
            </a:pPr>
            <a:r>
              <a:rPr sz="980" b="1" i="0">
                <a:solidFill>
                  <a:srgbClr val="E8EEF7"/>
                </a:solidFill>
                <a:latin typeface="Segoe UI"/>
              </a:rPr>
              <a:t>Mass follows the moment</a:t>
            </a:r>
          </a:p>
        </p:txBody>
      </p:sp>
      <p:sp>
        <p:nvSpPr>
          <p:cNvPr id="33" name="TextBox 32"/>
          <p:cNvSpPr txBox="1"/>
          <p:nvPr/>
        </p:nvSpPr>
        <p:spPr>
          <a:xfrm>
            <a:off x="7223760" y="4882896"/>
            <a:ext cx="4160520" cy="502920"/>
          </a:xfrm>
          <a:prstGeom prst="rect">
            <a:avLst/>
          </a:prstGeom>
          <a:noFill/>
        </p:spPr>
        <p:txBody>
          <a:bodyPr wrap="square" lIns="0" rIns="0" tIns="0" bIns="0" anchor="t">
            <a:noAutofit/>
          </a:bodyPr>
          <a:lstStyle/>
          <a:p>
            <a:pPr algn="l">
              <a:lnSpc>
                <a:spcPct val="120000"/>
              </a:lnSpc>
              <a:spcBef>
                <a:spcPts val="0"/>
              </a:spcBef>
              <a:spcAft>
                <a:spcPts val="0"/>
              </a:spcAft>
            </a:pPr>
            <a:r>
              <a:rPr sz="819" b="0" i="0">
                <a:solidFill>
                  <a:srgbClr val="94A3B8"/>
                </a:solidFill>
                <a:latin typeface="Segoe UI"/>
              </a:rPr>
              <a:t>Setbacks remove concrete where bending demand is lowest — structure and aerodynamics agree.</a:t>
            </a:r>
          </a:p>
        </p:txBody>
      </p:sp>
      <p:sp>
        <p:nvSpPr>
          <p:cNvPr id="34" name="TextBox 33"/>
          <p:cNvSpPr txBox="1"/>
          <p:nvPr/>
        </p:nvSpPr>
        <p:spPr>
          <a:xfrm>
            <a:off x="640080" y="5138928"/>
            <a:ext cx="5715000" cy="502920"/>
          </a:xfrm>
          <a:prstGeom prst="rect">
            <a:avLst/>
          </a:prstGeom>
          <a:noFill/>
        </p:spPr>
        <p:txBody>
          <a:bodyPr wrap="square" lIns="0" rIns="0" tIns="0" bIns="0" anchor="t">
            <a:noAutofit/>
          </a:bodyPr>
          <a:lstStyle/>
          <a:p>
            <a:pPr algn="l">
              <a:lnSpc>
                <a:spcPct val="120000"/>
              </a:lnSpc>
              <a:spcBef>
                <a:spcPts val="0"/>
              </a:spcBef>
              <a:spcAft>
                <a:spcPts val="0"/>
              </a:spcAft>
            </a:pPr>
            <a:r>
              <a:rPr sz="840" b="0" i="0">
                <a:solidFill>
                  <a:srgbClr val="94A3B8"/>
                </a:solidFill>
                <a:latin typeface="Segoe UI"/>
              </a:rPr>
              <a:t>The setbacks are aligned to the structural grid: columns above land on walls below, so the shape changes without column transfers.</a:t>
            </a:r>
          </a:p>
        </p:txBody>
      </p:sp>
      <p:sp>
        <p:nvSpPr>
          <p:cNvPr id="35" name="TextBox 34"/>
          <p:cNvSpPr txBox="1"/>
          <p:nvPr/>
        </p:nvSpPr>
        <p:spPr>
          <a:xfrm>
            <a:off x="640080" y="587044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27 setbacks: SOM and Wikipedia. Wing setback sequence A→B→C and differing plan at each tier: Irwin (CTBUH 2005). Plans are schematic, not construction drawings.</a:t>
            </a:r>
          </a:p>
        </p:txBody>
      </p:sp>
      <p:cxnSp>
        <p:nvCxnSpPr>
          <p:cNvPr id="36" name="Connector 35"/>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38" name="TextBox 37"/>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F59E0B"/>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60A5FA"/>
                </a:solidFill>
                <a:latin typeface="Segoe UI"/>
              </a:rPr>
              <a:t>TEST PROGRAMME</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Forty-plus tunnel tests, four families of model</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06 / 20</a:t>
            </a:r>
          </a:p>
        </p:txBody>
      </p:sp>
      <p:sp>
        <p:nvSpPr>
          <p:cNvPr id="5" name="Rounded Rectangle 4"/>
          <p:cNvSpPr/>
          <p:nvPr/>
        </p:nvSpPr>
        <p:spPr>
          <a:xfrm>
            <a:off x="640080" y="1463040"/>
            <a:ext cx="6949440" cy="358444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72768"/>
            <a:ext cx="402336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TEST MATRIX  ·  INDICATIVE SEQUENCE</a:t>
            </a:r>
          </a:p>
        </p:txBody>
      </p:sp>
      <p:sp>
        <p:nvSpPr>
          <p:cNvPr id="7" name="TextBox 6"/>
          <p:cNvSpPr txBox="1"/>
          <p:nvPr/>
        </p:nvSpPr>
        <p:spPr>
          <a:xfrm>
            <a:off x="2834640" y="1828800"/>
            <a:ext cx="1152144" cy="201168"/>
          </a:xfrm>
          <a:prstGeom prst="rect">
            <a:avLst/>
          </a:prstGeom>
          <a:noFill/>
        </p:spPr>
        <p:txBody>
          <a:bodyPr wrap="square" lIns="0" rIns="0" tIns="0" bIns="0" anchor="t">
            <a:noAutofit/>
          </a:bodyPr>
          <a:lstStyle/>
          <a:p>
            <a:pPr algn="ctr">
              <a:lnSpc>
                <a:spcPct val="110000"/>
              </a:lnSpc>
              <a:spcBef>
                <a:spcPts val="0"/>
              </a:spcBef>
              <a:spcAft>
                <a:spcPts val="0"/>
              </a:spcAft>
            </a:pPr>
            <a:r>
              <a:rPr sz="680" b="1" i="0">
                <a:solidFill>
                  <a:srgbClr val="64748B"/>
                </a:solidFill>
                <a:latin typeface="Segoe UI"/>
              </a:rPr>
              <a:t>CONCEPT</a:t>
            </a:r>
          </a:p>
        </p:txBody>
      </p:sp>
      <p:sp>
        <p:nvSpPr>
          <p:cNvPr id="8" name="TextBox 7"/>
          <p:cNvSpPr txBox="1"/>
          <p:nvPr/>
        </p:nvSpPr>
        <p:spPr>
          <a:xfrm>
            <a:off x="3986784" y="1828800"/>
            <a:ext cx="1152144" cy="201168"/>
          </a:xfrm>
          <a:prstGeom prst="rect">
            <a:avLst/>
          </a:prstGeom>
          <a:noFill/>
        </p:spPr>
        <p:txBody>
          <a:bodyPr wrap="square" lIns="0" rIns="0" tIns="0" bIns="0" anchor="t">
            <a:noAutofit/>
          </a:bodyPr>
          <a:lstStyle/>
          <a:p>
            <a:pPr algn="ctr">
              <a:lnSpc>
                <a:spcPct val="110000"/>
              </a:lnSpc>
              <a:spcBef>
                <a:spcPts val="0"/>
              </a:spcBef>
              <a:spcAft>
                <a:spcPts val="0"/>
              </a:spcAft>
            </a:pPr>
            <a:r>
              <a:rPr sz="680" b="1" i="0">
                <a:solidFill>
                  <a:srgbClr val="64748B"/>
                </a:solidFill>
                <a:latin typeface="Segoe UI"/>
              </a:rPr>
              <a:t>MASSING</a:t>
            </a:r>
          </a:p>
        </p:txBody>
      </p:sp>
      <p:sp>
        <p:nvSpPr>
          <p:cNvPr id="9" name="TextBox 8"/>
          <p:cNvSpPr txBox="1"/>
          <p:nvPr/>
        </p:nvSpPr>
        <p:spPr>
          <a:xfrm>
            <a:off x="5138928" y="1828800"/>
            <a:ext cx="1152144" cy="201168"/>
          </a:xfrm>
          <a:prstGeom prst="rect">
            <a:avLst/>
          </a:prstGeom>
          <a:noFill/>
        </p:spPr>
        <p:txBody>
          <a:bodyPr wrap="square" lIns="0" rIns="0" tIns="0" bIns="0" anchor="t">
            <a:noAutofit/>
          </a:bodyPr>
          <a:lstStyle/>
          <a:p>
            <a:pPr algn="ctr">
              <a:lnSpc>
                <a:spcPct val="110000"/>
              </a:lnSpc>
              <a:spcBef>
                <a:spcPts val="0"/>
              </a:spcBef>
              <a:spcAft>
                <a:spcPts val="0"/>
              </a:spcAft>
            </a:pPr>
            <a:r>
              <a:rPr sz="680" b="1" i="0">
                <a:solidFill>
                  <a:srgbClr val="64748B"/>
                </a:solidFill>
                <a:latin typeface="Segoe UI"/>
              </a:rPr>
              <a:t>FINAL</a:t>
            </a:r>
          </a:p>
        </p:txBody>
      </p:sp>
      <p:sp>
        <p:nvSpPr>
          <p:cNvPr id="10" name="TextBox 9"/>
          <p:cNvSpPr txBox="1"/>
          <p:nvPr/>
        </p:nvSpPr>
        <p:spPr>
          <a:xfrm>
            <a:off x="6291072" y="1828800"/>
            <a:ext cx="1152144" cy="201168"/>
          </a:xfrm>
          <a:prstGeom prst="rect">
            <a:avLst/>
          </a:prstGeom>
          <a:noFill/>
        </p:spPr>
        <p:txBody>
          <a:bodyPr wrap="square" lIns="0" rIns="0" tIns="0" bIns="0" anchor="t">
            <a:noAutofit/>
          </a:bodyPr>
          <a:lstStyle/>
          <a:p>
            <a:pPr algn="ctr">
              <a:lnSpc>
                <a:spcPct val="110000"/>
              </a:lnSpc>
              <a:spcBef>
                <a:spcPts val="0"/>
              </a:spcBef>
              <a:spcAft>
                <a:spcPts val="0"/>
              </a:spcAft>
            </a:pPr>
            <a:r>
              <a:rPr sz="680" b="1" i="0">
                <a:solidFill>
                  <a:srgbClr val="64748B"/>
                </a:solidFill>
                <a:latin typeface="Segoe UI"/>
              </a:rPr>
              <a:t>VERIFY</a:t>
            </a:r>
          </a:p>
        </p:txBody>
      </p:sp>
      <p:cxnSp>
        <p:nvCxnSpPr>
          <p:cNvPr id="11" name="Connector 10"/>
          <p:cNvCxnSpPr/>
          <p:nvPr/>
        </p:nvCxnSpPr>
        <p:spPr>
          <a:xfrm>
            <a:off x="822959" y="2103120"/>
            <a:ext cx="6537961"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41247" y="2231136"/>
            <a:ext cx="1828800" cy="237744"/>
          </a:xfrm>
          <a:prstGeom prst="rect">
            <a:avLst/>
          </a:prstGeom>
          <a:noFill/>
        </p:spPr>
        <p:txBody>
          <a:bodyPr wrap="square" lIns="0" rIns="0" tIns="0" bIns="0" anchor="t">
            <a:noAutofit/>
          </a:bodyPr>
          <a:lstStyle/>
          <a:p>
            <a:pPr algn="l">
              <a:lnSpc>
                <a:spcPct val="110000"/>
              </a:lnSpc>
              <a:spcBef>
                <a:spcPts val="0"/>
              </a:spcBef>
              <a:spcAft>
                <a:spcPts val="0"/>
              </a:spcAft>
            </a:pPr>
            <a:r>
              <a:rPr sz="940" b="1" i="0">
                <a:solidFill>
                  <a:srgbClr val="E8EEF7"/>
                </a:solidFill>
                <a:latin typeface="Segoe UI"/>
              </a:rPr>
              <a:t>Aeroelastic</a:t>
            </a:r>
          </a:p>
        </p:txBody>
      </p:sp>
      <p:sp>
        <p:nvSpPr>
          <p:cNvPr id="13" name="TextBox 12"/>
          <p:cNvSpPr txBox="1"/>
          <p:nvPr/>
        </p:nvSpPr>
        <p:spPr>
          <a:xfrm>
            <a:off x="841247" y="2450591"/>
            <a:ext cx="1920240" cy="201168"/>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1:500 · dynamics</a:t>
            </a:r>
          </a:p>
        </p:txBody>
      </p:sp>
      <p:sp>
        <p:nvSpPr>
          <p:cNvPr id="14" name="Oval 13"/>
          <p:cNvSpPr/>
          <p:nvPr/>
        </p:nvSpPr>
        <p:spPr>
          <a:xfrm>
            <a:off x="3314700" y="2336291"/>
            <a:ext cx="192024" cy="192024"/>
          </a:xfrm>
          <a:prstGeom prst="ellipse">
            <a:avLst/>
          </a:prstGeom>
          <a:solidFill>
            <a:srgbClr val="60A5FA">
              <a:alpha val="5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25696" y="2295144"/>
            <a:ext cx="274320" cy="274320"/>
          </a:xfrm>
          <a:prstGeom prst="ellipse">
            <a:avLst/>
          </a:prstGeom>
          <a:solidFill>
            <a:srgbClr val="60A5FA">
              <a:alpha val="7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36692" y="2253996"/>
            <a:ext cx="356616" cy="356616"/>
          </a:xfrm>
          <a:prstGeom prst="ellipse">
            <a:avLst/>
          </a:prstGeom>
          <a:solidFill>
            <a:srgbClr val="22D3EE">
              <a:alpha val="95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29984" y="2295144"/>
            <a:ext cx="274320" cy="274320"/>
          </a:xfrm>
          <a:prstGeom prst="ellipse">
            <a:avLst/>
          </a:prstGeom>
          <a:solidFill>
            <a:srgbClr val="60A5FA">
              <a:alpha val="7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822959" y="2779776"/>
            <a:ext cx="6537961"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1247" y="2907792"/>
            <a:ext cx="1828800" cy="237744"/>
          </a:xfrm>
          <a:prstGeom prst="rect">
            <a:avLst/>
          </a:prstGeom>
          <a:noFill/>
        </p:spPr>
        <p:txBody>
          <a:bodyPr wrap="square" lIns="0" rIns="0" tIns="0" bIns="0" anchor="t">
            <a:noAutofit/>
          </a:bodyPr>
          <a:lstStyle/>
          <a:p>
            <a:pPr algn="l">
              <a:lnSpc>
                <a:spcPct val="110000"/>
              </a:lnSpc>
              <a:spcBef>
                <a:spcPts val="0"/>
              </a:spcBef>
              <a:spcAft>
                <a:spcPts val="0"/>
              </a:spcAft>
            </a:pPr>
            <a:r>
              <a:rPr sz="940" b="1" i="0">
                <a:solidFill>
                  <a:srgbClr val="E8EEF7"/>
                </a:solidFill>
                <a:latin typeface="Segoe UI"/>
              </a:rPr>
              <a:t>High-Re</a:t>
            </a:r>
          </a:p>
        </p:txBody>
      </p:sp>
      <p:sp>
        <p:nvSpPr>
          <p:cNvPr id="20" name="TextBox 19"/>
          <p:cNvSpPr txBox="1"/>
          <p:nvPr/>
        </p:nvSpPr>
        <p:spPr>
          <a:xfrm>
            <a:off x="841247" y="3127248"/>
            <a:ext cx="1920240" cy="201168"/>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1:50 · sections</a:t>
            </a:r>
          </a:p>
        </p:txBody>
      </p:sp>
      <p:sp>
        <p:nvSpPr>
          <p:cNvPr id="21" name="Oval 20"/>
          <p:cNvSpPr/>
          <p:nvPr/>
        </p:nvSpPr>
        <p:spPr>
          <a:xfrm>
            <a:off x="4466844" y="3012948"/>
            <a:ext cx="192024" cy="192024"/>
          </a:xfrm>
          <a:prstGeom prst="ellipse">
            <a:avLst/>
          </a:prstGeom>
          <a:solidFill>
            <a:srgbClr val="60A5FA">
              <a:alpha val="5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77840" y="2971800"/>
            <a:ext cx="274320" cy="274320"/>
          </a:xfrm>
          <a:prstGeom prst="ellipse">
            <a:avLst/>
          </a:prstGeom>
          <a:solidFill>
            <a:srgbClr val="60A5FA">
              <a:alpha val="7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88836" y="2930652"/>
            <a:ext cx="356616" cy="356616"/>
          </a:xfrm>
          <a:prstGeom prst="ellipse">
            <a:avLst/>
          </a:prstGeom>
          <a:solidFill>
            <a:srgbClr val="22D3EE">
              <a:alpha val="95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22959" y="3456432"/>
            <a:ext cx="6537961"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41247" y="3584448"/>
            <a:ext cx="1828800" cy="237744"/>
          </a:xfrm>
          <a:prstGeom prst="rect">
            <a:avLst/>
          </a:prstGeom>
          <a:noFill/>
        </p:spPr>
        <p:txBody>
          <a:bodyPr wrap="square" lIns="0" rIns="0" tIns="0" bIns="0" anchor="t">
            <a:noAutofit/>
          </a:bodyPr>
          <a:lstStyle/>
          <a:p>
            <a:pPr algn="l">
              <a:lnSpc>
                <a:spcPct val="110000"/>
              </a:lnSpc>
              <a:spcBef>
                <a:spcPts val="0"/>
              </a:spcBef>
              <a:spcAft>
                <a:spcPts val="0"/>
              </a:spcAft>
            </a:pPr>
            <a:r>
              <a:rPr sz="940" b="1" i="0">
                <a:solidFill>
                  <a:srgbClr val="E8EEF7"/>
                </a:solidFill>
                <a:latin typeface="Segoe UI"/>
              </a:rPr>
              <a:t>Cladding</a:t>
            </a:r>
          </a:p>
        </p:txBody>
      </p:sp>
      <p:sp>
        <p:nvSpPr>
          <p:cNvPr id="26" name="TextBox 25"/>
          <p:cNvSpPr txBox="1"/>
          <p:nvPr/>
        </p:nvSpPr>
        <p:spPr>
          <a:xfrm>
            <a:off x="841247" y="3803904"/>
            <a:ext cx="1920240" cy="201168"/>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pressure taps</a:t>
            </a:r>
          </a:p>
        </p:txBody>
      </p:sp>
      <p:sp>
        <p:nvSpPr>
          <p:cNvPr id="27" name="Oval 26"/>
          <p:cNvSpPr/>
          <p:nvPr/>
        </p:nvSpPr>
        <p:spPr>
          <a:xfrm>
            <a:off x="4466844" y="3689604"/>
            <a:ext cx="192024" cy="192024"/>
          </a:xfrm>
          <a:prstGeom prst="ellipse">
            <a:avLst/>
          </a:prstGeom>
          <a:solidFill>
            <a:srgbClr val="60A5FA">
              <a:alpha val="5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36692" y="3607308"/>
            <a:ext cx="356616" cy="356616"/>
          </a:xfrm>
          <a:prstGeom prst="ellipse">
            <a:avLst/>
          </a:prstGeom>
          <a:solidFill>
            <a:srgbClr val="22D3EE">
              <a:alpha val="95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29984" y="3648456"/>
            <a:ext cx="274320" cy="274320"/>
          </a:xfrm>
          <a:prstGeom prst="ellipse">
            <a:avLst/>
          </a:prstGeom>
          <a:solidFill>
            <a:srgbClr val="60A5FA">
              <a:alpha val="7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22959" y="4133088"/>
            <a:ext cx="6537961"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7" y="4261104"/>
            <a:ext cx="1828800" cy="237744"/>
          </a:xfrm>
          <a:prstGeom prst="rect">
            <a:avLst/>
          </a:prstGeom>
          <a:noFill/>
        </p:spPr>
        <p:txBody>
          <a:bodyPr wrap="square" lIns="0" rIns="0" tIns="0" bIns="0" anchor="t">
            <a:noAutofit/>
          </a:bodyPr>
          <a:lstStyle/>
          <a:p>
            <a:pPr algn="l">
              <a:lnSpc>
                <a:spcPct val="110000"/>
              </a:lnSpc>
              <a:spcBef>
                <a:spcPts val="0"/>
              </a:spcBef>
              <a:spcAft>
                <a:spcPts val="0"/>
              </a:spcAft>
            </a:pPr>
            <a:r>
              <a:rPr sz="940" b="1" i="0">
                <a:solidFill>
                  <a:srgbClr val="E8EEF7"/>
                </a:solidFill>
                <a:latin typeface="Segoe UI"/>
              </a:rPr>
              <a:t>HFFB</a:t>
            </a:r>
          </a:p>
        </p:txBody>
      </p:sp>
      <p:sp>
        <p:nvSpPr>
          <p:cNvPr id="32" name="TextBox 31"/>
          <p:cNvSpPr txBox="1"/>
          <p:nvPr/>
        </p:nvSpPr>
        <p:spPr>
          <a:xfrm>
            <a:off x="841247" y="4480560"/>
            <a:ext cx="1920240" cy="201168"/>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rigid · base force</a:t>
            </a:r>
          </a:p>
        </p:txBody>
      </p:sp>
      <p:sp>
        <p:nvSpPr>
          <p:cNvPr id="33" name="Oval 32"/>
          <p:cNvSpPr/>
          <p:nvPr/>
        </p:nvSpPr>
        <p:spPr>
          <a:xfrm>
            <a:off x="3314700" y="4366260"/>
            <a:ext cx="192024" cy="192024"/>
          </a:xfrm>
          <a:prstGeom prst="ellipse">
            <a:avLst/>
          </a:prstGeom>
          <a:solidFill>
            <a:srgbClr val="60A5FA">
              <a:alpha val="5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384548" y="4283964"/>
            <a:ext cx="356616" cy="356616"/>
          </a:xfrm>
          <a:prstGeom prst="ellipse">
            <a:avLst/>
          </a:prstGeom>
          <a:solidFill>
            <a:srgbClr val="22D3EE">
              <a:alpha val="95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577840" y="4325112"/>
            <a:ext cx="274320" cy="274320"/>
          </a:xfrm>
          <a:prstGeom prst="ellipse">
            <a:avLst/>
          </a:prstGeom>
          <a:solidFill>
            <a:srgbClr val="60A5FA">
              <a:alpha val="7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71132" y="4366260"/>
            <a:ext cx="192024" cy="192024"/>
          </a:xfrm>
          <a:prstGeom prst="ellipse">
            <a:avLst/>
          </a:prstGeom>
          <a:solidFill>
            <a:srgbClr val="60A5FA">
              <a:alpha val="55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22959" y="4809744"/>
            <a:ext cx="6537961"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41247" y="4882896"/>
            <a:ext cx="6766560" cy="201168"/>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64748B"/>
                </a:solidFill>
                <a:latin typeface="Segoe UI"/>
              </a:rPr>
              <a:t>Dot size = relative weight of that model in each phase. Counts and sequencing are indicative.</a:t>
            </a:r>
          </a:p>
        </p:txBody>
      </p:sp>
      <p:sp>
        <p:nvSpPr>
          <p:cNvPr id="39" name="Rounded Rectangle 38"/>
          <p:cNvSpPr/>
          <p:nvPr/>
        </p:nvSpPr>
        <p:spPr>
          <a:xfrm>
            <a:off x="7772400" y="1463040"/>
            <a:ext cx="3776472" cy="2048256"/>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36992" y="1572768"/>
            <a:ext cx="34747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0A5FA"/>
                </a:solidFill>
                <a:latin typeface="Segoe UI"/>
              </a:rPr>
              <a:t>RWDI BOUNDARY-LAYER TUNNELS</a:t>
            </a:r>
          </a:p>
        </p:txBody>
      </p:sp>
      <p:sp>
        <p:nvSpPr>
          <p:cNvPr id="41" name="TextBox 40"/>
          <p:cNvSpPr txBox="1"/>
          <p:nvPr/>
        </p:nvSpPr>
        <p:spPr>
          <a:xfrm>
            <a:off x="7936992" y="1847088"/>
            <a:ext cx="3474720" cy="237744"/>
          </a:xfrm>
          <a:prstGeom prst="rect">
            <a:avLst/>
          </a:prstGeom>
          <a:noFill/>
        </p:spPr>
        <p:txBody>
          <a:bodyPr wrap="square" lIns="0" rIns="0" tIns="0" bIns="0" anchor="t">
            <a:noAutofit/>
          </a:bodyPr>
          <a:lstStyle/>
          <a:p>
            <a:pPr algn="l">
              <a:lnSpc>
                <a:spcPct val="110000"/>
              </a:lnSpc>
              <a:spcBef>
                <a:spcPts val="0"/>
              </a:spcBef>
              <a:spcAft>
                <a:spcPts val="0"/>
              </a:spcAft>
            </a:pPr>
            <a:r>
              <a:rPr sz="1250" b="1" i="0">
                <a:solidFill>
                  <a:srgbClr val="E8EEF7"/>
                </a:solidFill>
                <a:latin typeface="Segoe UI Semibold"/>
              </a:rPr>
              <a:t>2.4 × 1.9 m</a:t>
            </a:r>
          </a:p>
        </p:txBody>
      </p:sp>
      <p:sp>
        <p:nvSpPr>
          <p:cNvPr id="42" name="TextBox 41"/>
          <p:cNvSpPr txBox="1"/>
          <p:nvPr/>
        </p:nvSpPr>
        <p:spPr>
          <a:xfrm>
            <a:off x="7936992" y="2084832"/>
            <a:ext cx="347472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aeroelastic &amp; cladding</a:t>
            </a:r>
          </a:p>
        </p:txBody>
      </p:sp>
      <p:sp>
        <p:nvSpPr>
          <p:cNvPr id="43" name="TextBox 42"/>
          <p:cNvSpPr txBox="1"/>
          <p:nvPr/>
        </p:nvSpPr>
        <p:spPr>
          <a:xfrm>
            <a:off x="7936992" y="2359152"/>
            <a:ext cx="3474720" cy="237744"/>
          </a:xfrm>
          <a:prstGeom prst="rect">
            <a:avLst/>
          </a:prstGeom>
          <a:noFill/>
        </p:spPr>
        <p:txBody>
          <a:bodyPr wrap="square" lIns="0" rIns="0" tIns="0" bIns="0" anchor="t">
            <a:noAutofit/>
          </a:bodyPr>
          <a:lstStyle/>
          <a:p>
            <a:pPr algn="l">
              <a:lnSpc>
                <a:spcPct val="110000"/>
              </a:lnSpc>
              <a:spcBef>
                <a:spcPts val="0"/>
              </a:spcBef>
              <a:spcAft>
                <a:spcPts val="0"/>
              </a:spcAft>
            </a:pPr>
            <a:r>
              <a:rPr sz="1250" b="1" i="0">
                <a:solidFill>
                  <a:srgbClr val="E8EEF7"/>
                </a:solidFill>
                <a:latin typeface="Segoe UI Semibold"/>
              </a:rPr>
              <a:t>4.9 × 2.4 m</a:t>
            </a:r>
          </a:p>
        </p:txBody>
      </p:sp>
      <p:sp>
        <p:nvSpPr>
          <p:cNvPr id="44" name="TextBox 43"/>
          <p:cNvSpPr txBox="1"/>
          <p:nvPr/>
        </p:nvSpPr>
        <p:spPr>
          <a:xfrm>
            <a:off x="7936992" y="2596896"/>
            <a:ext cx="347472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high-Reynolds sections</a:t>
            </a:r>
          </a:p>
        </p:txBody>
      </p:sp>
      <p:sp>
        <p:nvSpPr>
          <p:cNvPr id="45" name="TextBox 44"/>
          <p:cNvSpPr txBox="1"/>
          <p:nvPr/>
        </p:nvSpPr>
        <p:spPr>
          <a:xfrm>
            <a:off x="7936992" y="2871216"/>
            <a:ext cx="3474720" cy="237744"/>
          </a:xfrm>
          <a:prstGeom prst="rect">
            <a:avLst/>
          </a:prstGeom>
          <a:noFill/>
        </p:spPr>
        <p:txBody>
          <a:bodyPr wrap="square" lIns="0" rIns="0" tIns="0" bIns="0" anchor="t">
            <a:noAutofit/>
          </a:bodyPr>
          <a:lstStyle/>
          <a:p>
            <a:pPr algn="l">
              <a:lnSpc>
                <a:spcPct val="110000"/>
              </a:lnSpc>
              <a:spcBef>
                <a:spcPts val="0"/>
              </a:spcBef>
              <a:spcAft>
                <a:spcPts val="0"/>
              </a:spcAft>
            </a:pPr>
            <a:r>
              <a:rPr sz="1250" b="1" i="0">
                <a:solidFill>
                  <a:srgbClr val="E8EEF7"/>
                </a:solidFill>
                <a:latin typeface="Segoe UI Semibold"/>
              </a:rPr>
              <a:t>55 m/s</a:t>
            </a:r>
          </a:p>
        </p:txBody>
      </p:sp>
      <p:sp>
        <p:nvSpPr>
          <p:cNvPr id="46" name="TextBox 45"/>
          <p:cNvSpPr txBox="1"/>
          <p:nvPr/>
        </p:nvSpPr>
        <p:spPr>
          <a:xfrm>
            <a:off x="7936992" y="3108960"/>
            <a:ext cx="347472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achievable test speed</a:t>
            </a:r>
          </a:p>
        </p:txBody>
      </p:sp>
      <p:sp>
        <p:nvSpPr>
          <p:cNvPr id="47" name="Rounded Rectangle 46"/>
          <p:cNvSpPr/>
          <p:nvPr/>
        </p:nvSpPr>
        <p:spPr>
          <a:xfrm>
            <a:off x="7772400" y="3639312"/>
            <a:ext cx="3776472" cy="1408176"/>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36992" y="3749039"/>
            <a:ext cx="34747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0A5FA"/>
                </a:solidFill>
                <a:latin typeface="Segoe UI"/>
              </a:rPr>
              <a:t>PROGRAMME SCALE</a:t>
            </a:r>
          </a:p>
        </p:txBody>
      </p:sp>
      <p:sp>
        <p:nvSpPr>
          <p:cNvPr id="49" name="TextBox 48"/>
          <p:cNvSpPr txBox="1"/>
          <p:nvPr/>
        </p:nvSpPr>
        <p:spPr>
          <a:xfrm>
            <a:off x="7936992" y="4023360"/>
            <a:ext cx="1097280" cy="384048"/>
          </a:xfrm>
          <a:prstGeom prst="rect">
            <a:avLst/>
          </a:prstGeom>
          <a:noFill/>
        </p:spPr>
        <p:txBody>
          <a:bodyPr wrap="square" lIns="0" rIns="0" tIns="0" bIns="0" anchor="t">
            <a:noAutofit/>
          </a:bodyPr>
          <a:lstStyle/>
          <a:p>
            <a:pPr algn="l">
              <a:lnSpc>
                <a:spcPct val="110000"/>
              </a:lnSpc>
              <a:spcBef>
                <a:spcPts val="0"/>
              </a:spcBef>
              <a:spcAft>
                <a:spcPts val="0"/>
              </a:spcAft>
            </a:pPr>
            <a:r>
              <a:rPr sz="2100" b="1" i="0">
                <a:solidFill>
                  <a:srgbClr val="22D3EE"/>
                </a:solidFill>
                <a:latin typeface="Segoe UI Semibold"/>
              </a:rPr>
              <a:t>40+</a:t>
            </a:r>
          </a:p>
        </p:txBody>
      </p:sp>
      <p:sp>
        <p:nvSpPr>
          <p:cNvPr id="50" name="TextBox 49"/>
          <p:cNvSpPr txBox="1"/>
          <p:nvPr/>
        </p:nvSpPr>
        <p:spPr>
          <a:xfrm>
            <a:off x="7936992" y="4443984"/>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64748B"/>
                </a:solidFill>
                <a:latin typeface="Segoe UI"/>
              </a:rPr>
              <a:t>TESTS</a:t>
            </a:r>
          </a:p>
        </p:txBody>
      </p:sp>
      <p:sp>
        <p:nvSpPr>
          <p:cNvPr id="51" name="TextBox 50"/>
          <p:cNvSpPr txBox="1"/>
          <p:nvPr/>
        </p:nvSpPr>
        <p:spPr>
          <a:xfrm>
            <a:off x="9125712" y="4023360"/>
            <a:ext cx="1097280" cy="384048"/>
          </a:xfrm>
          <a:prstGeom prst="rect">
            <a:avLst/>
          </a:prstGeom>
          <a:noFill/>
        </p:spPr>
        <p:txBody>
          <a:bodyPr wrap="square" lIns="0" rIns="0" tIns="0" bIns="0" anchor="t">
            <a:noAutofit/>
          </a:bodyPr>
          <a:lstStyle/>
          <a:p>
            <a:pPr algn="l">
              <a:lnSpc>
                <a:spcPct val="110000"/>
              </a:lnSpc>
              <a:spcBef>
                <a:spcPts val="0"/>
              </a:spcBef>
              <a:spcAft>
                <a:spcPts val="0"/>
              </a:spcAft>
            </a:pPr>
            <a:r>
              <a:rPr sz="2100" b="1" i="0">
                <a:solidFill>
                  <a:srgbClr val="22D3EE"/>
                </a:solidFill>
                <a:latin typeface="Segoe UI Semibold"/>
              </a:rPr>
              <a:t>2</a:t>
            </a:r>
          </a:p>
        </p:txBody>
      </p:sp>
      <p:sp>
        <p:nvSpPr>
          <p:cNvPr id="52" name="TextBox 51"/>
          <p:cNvSpPr txBox="1"/>
          <p:nvPr/>
        </p:nvSpPr>
        <p:spPr>
          <a:xfrm>
            <a:off x="9125712" y="4443984"/>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64748B"/>
                </a:solidFill>
                <a:latin typeface="Segoe UI"/>
              </a:rPr>
              <a:t>SCALES</a:t>
            </a:r>
          </a:p>
        </p:txBody>
      </p:sp>
      <p:sp>
        <p:nvSpPr>
          <p:cNvPr id="53" name="TextBox 52"/>
          <p:cNvSpPr txBox="1"/>
          <p:nvPr/>
        </p:nvSpPr>
        <p:spPr>
          <a:xfrm>
            <a:off x="10314432" y="4023360"/>
            <a:ext cx="1097280" cy="384048"/>
          </a:xfrm>
          <a:prstGeom prst="rect">
            <a:avLst/>
          </a:prstGeom>
          <a:noFill/>
        </p:spPr>
        <p:txBody>
          <a:bodyPr wrap="square" lIns="0" rIns="0" tIns="0" bIns="0" anchor="t">
            <a:noAutofit/>
          </a:bodyPr>
          <a:lstStyle/>
          <a:p>
            <a:pPr algn="l">
              <a:lnSpc>
                <a:spcPct val="110000"/>
              </a:lnSpc>
              <a:spcBef>
                <a:spcPts val="0"/>
              </a:spcBef>
              <a:spcAft>
                <a:spcPts val="0"/>
              </a:spcAft>
            </a:pPr>
            <a:r>
              <a:rPr sz="2100" b="1" i="0">
                <a:solidFill>
                  <a:srgbClr val="22D3EE"/>
                </a:solidFill>
                <a:latin typeface="Segoe UI Semibold"/>
              </a:rPr>
              <a:t>3</a:t>
            </a:r>
          </a:p>
        </p:txBody>
      </p:sp>
      <p:sp>
        <p:nvSpPr>
          <p:cNvPr id="54" name="TextBox 53"/>
          <p:cNvSpPr txBox="1"/>
          <p:nvPr/>
        </p:nvSpPr>
        <p:spPr>
          <a:xfrm>
            <a:off x="10314432" y="4443984"/>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64748B"/>
                </a:solidFill>
                <a:latin typeface="Segoe UI"/>
              </a:rPr>
              <a:t>OUTPUTS</a:t>
            </a:r>
          </a:p>
        </p:txBody>
      </p:sp>
      <p:sp>
        <p:nvSpPr>
          <p:cNvPr id="55" name="TextBox 54"/>
          <p:cNvSpPr txBox="1"/>
          <p:nvPr/>
        </p:nvSpPr>
        <p:spPr>
          <a:xfrm>
            <a:off x="7936992" y="4700016"/>
            <a:ext cx="3474720" cy="219456"/>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Concept → construction, iterated with SOM.</a:t>
            </a:r>
          </a:p>
        </p:txBody>
      </p:sp>
      <p:sp>
        <p:nvSpPr>
          <p:cNvPr id="56" name="Rounded Rectangle 55"/>
          <p:cNvSpPr/>
          <p:nvPr/>
        </p:nvSpPr>
        <p:spPr>
          <a:xfrm>
            <a:off x="640080" y="5175504"/>
            <a:ext cx="3602736" cy="73152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6384" y="5230368"/>
            <a:ext cx="274320" cy="182880"/>
          </a:xfrm>
          <a:prstGeom prst="rect">
            <a:avLst/>
          </a:prstGeom>
          <a:noFill/>
        </p:spPr>
        <p:txBody>
          <a:bodyPr wrap="square" lIns="0" rIns="0" tIns="0" bIns="0" anchor="t">
            <a:noAutofit/>
          </a:bodyPr>
          <a:lstStyle/>
          <a:p>
            <a:pPr algn="l">
              <a:lnSpc>
                <a:spcPct val="110000"/>
              </a:lnSpc>
              <a:spcBef>
                <a:spcPts val="0"/>
              </a:spcBef>
              <a:spcAft>
                <a:spcPts val="0"/>
              </a:spcAft>
            </a:pPr>
            <a:r>
              <a:rPr sz="750" b="1" i="0">
                <a:solidFill>
                  <a:srgbClr val="22D3EE"/>
                </a:solidFill>
                <a:latin typeface="Segoe UI"/>
              </a:rPr>
              <a:t>01</a:t>
            </a:r>
          </a:p>
        </p:txBody>
      </p:sp>
      <p:sp>
        <p:nvSpPr>
          <p:cNvPr id="58" name="TextBox 57"/>
          <p:cNvSpPr txBox="1"/>
          <p:nvPr/>
        </p:nvSpPr>
        <p:spPr>
          <a:xfrm>
            <a:off x="1097280" y="5221224"/>
            <a:ext cx="3017520" cy="219456"/>
          </a:xfrm>
          <a:prstGeom prst="rect">
            <a:avLst/>
          </a:prstGeom>
          <a:noFill/>
        </p:spPr>
        <p:txBody>
          <a:bodyPr wrap="square" lIns="0" rIns="0" tIns="0" bIns="0" anchor="t">
            <a:noAutofit/>
          </a:bodyPr>
          <a:lstStyle/>
          <a:p>
            <a:pPr algn="l">
              <a:lnSpc>
                <a:spcPct val="110000"/>
              </a:lnSpc>
              <a:spcBef>
                <a:spcPts val="0"/>
              </a:spcBef>
              <a:spcAft>
                <a:spcPts val="0"/>
              </a:spcAft>
            </a:pPr>
            <a:r>
              <a:rPr sz="919" b="1" i="0">
                <a:solidFill>
                  <a:srgbClr val="E8EEF7"/>
                </a:solidFill>
                <a:latin typeface="Segoe UI"/>
              </a:rPr>
              <a:t>Design loads</a:t>
            </a:r>
          </a:p>
        </p:txBody>
      </p:sp>
      <p:sp>
        <p:nvSpPr>
          <p:cNvPr id="59" name="TextBox 58"/>
          <p:cNvSpPr txBox="1"/>
          <p:nvPr/>
        </p:nvSpPr>
        <p:spPr>
          <a:xfrm>
            <a:off x="1097280" y="5449824"/>
            <a:ext cx="3017520" cy="38404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Along- and cross-wind base moments for every direction.</a:t>
            </a:r>
          </a:p>
        </p:txBody>
      </p:sp>
      <p:sp>
        <p:nvSpPr>
          <p:cNvPr id="60" name="Rounded Rectangle 59"/>
          <p:cNvSpPr/>
          <p:nvPr/>
        </p:nvSpPr>
        <p:spPr>
          <a:xfrm>
            <a:off x="4398264" y="5175504"/>
            <a:ext cx="3602736" cy="73152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44568" y="5230368"/>
            <a:ext cx="274320" cy="182880"/>
          </a:xfrm>
          <a:prstGeom prst="rect">
            <a:avLst/>
          </a:prstGeom>
          <a:noFill/>
        </p:spPr>
        <p:txBody>
          <a:bodyPr wrap="square" lIns="0" rIns="0" tIns="0" bIns="0" anchor="t">
            <a:noAutofit/>
          </a:bodyPr>
          <a:lstStyle/>
          <a:p>
            <a:pPr algn="l">
              <a:lnSpc>
                <a:spcPct val="110000"/>
              </a:lnSpc>
              <a:spcBef>
                <a:spcPts val="0"/>
              </a:spcBef>
              <a:spcAft>
                <a:spcPts val="0"/>
              </a:spcAft>
            </a:pPr>
            <a:r>
              <a:rPr sz="750" b="1" i="0">
                <a:solidFill>
                  <a:srgbClr val="34D399"/>
                </a:solidFill>
                <a:latin typeface="Segoe UI"/>
              </a:rPr>
              <a:t>02</a:t>
            </a:r>
          </a:p>
        </p:txBody>
      </p:sp>
      <p:sp>
        <p:nvSpPr>
          <p:cNvPr id="62" name="TextBox 61"/>
          <p:cNvSpPr txBox="1"/>
          <p:nvPr/>
        </p:nvSpPr>
        <p:spPr>
          <a:xfrm>
            <a:off x="4855464" y="5221224"/>
            <a:ext cx="3017520" cy="219456"/>
          </a:xfrm>
          <a:prstGeom prst="rect">
            <a:avLst/>
          </a:prstGeom>
          <a:noFill/>
        </p:spPr>
        <p:txBody>
          <a:bodyPr wrap="square" lIns="0" rIns="0" tIns="0" bIns="0" anchor="t">
            <a:noAutofit/>
          </a:bodyPr>
          <a:lstStyle/>
          <a:p>
            <a:pPr algn="l">
              <a:lnSpc>
                <a:spcPct val="110000"/>
              </a:lnSpc>
              <a:spcBef>
                <a:spcPts val="0"/>
              </a:spcBef>
              <a:spcAft>
                <a:spcPts val="0"/>
              </a:spcAft>
            </a:pPr>
            <a:r>
              <a:rPr sz="919" b="1" i="0">
                <a:solidFill>
                  <a:srgbClr val="E8EEF7"/>
                </a:solidFill>
                <a:latin typeface="Segoe UI"/>
              </a:rPr>
              <a:t>Occupant comfort</a:t>
            </a:r>
          </a:p>
        </p:txBody>
      </p:sp>
      <p:sp>
        <p:nvSpPr>
          <p:cNvPr id="63" name="TextBox 62"/>
          <p:cNvSpPr txBox="1"/>
          <p:nvPr/>
        </p:nvSpPr>
        <p:spPr>
          <a:xfrm>
            <a:off x="4855464" y="5449824"/>
            <a:ext cx="3017520" cy="38404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Peak accelerations at the top occupied floor.</a:t>
            </a:r>
          </a:p>
        </p:txBody>
      </p:sp>
      <p:sp>
        <p:nvSpPr>
          <p:cNvPr id="64" name="Rounded Rectangle 63"/>
          <p:cNvSpPr/>
          <p:nvPr/>
        </p:nvSpPr>
        <p:spPr>
          <a:xfrm>
            <a:off x="8156448" y="5175504"/>
            <a:ext cx="3602736" cy="73152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02752" y="5230368"/>
            <a:ext cx="274320" cy="182880"/>
          </a:xfrm>
          <a:prstGeom prst="rect">
            <a:avLst/>
          </a:prstGeom>
          <a:noFill/>
        </p:spPr>
        <p:txBody>
          <a:bodyPr wrap="square" lIns="0" rIns="0" tIns="0" bIns="0" anchor="t">
            <a:noAutofit/>
          </a:bodyPr>
          <a:lstStyle/>
          <a:p>
            <a:pPr algn="l">
              <a:lnSpc>
                <a:spcPct val="110000"/>
              </a:lnSpc>
              <a:spcBef>
                <a:spcPts val="0"/>
              </a:spcBef>
              <a:spcAft>
                <a:spcPts val="0"/>
              </a:spcAft>
            </a:pPr>
            <a:r>
              <a:rPr sz="750" b="1" i="0">
                <a:solidFill>
                  <a:srgbClr val="F59E0B"/>
                </a:solidFill>
                <a:latin typeface="Segoe UI"/>
              </a:rPr>
              <a:t>03</a:t>
            </a:r>
          </a:p>
        </p:txBody>
      </p:sp>
      <p:sp>
        <p:nvSpPr>
          <p:cNvPr id="66" name="TextBox 65"/>
          <p:cNvSpPr txBox="1"/>
          <p:nvPr/>
        </p:nvSpPr>
        <p:spPr>
          <a:xfrm>
            <a:off x="8613648" y="5221224"/>
            <a:ext cx="3017520" cy="219456"/>
          </a:xfrm>
          <a:prstGeom prst="rect">
            <a:avLst/>
          </a:prstGeom>
          <a:noFill/>
        </p:spPr>
        <p:txBody>
          <a:bodyPr wrap="square" lIns="0" rIns="0" tIns="0" bIns="0" anchor="t">
            <a:noAutofit/>
          </a:bodyPr>
          <a:lstStyle/>
          <a:p>
            <a:pPr algn="l">
              <a:lnSpc>
                <a:spcPct val="110000"/>
              </a:lnSpc>
              <a:spcBef>
                <a:spcPts val="0"/>
              </a:spcBef>
              <a:spcAft>
                <a:spcPts val="0"/>
              </a:spcAft>
            </a:pPr>
            <a:r>
              <a:rPr sz="919" b="1" i="0">
                <a:solidFill>
                  <a:srgbClr val="E8EEF7"/>
                </a:solidFill>
                <a:latin typeface="Segoe UI"/>
              </a:rPr>
              <a:t>Cladding pressures</a:t>
            </a:r>
          </a:p>
        </p:txBody>
      </p:sp>
      <p:sp>
        <p:nvSpPr>
          <p:cNvPr id="67" name="TextBox 66"/>
          <p:cNvSpPr txBox="1"/>
          <p:nvPr/>
        </p:nvSpPr>
        <p:spPr>
          <a:xfrm>
            <a:off x="8613648" y="5449824"/>
            <a:ext cx="3017520" cy="38404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Local peak pressures and suctions for the façade.</a:t>
            </a:r>
          </a:p>
        </p:txBody>
      </p:sp>
      <p:sp>
        <p:nvSpPr>
          <p:cNvPr id="68" name="TextBox 67"/>
          <p:cNvSpPr txBox="1"/>
          <p:nvPr/>
        </p:nvSpPr>
        <p:spPr>
          <a:xfrm>
            <a:off x="640080" y="6035040"/>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Programme facts: RWDI project record; Irwin (CTBUH 2005). Matrix is an explanatory summary, not the project's test log.</a:t>
            </a:r>
          </a:p>
        </p:txBody>
      </p:sp>
      <p:cxnSp>
        <p:nvCxnSpPr>
          <p:cNvPr id="69" name="Connector 68"/>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71" name="TextBox 70"/>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60A5FA"/>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60A5FA"/>
                </a:solidFill>
                <a:latin typeface="Segoe UI"/>
              </a:rPr>
              <a:t>SIMILITUDE</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Reynolds number: the scale that cannot be faked</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07 / 20</a:t>
            </a:r>
          </a:p>
        </p:txBody>
      </p:sp>
      <p:sp>
        <p:nvSpPr>
          <p:cNvPr id="5" name="Rounded Rectangle 4"/>
          <p:cNvSpPr/>
          <p:nvPr/>
        </p:nvSpPr>
        <p:spPr>
          <a:xfrm>
            <a:off x="640080" y="1463040"/>
            <a:ext cx="5669280" cy="42245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72768"/>
            <a:ext cx="512064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60A5FA"/>
                </a:solidFill>
                <a:latin typeface="Segoe UI"/>
              </a:rPr>
              <a:t>REYNOLDS SIMILARITY</a:t>
            </a:r>
          </a:p>
        </p:txBody>
      </p:sp>
      <p:sp>
        <p:nvSpPr>
          <p:cNvPr id="7" name="TextBox 6"/>
          <p:cNvSpPr txBox="1"/>
          <p:nvPr/>
        </p:nvSpPr>
        <p:spPr>
          <a:xfrm>
            <a:off x="841247" y="1810512"/>
            <a:ext cx="5212080" cy="45720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E8EEF7"/>
                </a:solidFill>
                <a:latin typeface="Segoe UI Semibold"/>
              </a:rPr>
              <a:t>Re = U · D / ν</a:t>
            </a:r>
          </a:p>
        </p:txBody>
      </p:sp>
      <p:sp>
        <p:nvSpPr>
          <p:cNvPr id="8" name="TextBox 7"/>
          <p:cNvSpPr txBox="1"/>
          <p:nvPr/>
        </p:nvSpPr>
        <p:spPr>
          <a:xfrm>
            <a:off x="841247" y="2286000"/>
            <a:ext cx="5120640" cy="274320"/>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ν = 1.5 × 10⁻⁵ m²/s   ·   D = 50 m reference width   ·   U = 40 m/s</a:t>
            </a:r>
          </a:p>
        </p:txBody>
      </p:sp>
      <p:sp>
        <p:nvSpPr>
          <p:cNvPr id="9" name="TextBox 8"/>
          <p:cNvSpPr txBox="1"/>
          <p:nvPr/>
        </p:nvSpPr>
        <p:spPr>
          <a:xfrm>
            <a:off x="841247" y="2743200"/>
            <a:ext cx="141732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94A3B8"/>
                </a:solidFill>
                <a:latin typeface="Segoe UI"/>
              </a:rPr>
              <a:t>FULL SCALE</a:t>
            </a:r>
          </a:p>
        </p:txBody>
      </p:sp>
      <p:sp>
        <p:nvSpPr>
          <p:cNvPr id="10" name="TextBox 9"/>
          <p:cNvSpPr txBox="1"/>
          <p:nvPr/>
        </p:nvSpPr>
        <p:spPr>
          <a:xfrm>
            <a:off x="2331720" y="2706624"/>
            <a:ext cx="1143000" cy="237744"/>
          </a:xfrm>
          <a:prstGeom prst="rect">
            <a:avLst/>
          </a:prstGeom>
          <a:noFill/>
        </p:spPr>
        <p:txBody>
          <a:bodyPr wrap="square" lIns="0" rIns="0" tIns="0" bIns="0" anchor="t">
            <a:noAutofit/>
          </a:bodyPr>
          <a:lstStyle/>
          <a:p>
            <a:pPr algn="l">
              <a:lnSpc>
                <a:spcPct val="110000"/>
              </a:lnSpc>
              <a:spcBef>
                <a:spcPts val="0"/>
              </a:spcBef>
              <a:spcAft>
                <a:spcPts val="0"/>
              </a:spcAft>
            </a:pPr>
            <a:r>
              <a:rPr sz="1050" b="1" i="0">
                <a:solidFill>
                  <a:srgbClr val="22D3EE"/>
                </a:solidFill>
                <a:latin typeface="Segoe UI Semibold"/>
              </a:rPr>
              <a:t>1.3 × 10⁸</a:t>
            </a:r>
          </a:p>
        </p:txBody>
      </p:sp>
      <p:sp>
        <p:nvSpPr>
          <p:cNvPr id="11" name="Rounded Rectangle 10"/>
          <p:cNvSpPr/>
          <p:nvPr/>
        </p:nvSpPr>
        <p:spPr>
          <a:xfrm>
            <a:off x="3703320" y="2761488"/>
            <a:ext cx="2234113" cy="146304"/>
          </a:xfrm>
          <a:prstGeom prst="roundRect">
            <a:avLst>
              <a:gd name="adj" fmla="val 40000"/>
            </a:avLst>
          </a:prstGeom>
          <a:solidFill>
            <a:srgbClr val="3861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944368"/>
            <a:ext cx="2743200" cy="182880"/>
          </a:xfrm>
          <a:prstGeom prst="rect">
            <a:avLst/>
          </a:prstGeom>
          <a:noFill/>
        </p:spPr>
        <p:txBody>
          <a:bodyPr wrap="square" lIns="0" rIns="0" tIns="0" bIns="0" anchor="t">
            <a:noAutofit/>
          </a:bodyPr>
          <a:lstStyle/>
          <a:p>
            <a:pPr algn="l">
              <a:lnSpc>
                <a:spcPct val="110000"/>
              </a:lnSpc>
              <a:spcBef>
                <a:spcPts val="0"/>
              </a:spcBef>
              <a:spcAft>
                <a:spcPts val="0"/>
              </a:spcAft>
            </a:pPr>
            <a:r>
              <a:rPr sz="680" b="0" i="0">
                <a:solidFill>
                  <a:srgbClr val="64748B"/>
                </a:solidFill>
                <a:latin typeface="Segoe UI"/>
              </a:rPr>
              <a:t>true flow, true aeroelasticity</a:t>
            </a:r>
          </a:p>
        </p:txBody>
      </p:sp>
      <p:sp>
        <p:nvSpPr>
          <p:cNvPr id="13" name="TextBox 12"/>
          <p:cNvSpPr txBox="1"/>
          <p:nvPr/>
        </p:nvSpPr>
        <p:spPr>
          <a:xfrm>
            <a:off x="841247" y="3493008"/>
            <a:ext cx="141732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94A3B8"/>
                </a:solidFill>
                <a:latin typeface="Segoe UI"/>
              </a:rPr>
              <a:t>1:50 SECTION</a:t>
            </a:r>
          </a:p>
        </p:txBody>
      </p:sp>
      <p:sp>
        <p:nvSpPr>
          <p:cNvPr id="14" name="TextBox 13"/>
          <p:cNvSpPr txBox="1"/>
          <p:nvPr/>
        </p:nvSpPr>
        <p:spPr>
          <a:xfrm>
            <a:off x="2331720" y="3456432"/>
            <a:ext cx="1143000" cy="237744"/>
          </a:xfrm>
          <a:prstGeom prst="rect">
            <a:avLst/>
          </a:prstGeom>
          <a:noFill/>
        </p:spPr>
        <p:txBody>
          <a:bodyPr wrap="square" lIns="0" rIns="0" tIns="0" bIns="0" anchor="t">
            <a:noAutofit/>
          </a:bodyPr>
          <a:lstStyle/>
          <a:p>
            <a:pPr algn="l">
              <a:lnSpc>
                <a:spcPct val="110000"/>
              </a:lnSpc>
              <a:spcBef>
                <a:spcPts val="0"/>
              </a:spcBef>
              <a:spcAft>
                <a:spcPts val="0"/>
              </a:spcAft>
            </a:pPr>
            <a:r>
              <a:rPr sz="1050" b="1" i="0">
                <a:solidFill>
                  <a:srgbClr val="22D3EE"/>
                </a:solidFill>
                <a:latin typeface="Segoe UI Semibold"/>
              </a:rPr>
              <a:t>2.7 × 10⁶</a:t>
            </a:r>
          </a:p>
        </p:txBody>
      </p:sp>
      <p:sp>
        <p:nvSpPr>
          <p:cNvPr id="15" name="Rounded Rectangle 14"/>
          <p:cNvSpPr/>
          <p:nvPr/>
        </p:nvSpPr>
        <p:spPr>
          <a:xfrm>
            <a:off x="3703320" y="3511296"/>
            <a:ext cx="1317692" cy="146304"/>
          </a:xfrm>
          <a:prstGeom prst="roundRect">
            <a:avLst>
              <a:gd name="adj" fmla="val 40000"/>
            </a:avLst>
          </a:prstGeom>
          <a:solidFill>
            <a:srgbClr val="3861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3694176"/>
            <a:ext cx="2743200" cy="182880"/>
          </a:xfrm>
          <a:prstGeom prst="rect">
            <a:avLst/>
          </a:prstGeom>
          <a:noFill/>
        </p:spPr>
        <p:txBody>
          <a:bodyPr wrap="square" lIns="0" rIns="0" tIns="0" bIns="0" anchor="t">
            <a:noAutofit/>
          </a:bodyPr>
          <a:lstStyle/>
          <a:p>
            <a:pPr algn="l">
              <a:lnSpc>
                <a:spcPct val="110000"/>
              </a:lnSpc>
              <a:spcBef>
                <a:spcPts val="0"/>
              </a:spcBef>
              <a:spcAft>
                <a:spcPts val="0"/>
              </a:spcAft>
            </a:pPr>
            <a:r>
              <a:rPr sz="680" b="0" i="0">
                <a:solidFill>
                  <a:srgbClr val="64748B"/>
                </a:solidFill>
                <a:latin typeface="Segoe UI"/>
              </a:rPr>
              <a:t>high-Re check on details</a:t>
            </a:r>
          </a:p>
        </p:txBody>
      </p:sp>
      <p:sp>
        <p:nvSpPr>
          <p:cNvPr id="17" name="TextBox 16"/>
          <p:cNvSpPr txBox="1"/>
          <p:nvPr/>
        </p:nvSpPr>
        <p:spPr>
          <a:xfrm>
            <a:off x="841247" y="4242816"/>
            <a:ext cx="141732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94A3B8"/>
                </a:solidFill>
                <a:latin typeface="Segoe UI"/>
              </a:rPr>
              <a:t>1:500 MODEL</a:t>
            </a:r>
          </a:p>
        </p:txBody>
      </p:sp>
      <p:sp>
        <p:nvSpPr>
          <p:cNvPr id="18" name="TextBox 17"/>
          <p:cNvSpPr txBox="1"/>
          <p:nvPr/>
        </p:nvSpPr>
        <p:spPr>
          <a:xfrm>
            <a:off x="2331720" y="4206240"/>
            <a:ext cx="1143000" cy="237744"/>
          </a:xfrm>
          <a:prstGeom prst="rect">
            <a:avLst/>
          </a:prstGeom>
          <a:noFill/>
        </p:spPr>
        <p:txBody>
          <a:bodyPr wrap="square" lIns="0" rIns="0" tIns="0" bIns="0" anchor="t">
            <a:noAutofit/>
          </a:bodyPr>
          <a:lstStyle/>
          <a:p>
            <a:pPr algn="l">
              <a:lnSpc>
                <a:spcPct val="110000"/>
              </a:lnSpc>
              <a:spcBef>
                <a:spcPts val="0"/>
              </a:spcBef>
              <a:spcAft>
                <a:spcPts val="0"/>
              </a:spcAft>
            </a:pPr>
            <a:r>
              <a:rPr sz="1050" b="1" i="0">
                <a:solidFill>
                  <a:srgbClr val="22D3EE"/>
                </a:solidFill>
                <a:latin typeface="Segoe UI Semibold"/>
              </a:rPr>
              <a:t>2.7 × 10⁵</a:t>
            </a:r>
          </a:p>
        </p:txBody>
      </p:sp>
      <p:sp>
        <p:nvSpPr>
          <p:cNvPr id="19" name="Rounded Rectangle 18"/>
          <p:cNvSpPr/>
          <p:nvPr/>
        </p:nvSpPr>
        <p:spPr>
          <a:xfrm>
            <a:off x="3703320" y="4261103"/>
            <a:ext cx="775432" cy="146304"/>
          </a:xfrm>
          <a:prstGeom prst="roundRect">
            <a:avLst>
              <a:gd name="adj" fmla="val 40000"/>
            </a:avLst>
          </a:prstGeom>
          <a:solidFill>
            <a:srgbClr val="3861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4443983"/>
            <a:ext cx="2743200" cy="182880"/>
          </a:xfrm>
          <a:prstGeom prst="rect">
            <a:avLst/>
          </a:prstGeom>
          <a:noFill/>
        </p:spPr>
        <p:txBody>
          <a:bodyPr wrap="square" lIns="0" rIns="0" tIns="0" bIns="0" anchor="t">
            <a:noAutofit/>
          </a:bodyPr>
          <a:lstStyle/>
          <a:p>
            <a:pPr algn="l">
              <a:lnSpc>
                <a:spcPct val="110000"/>
              </a:lnSpc>
              <a:spcBef>
                <a:spcPts val="0"/>
              </a:spcBef>
              <a:spcAft>
                <a:spcPts val="0"/>
              </a:spcAft>
            </a:pPr>
            <a:r>
              <a:rPr sz="680" b="0" i="0">
                <a:solidFill>
                  <a:srgbClr val="64748B"/>
                </a:solidFill>
                <a:latin typeface="Segoe UI"/>
              </a:rPr>
              <a:t>whole-building dynamics</a:t>
            </a:r>
          </a:p>
        </p:txBody>
      </p:sp>
      <p:sp>
        <p:nvSpPr>
          <p:cNvPr id="21" name="TextBox 20"/>
          <p:cNvSpPr txBox="1"/>
          <p:nvPr/>
        </p:nvSpPr>
        <p:spPr>
          <a:xfrm>
            <a:off x="841247" y="5074920"/>
            <a:ext cx="5120640" cy="457200"/>
          </a:xfrm>
          <a:prstGeom prst="rect">
            <a:avLst/>
          </a:prstGeom>
          <a:noFill/>
        </p:spPr>
        <p:txBody>
          <a:bodyPr wrap="square" lIns="0" rIns="0" tIns="0" bIns="0" anchor="t">
            <a:noAutofit/>
          </a:bodyPr>
          <a:lstStyle/>
          <a:p>
            <a:pPr algn="l">
              <a:lnSpc>
                <a:spcPct val="115000"/>
              </a:lnSpc>
              <a:spcBef>
                <a:spcPts val="0"/>
              </a:spcBef>
              <a:spcAft>
                <a:spcPts val="0"/>
              </a:spcAft>
            </a:pPr>
            <a:r>
              <a:rPr sz="720" b="0" i="0">
                <a:solidFill>
                  <a:srgbClr val="64748B"/>
                </a:solidFill>
                <a:latin typeface="Segoe UI"/>
              </a:rPr>
              <a:t>Bar length ∝ log₁₀(Re). Wind-tunnel Reynolds numbers are 2–3 orders below full scale.</a:t>
            </a:r>
          </a:p>
        </p:txBody>
      </p:sp>
      <p:sp>
        <p:nvSpPr>
          <p:cNvPr id="22" name="Rounded Rectangle 21"/>
          <p:cNvSpPr/>
          <p:nvPr/>
        </p:nvSpPr>
        <p:spPr>
          <a:xfrm>
            <a:off x="6492240" y="1463040"/>
            <a:ext cx="5056632"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10527" y="1463040"/>
            <a:ext cx="5020056" cy="41148"/>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1591056"/>
            <a:ext cx="45720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60A5FA"/>
                </a:solidFill>
                <a:latin typeface="Segoe UI"/>
              </a:rPr>
              <a:t>WHY TWO MODEL SCALES?</a:t>
            </a:r>
          </a:p>
        </p:txBody>
      </p:sp>
      <p:sp>
        <p:nvSpPr>
          <p:cNvPr id="25" name="TextBox 24"/>
          <p:cNvSpPr txBox="1"/>
          <p:nvPr/>
        </p:nvSpPr>
        <p:spPr>
          <a:xfrm>
            <a:off x="6675120" y="1828800"/>
            <a:ext cx="4617720" cy="1371600"/>
          </a:xfrm>
          <a:prstGeom prst="rect">
            <a:avLst/>
          </a:prstGeom>
          <a:noFill/>
        </p:spPr>
        <p:txBody>
          <a:bodyPr wrap="square" lIns="0" rIns="0" tIns="0" bIns="0" anchor="t">
            <a:noAutofit/>
          </a:bodyPr>
          <a:lstStyle/>
          <a:p>
            <a:pPr algn="l">
              <a:lnSpc>
                <a:spcPct val="132000"/>
              </a:lnSpc>
              <a:spcBef>
                <a:spcPts val="0"/>
              </a:spcBef>
              <a:spcAft>
                <a:spcPts val="0"/>
              </a:spcAft>
            </a:pPr>
            <a:r>
              <a:rPr sz="940" b="1" i="0">
                <a:solidFill>
                  <a:srgbClr val="E8EEF7"/>
                </a:solidFill>
                <a:latin typeface="Segoe UI"/>
              </a:rPr>
              <a:t>A full-height 1:50 model would stand 16.6 m tall. </a:t>
            </a:r>
            <a:r>
              <a:rPr sz="940" b="0" i="0">
                <a:solidFill>
                  <a:srgbClr val="94A3B8"/>
                </a:solidFill>
                <a:latin typeface="Segoe UI"/>
              </a:rPr>
              <a:t>So the programme splits the problem: a 1:500 whole-building aeroelastic model captures the dynamic response; 1:50 sectional models push Reynolds number up where corner detail matters.</a:t>
            </a:r>
          </a:p>
        </p:txBody>
      </p:sp>
      <p:sp>
        <p:nvSpPr>
          <p:cNvPr id="26" name="Rounded Rectangle 25"/>
          <p:cNvSpPr/>
          <p:nvPr/>
        </p:nvSpPr>
        <p:spPr>
          <a:xfrm>
            <a:off x="6492240" y="3401568"/>
            <a:ext cx="5056632" cy="228600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3511296"/>
            <a:ext cx="45720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F59E0B"/>
                </a:solidFill>
                <a:latin typeface="Segoe UI"/>
              </a:rPr>
              <a:t>WHAT CHANGES WITH Re</a:t>
            </a:r>
          </a:p>
        </p:txBody>
      </p:sp>
      <p:sp>
        <p:nvSpPr>
          <p:cNvPr id="28" name="TextBox 27"/>
          <p:cNvSpPr txBox="1"/>
          <p:nvPr/>
        </p:nvSpPr>
        <p:spPr>
          <a:xfrm>
            <a:off x="6675120" y="3822191"/>
            <a:ext cx="18288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Sharp corners</a:t>
            </a:r>
          </a:p>
        </p:txBody>
      </p:sp>
      <p:sp>
        <p:nvSpPr>
          <p:cNvPr id="29" name="TextBox 28"/>
          <p:cNvSpPr txBox="1"/>
          <p:nvPr/>
        </p:nvSpPr>
        <p:spPr>
          <a:xfrm>
            <a:off x="8549640" y="3822191"/>
            <a:ext cx="28346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insensitive — separation is fixed</a:t>
            </a:r>
          </a:p>
        </p:txBody>
      </p:sp>
      <p:sp>
        <p:nvSpPr>
          <p:cNvPr id="30" name="TextBox 29"/>
          <p:cNvSpPr txBox="1"/>
          <p:nvPr/>
        </p:nvSpPr>
        <p:spPr>
          <a:xfrm>
            <a:off x="6675120" y="4242816"/>
            <a:ext cx="18288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Rounded / tapered edges</a:t>
            </a:r>
          </a:p>
        </p:txBody>
      </p:sp>
      <p:sp>
        <p:nvSpPr>
          <p:cNvPr id="31" name="TextBox 30"/>
          <p:cNvSpPr txBox="1"/>
          <p:nvPr/>
        </p:nvSpPr>
        <p:spPr>
          <a:xfrm>
            <a:off x="8549640" y="4242816"/>
            <a:ext cx="28346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sensitive — separation moves</a:t>
            </a:r>
          </a:p>
        </p:txBody>
      </p:sp>
      <p:sp>
        <p:nvSpPr>
          <p:cNvPr id="32" name="TextBox 31"/>
          <p:cNvSpPr txBox="1"/>
          <p:nvPr/>
        </p:nvSpPr>
        <p:spPr>
          <a:xfrm>
            <a:off x="6675120" y="4663440"/>
            <a:ext cx="18288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Along-wind drag</a:t>
            </a:r>
          </a:p>
        </p:txBody>
      </p:sp>
      <p:sp>
        <p:nvSpPr>
          <p:cNvPr id="33" name="TextBox 32"/>
          <p:cNvSpPr txBox="1"/>
          <p:nvPr/>
        </p:nvSpPr>
        <p:spPr>
          <a:xfrm>
            <a:off x="8549640" y="4663440"/>
            <a:ext cx="28346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fairly stable across scale</a:t>
            </a:r>
          </a:p>
        </p:txBody>
      </p:sp>
      <p:sp>
        <p:nvSpPr>
          <p:cNvPr id="34" name="TextBox 33"/>
          <p:cNvSpPr txBox="1"/>
          <p:nvPr/>
        </p:nvSpPr>
        <p:spPr>
          <a:xfrm>
            <a:off x="6675120" y="5084064"/>
            <a:ext cx="18288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Cross-wind &amp; torsion</a:t>
            </a:r>
          </a:p>
        </p:txBody>
      </p:sp>
      <p:sp>
        <p:nvSpPr>
          <p:cNvPr id="35" name="TextBox 34"/>
          <p:cNvSpPr txBox="1"/>
          <p:nvPr/>
        </p:nvSpPr>
        <p:spPr>
          <a:xfrm>
            <a:off x="8549640" y="5084064"/>
            <a:ext cx="28346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the risk area — needs high Re</a:t>
            </a:r>
          </a:p>
        </p:txBody>
      </p:sp>
      <p:sp>
        <p:nvSpPr>
          <p:cNvPr id="36" name="TextBox 35"/>
          <p:cNvSpPr txBox="1"/>
          <p:nvPr/>
        </p:nvSpPr>
        <p:spPr>
          <a:xfrm>
            <a:off x="640080" y="5833872"/>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F59E0B"/>
                </a:solidFill>
                <a:latin typeface="Segoe UI"/>
              </a:rPr>
              <a:t>Consequence: </a:t>
            </a:r>
            <a:r>
              <a:rPr sz="900" b="0" i="0">
                <a:solidFill>
                  <a:srgbClr val="94A3B8"/>
                </a:solidFill>
                <a:latin typeface="Segoe UI"/>
              </a:rPr>
              <a:t>a 1:500 test alone can mispredict cross-wind force. The 1:50 checks are an insurance policy against scale effects.</a:t>
            </a:r>
          </a:p>
        </p:txBody>
      </p:sp>
      <p:sp>
        <p:nvSpPr>
          <p:cNvPr id="37" name="TextBox 36"/>
          <p:cNvSpPr txBox="1"/>
          <p:nvPr/>
        </p:nvSpPr>
        <p:spPr>
          <a:xfrm>
            <a:off x="640080" y="6089904"/>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Re computed from U = 40 m/s, D = 50 m, ν = 1.5 × 10⁻⁵ m²/s (derived, not reported test values). Model-scale strategy: Irwin (CTBUH 2005); RWDI.</a:t>
            </a:r>
          </a:p>
        </p:txBody>
      </p:sp>
      <p:cxnSp>
        <p:nvCxnSpPr>
          <p:cNvPr id="38" name="Connector 37"/>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0" name="TextBox 39"/>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60A5FA"/>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DYNAMICS</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Aeroelastic response: where the tower answers back</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08 / 20</a:t>
            </a:r>
          </a:p>
        </p:txBody>
      </p:sp>
      <p:graphicFrame>
        <p:nvGraphicFramePr>
          <p:cNvPr id="5" name="Chart 4"/>
          <p:cNvGraphicFramePr>
            <a:graphicFrameLocks noGrp="1"/>
          </p:cNvGraphicFramePr>
          <p:nvPr/>
        </p:nvGraphicFramePr>
        <p:xfrm>
          <a:off x="502920" y="1463040"/>
          <a:ext cx="6903720" cy="3931920"/>
        </p:xfrm>
        <a:graphic>
          <a:graphicData uri="http://schemas.openxmlformats.org/drawingml/2006/chart">
            <c:chart xmlns:c="http://schemas.openxmlformats.org/drawingml/2006/chart" r:id="rId2"/>
          </a:graphicData>
        </a:graphic>
      </p:graphicFrame>
      <p:sp>
        <p:nvSpPr>
          <p:cNvPr id="6" name="TextBox 5"/>
          <p:cNvSpPr txBox="1"/>
          <p:nvPr/>
        </p:nvSpPr>
        <p:spPr>
          <a:xfrm>
            <a:off x="822960" y="5358384"/>
            <a:ext cx="365760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REDUCED WIND SPEED  Vr = U / (f · D)</a:t>
            </a:r>
          </a:p>
        </p:txBody>
      </p:sp>
      <p:sp>
        <p:nvSpPr>
          <p:cNvPr id="7" name="TextBox 6"/>
          <p:cNvSpPr txBox="1"/>
          <p:nvPr/>
        </p:nvSpPr>
        <p:spPr>
          <a:xfrm>
            <a:off x="6355080" y="1554480"/>
            <a:ext cx="960120" cy="201168"/>
          </a:xfrm>
          <a:prstGeom prst="rect">
            <a:avLst/>
          </a:prstGeom>
          <a:noFill/>
        </p:spPr>
        <p:txBody>
          <a:bodyPr wrap="square" lIns="0" rIns="0" tIns="0" bIns="0" anchor="t">
            <a:noAutofit/>
          </a:bodyPr>
          <a:lstStyle/>
          <a:p>
            <a:pPr algn="r">
              <a:lnSpc>
                <a:spcPct val="110000"/>
              </a:lnSpc>
              <a:spcBef>
                <a:spcPts val="0"/>
              </a:spcBef>
              <a:spcAft>
                <a:spcPts val="0"/>
              </a:spcAft>
            </a:pPr>
            <a:r>
              <a:rPr sz="680" b="1" i="0">
                <a:solidFill>
                  <a:srgbClr val="64748B"/>
                </a:solidFill>
                <a:latin typeface="Segoe UI"/>
              </a:rPr>
              <a:t>NORMALISED RMS TIP RESPONSE</a:t>
            </a:r>
          </a:p>
        </p:txBody>
      </p:sp>
      <p:cxnSp>
        <p:nvCxnSpPr>
          <p:cNvPr id="8" name="Connector 7"/>
          <p:cNvCxnSpPr/>
          <p:nvPr/>
        </p:nvCxnSpPr>
        <p:spPr>
          <a:xfrm>
            <a:off x="3502152" y="1783080"/>
            <a:ext cx="0" cy="2971800"/>
          </a:xfrm>
          <a:prstGeom prst="line">
            <a:avLst/>
          </a:prstGeom>
          <a:ln w="10160">
            <a:solidFill>
              <a:srgbClr val="724E12"/>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044952" y="4809744"/>
            <a:ext cx="914400" cy="201168"/>
          </a:xfrm>
          <a:prstGeom prst="rect">
            <a:avLst/>
          </a:prstGeom>
          <a:noFill/>
        </p:spPr>
        <p:txBody>
          <a:bodyPr wrap="square" lIns="0" rIns="0" tIns="0" bIns="0" anchor="t">
            <a:noAutofit/>
          </a:bodyPr>
          <a:lstStyle/>
          <a:p>
            <a:pPr algn="ctr">
              <a:lnSpc>
                <a:spcPct val="110000"/>
              </a:lnSpc>
              <a:spcBef>
                <a:spcPts val="0"/>
              </a:spcBef>
              <a:spcAft>
                <a:spcPts val="0"/>
              </a:spcAft>
            </a:pPr>
            <a:r>
              <a:rPr sz="740" b="1" i="0">
                <a:solidFill>
                  <a:srgbClr val="F59E0B"/>
                </a:solidFill>
                <a:latin typeface="Segoe UI"/>
              </a:rPr>
              <a:t>Vr ≈ 8.3</a:t>
            </a:r>
          </a:p>
        </p:txBody>
      </p:sp>
      <p:sp>
        <p:nvSpPr>
          <p:cNvPr id="10" name="Rounded Rectangle 9"/>
          <p:cNvSpPr/>
          <p:nvPr/>
        </p:nvSpPr>
        <p:spPr>
          <a:xfrm>
            <a:off x="7498079" y="1463040"/>
            <a:ext cx="4050791" cy="214884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516367" y="1463040"/>
            <a:ext cx="4014215"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572768"/>
            <a:ext cx="36576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F59E0B"/>
                </a:solidFill>
                <a:latin typeface="Segoe UI"/>
              </a:rPr>
              <a:t>THE LOCK-IN CONDITION</a:t>
            </a:r>
          </a:p>
        </p:txBody>
      </p:sp>
      <p:sp>
        <p:nvSpPr>
          <p:cNvPr id="13" name="TextBox 12"/>
          <p:cNvSpPr txBox="1"/>
          <p:nvPr/>
        </p:nvSpPr>
        <p:spPr>
          <a:xfrm>
            <a:off x="7680960" y="1810512"/>
            <a:ext cx="3703320" cy="310896"/>
          </a:xfrm>
          <a:prstGeom prst="rect">
            <a:avLst/>
          </a:prstGeom>
          <a:noFill/>
        </p:spPr>
        <p:txBody>
          <a:bodyPr wrap="square" lIns="0" rIns="0" tIns="0" bIns="0" anchor="t">
            <a:noAutofit/>
          </a:bodyPr>
          <a:lstStyle/>
          <a:p>
            <a:pPr algn="l">
              <a:lnSpc>
                <a:spcPct val="110000"/>
              </a:lnSpc>
              <a:spcBef>
                <a:spcPts val="0"/>
              </a:spcBef>
              <a:spcAft>
                <a:spcPts val="0"/>
              </a:spcAft>
            </a:pPr>
            <a:r>
              <a:rPr sz="1700" b="0" i="0">
                <a:solidFill>
                  <a:srgbClr val="E8EEF7"/>
                </a:solidFill>
                <a:latin typeface="Segoe UI Semibold"/>
              </a:rPr>
              <a:t>f  =  St · U / D</a:t>
            </a:r>
          </a:p>
        </p:txBody>
      </p:sp>
      <p:sp>
        <p:nvSpPr>
          <p:cNvPr id="14" name="TextBox 13"/>
          <p:cNvSpPr txBox="1"/>
          <p:nvPr/>
        </p:nvSpPr>
        <p:spPr>
          <a:xfrm>
            <a:off x="7680960" y="2176272"/>
            <a:ext cx="3703320" cy="1280160"/>
          </a:xfrm>
          <a:prstGeom prst="rect">
            <a:avLst/>
          </a:prstGeom>
          <a:noFill/>
        </p:spPr>
        <p:txBody>
          <a:bodyPr wrap="square" lIns="0" rIns="0" tIns="0" bIns="0" anchor="t">
            <a:noAutofit/>
          </a:bodyPr>
          <a:lstStyle/>
          <a:p>
            <a:pPr algn="l">
              <a:lnSpc>
                <a:spcPct val="130000"/>
              </a:lnSpc>
              <a:spcBef>
                <a:spcPts val="0"/>
              </a:spcBef>
              <a:spcAft>
                <a:spcPts val="0"/>
              </a:spcAft>
            </a:pPr>
            <a:r>
              <a:rPr sz="860" b="0" i="0">
                <a:solidFill>
                  <a:srgbClr val="94A3B8"/>
                </a:solidFill>
                <a:latin typeface="Segoe UI"/>
              </a:rPr>
              <a:t>Shedding matches a structural mode when </a:t>
            </a:r>
            <a:r>
              <a:rPr sz="860" b="1" i="0">
                <a:solidFill>
                  <a:srgbClr val="E8EEF7"/>
                </a:solidFill>
                <a:latin typeface="Segoe UI"/>
              </a:rPr>
              <a:t>Vr = 1 / St ≈ 8.3</a:t>
            </a:r>
            <a:r>
              <a:rPr sz="860" b="0" i="0">
                <a:solidFill>
                  <a:srgbClr val="94A3B8"/>
                </a:solidFill>
                <a:latin typeface="Segoe UI"/>
              </a:rPr>
              <a:t>. A square tower concentrates energy at that one speed; a stepped plan spreads it over 5 &lt; Vr &lt; 14.</a:t>
            </a:r>
          </a:p>
        </p:txBody>
      </p:sp>
      <p:sp>
        <p:nvSpPr>
          <p:cNvPr id="15" name="Rounded Rectangle 14"/>
          <p:cNvSpPr/>
          <p:nvPr/>
        </p:nvSpPr>
        <p:spPr>
          <a:xfrm>
            <a:off x="7498079" y="3730752"/>
            <a:ext cx="4050791" cy="1956816"/>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3840480"/>
            <a:ext cx="365760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22D3EE"/>
                </a:solidFill>
                <a:latin typeface="Segoe UI"/>
              </a:rPr>
              <a:t>AERODYNAMIC DAMPING</a:t>
            </a:r>
          </a:p>
        </p:txBody>
      </p:sp>
      <p:sp>
        <p:nvSpPr>
          <p:cNvPr id="17" name="TextBox 16"/>
          <p:cNvSpPr txBox="1"/>
          <p:nvPr/>
        </p:nvSpPr>
        <p:spPr>
          <a:xfrm>
            <a:off x="7680960" y="4078224"/>
            <a:ext cx="3703320" cy="1463040"/>
          </a:xfrm>
          <a:prstGeom prst="rect">
            <a:avLst/>
          </a:prstGeom>
          <a:noFill/>
        </p:spPr>
        <p:txBody>
          <a:bodyPr wrap="square" lIns="0" rIns="0" tIns="0" bIns="0" anchor="t">
            <a:noAutofit/>
          </a:bodyPr>
          <a:lstStyle/>
          <a:p>
            <a:pPr algn="l">
              <a:lnSpc>
                <a:spcPct val="130000"/>
              </a:lnSpc>
              <a:spcBef>
                <a:spcPts val="0"/>
              </a:spcBef>
              <a:spcAft>
                <a:spcPts val="0"/>
              </a:spcAft>
            </a:pPr>
            <a:r>
              <a:rPr sz="880" b="0" i="0">
                <a:solidFill>
                  <a:srgbClr val="94A3B8"/>
                </a:solidFill>
                <a:latin typeface="Segoe UI"/>
              </a:rPr>
              <a:t>Moving air adds damping that grows with speed. It is not a structural damper — it is the wind resisting the tower's own motion. The aeroelastic model captures it; a rigid force-balance test cannot.</a:t>
            </a:r>
          </a:p>
        </p:txBody>
      </p:sp>
      <p:sp>
        <p:nvSpPr>
          <p:cNvPr id="18" name="TextBox 17"/>
          <p:cNvSpPr txBox="1"/>
          <p:nvPr/>
        </p:nvSpPr>
        <p:spPr>
          <a:xfrm>
            <a:off x="7680960" y="5230368"/>
            <a:ext cx="3703320" cy="274320"/>
          </a:xfrm>
          <a:prstGeom prst="rect">
            <a:avLst/>
          </a:prstGeom>
          <a:noFill/>
        </p:spPr>
        <p:txBody>
          <a:bodyPr wrap="square" lIns="0" rIns="0" tIns="0" bIns="0" anchor="t">
            <a:noAutofit/>
          </a:bodyPr>
          <a:lstStyle/>
          <a:p>
            <a:pPr algn="l">
              <a:lnSpc>
                <a:spcPct val="110000"/>
              </a:lnSpc>
              <a:spcBef>
                <a:spcPts val="0"/>
              </a:spcBef>
              <a:spcAft>
                <a:spcPts val="0"/>
              </a:spcAft>
            </a:pPr>
            <a:r>
              <a:rPr sz="960" b="1" i="0">
                <a:solidFill>
                  <a:srgbClr val="22D3EE"/>
                </a:solidFill>
                <a:latin typeface="Segoe UI Semibold"/>
              </a:rPr>
              <a:t>damping ratio  ∝  ρ U D / (2 m ω)</a:t>
            </a:r>
          </a:p>
        </p:txBody>
      </p:sp>
      <p:sp>
        <p:nvSpPr>
          <p:cNvPr id="19" name="TextBox 18"/>
          <p:cNvSpPr txBox="1"/>
          <p:nvPr/>
        </p:nvSpPr>
        <p:spPr>
          <a:xfrm>
            <a:off x="640080" y="5797296"/>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22D3EE"/>
                </a:solidFill>
                <a:latin typeface="Segoe UI"/>
              </a:rPr>
              <a:t>Read the chart: </a:t>
            </a:r>
            <a:r>
              <a:rPr sz="900" b="0" i="0">
                <a:solidFill>
                  <a:srgbClr val="94A3B8"/>
                </a:solidFill>
                <a:latin typeface="Segoe UI"/>
              </a:rPr>
              <a:t>shaping does not eliminate the dynamic response — it removes the sharp peak that drives the design.</a:t>
            </a:r>
          </a:p>
        </p:txBody>
      </p:sp>
      <p:sp>
        <p:nvSpPr>
          <p:cNvPr id="20" name="TextBox 19"/>
          <p:cNvSpPr txBox="1"/>
          <p:nvPr/>
        </p:nvSpPr>
        <p:spPr>
          <a:xfrm>
            <a:off x="640080" y="6071616"/>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Response curves are a teaching schematic, not measured Burj data. Lock-in condition and Vr = 1/St are standard bluff-body aerodynamics.</a:t>
            </a:r>
          </a:p>
        </p:txBody>
      </p:sp>
      <p:cxnSp>
        <p:nvCxnSpPr>
          <p:cNvPr id="21" name="Connector 20"/>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23" name="TextBox 22"/>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34D399"/>
                </a:solidFill>
                <a:latin typeface="Segoe UI"/>
              </a:rPr>
              <a:t>OPTIMISATION</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Three numbers: 37 → 19 → 12 milli-g</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09 / 20</a:t>
            </a:r>
          </a:p>
        </p:txBody>
      </p:sp>
      <p:graphicFrame>
        <p:nvGraphicFramePr>
          <p:cNvPr id="5" name="Chart 4"/>
          <p:cNvGraphicFramePr>
            <a:graphicFrameLocks noGrp="1"/>
          </p:cNvGraphicFramePr>
          <p:nvPr/>
        </p:nvGraphicFramePr>
        <p:xfrm>
          <a:off x="411480" y="1463040"/>
          <a:ext cx="6766560" cy="3977639"/>
        </p:xfrm>
        <a:graphic>
          <a:graphicData uri="http://schemas.openxmlformats.org/drawingml/2006/chart">
            <c:chart xmlns:c="http://schemas.openxmlformats.org/drawingml/2006/chart" r:id="rId2"/>
          </a:graphicData>
        </a:graphic>
      </p:graphicFrame>
      <p:sp>
        <p:nvSpPr>
          <p:cNvPr id="6" name="TextBox 5"/>
          <p:cNvSpPr txBox="1"/>
          <p:nvPr/>
        </p:nvSpPr>
        <p:spPr>
          <a:xfrm>
            <a:off x="685800" y="1536192"/>
            <a:ext cx="420624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PREDICTED PEAK ACCELERATION  ·  MILLI-g  ·  5-YEAR RETURN</a:t>
            </a:r>
          </a:p>
        </p:txBody>
      </p:sp>
      <p:sp>
        <p:nvSpPr>
          <p:cNvPr id="7" name="Rounded Rectangle 6"/>
          <p:cNvSpPr/>
          <p:nvPr/>
        </p:nvSpPr>
        <p:spPr>
          <a:xfrm>
            <a:off x="7223760" y="1463040"/>
            <a:ext cx="4325112" cy="3977639"/>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42048" y="1463040"/>
            <a:ext cx="4288536"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572768"/>
            <a:ext cx="393192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34D399"/>
                </a:solidFill>
                <a:latin typeface="Segoe UI"/>
              </a:rPr>
              <a:t>THE FEEDBACK LOOP</a:t>
            </a:r>
          </a:p>
        </p:txBody>
      </p:sp>
      <p:sp>
        <p:nvSpPr>
          <p:cNvPr id="10" name="Oval 9"/>
          <p:cNvSpPr/>
          <p:nvPr/>
        </p:nvSpPr>
        <p:spPr>
          <a:xfrm>
            <a:off x="7443216" y="1883664"/>
            <a:ext cx="310896" cy="310896"/>
          </a:xfrm>
          <a:prstGeom prst="ellipse">
            <a:avLst/>
          </a:prstGeom>
          <a:solidFill>
            <a:srgbClr val="22D3EE">
              <a:alpha val="18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43216" y="1920240"/>
            <a:ext cx="310896" cy="219456"/>
          </a:xfrm>
          <a:prstGeom prst="rect">
            <a:avLst/>
          </a:prstGeom>
          <a:noFill/>
        </p:spPr>
        <p:txBody>
          <a:bodyPr wrap="square" lIns="0" rIns="0" tIns="0" bIns="0" anchor="t">
            <a:noAutofit/>
          </a:bodyPr>
          <a:lstStyle/>
          <a:p>
            <a:pPr algn="ctr">
              <a:lnSpc>
                <a:spcPct val="110000"/>
              </a:lnSpc>
              <a:spcBef>
                <a:spcPts val="0"/>
              </a:spcBef>
              <a:spcAft>
                <a:spcPts val="0"/>
              </a:spcAft>
            </a:pPr>
            <a:r>
              <a:rPr sz="700" b="1" i="0">
                <a:solidFill>
                  <a:srgbClr val="22D3EE"/>
                </a:solidFill>
                <a:latin typeface="Segoe UI"/>
              </a:rPr>
              <a:t>01</a:t>
            </a:r>
          </a:p>
        </p:txBody>
      </p:sp>
      <p:sp>
        <p:nvSpPr>
          <p:cNvPr id="12" name="TextBox 11"/>
          <p:cNvSpPr txBox="1"/>
          <p:nvPr/>
        </p:nvSpPr>
        <p:spPr>
          <a:xfrm>
            <a:off x="7882127" y="1865376"/>
            <a:ext cx="3566160" cy="237744"/>
          </a:xfrm>
          <a:prstGeom prst="rect">
            <a:avLst/>
          </a:prstGeom>
          <a:noFill/>
        </p:spPr>
        <p:txBody>
          <a:bodyPr wrap="square" lIns="0" rIns="0" tIns="0" bIns="0" anchor="t">
            <a:noAutofit/>
          </a:bodyPr>
          <a:lstStyle/>
          <a:p>
            <a:pPr algn="l">
              <a:lnSpc>
                <a:spcPct val="110000"/>
              </a:lnSpc>
              <a:spcBef>
                <a:spcPts val="0"/>
              </a:spcBef>
              <a:spcAft>
                <a:spcPts val="0"/>
              </a:spcAft>
            </a:pPr>
            <a:r>
              <a:rPr sz="960" b="1" i="0">
                <a:solidFill>
                  <a:srgbClr val="E8EEF7"/>
                </a:solidFill>
                <a:latin typeface="Segoe UI"/>
              </a:rPr>
              <a:t>Shape</a:t>
            </a:r>
          </a:p>
        </p:txBody>
      </p:sp>
      <p:sp>
        <p:nvSpPr>
          <p:cNvPr id="13" name="TextBox 12"/>
          <p:cNvSpPr txBox="1"/>
          <p:nvPr/>
        </p:nvSpPr>
        <p:spPr>
          <a:xfrm>
            <a:off x="7882127" y="2103120"/>
            <a:ext cx="35661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Move the wings, change the setbacks, adjust taper.</a:t>
            </a:r>
          </a:p>
        </p:txBody>
      </p:sp>
      <p:cxnSp>
        <p:nvCxnSpPr>
          <p:cNvPr id="14" name="Connector 13"/>
          <p:cNvCxnSpPr/>
          <p:nvPr/>
        </p:nvCxnSpPr>
        <p:spPr>
          <a:xfrm>
            <a:off x="7598664" y="2212848"/>
            <a:ext cx="0" cy="329184"/>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7562088" y="2487168"/>
            <a:ext cx="73152" cy="91440"/>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43216" y="2542032"/>
            <a:ext cx="310896" cy="310896"/>
          </a:xfrm>
          <a:prstGeom prst="ellipse">
            <a:avLst/>
          </a:prstGeom>
          <a:solidFill>
            <a:srgbClr val="60A5FA">
              <a:alpha val="18000"/>
            </a:srgbClr>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43216" y="2578608"/>
            <a:ext cx="310896" cy="219456"/>
          </a:xfrm>
          <a:prstGeom prst="rect">
            <a:avLst/>
          </a:prstGeom>
          <a:noFill/>
        </p:spPr>
        <p:txBody>
          <a:bodyPr wrap="square" lIns="0" rIns="0" tIns="0" bIns="0" anchor="t">
            <a:noAutofit/>
          </a:bodyPr>
          <a:lstStyle/>
          <a:p>
            <a:pPr algn="ctr">
              <a:lnSpc>
                <a:spcPct val="110000"/>
              </a:lnSpc>
              <a:spcBef>
                <a:spcPts val="0"/>
              </a:spcBef>
              <a:spcAft>
                <a:spcPts val="0"/>
              </a:spcAft>
            </a:pPr>
            <a:r>
              <a:rPr sz="700" b="1" i="0">
                <a:solidFill>
                  <a:srgbClr val="60A5FA"/>
                </a:solidFill>
                <a:latin typeface="Segoe UI"/>
              </a:rPr>
              <a:t>02</a:t>
            </a:r>
          </a:p>
        </p:txBody>
      </p:sp>
      <p:sp>
        <p:nvSpPr>
          <p:cNvPr id="18" name="TextBox 17"/>
          <p:cNvSpPr txBox="1"/>
          <p:nvPr/>
        </p:nvSpPr>
        <p:spPr>
          <a:xfrm>
            <a:off x="7882127" y="2523744"/>
            <a:ext cx="3566160" cy="237744"/>
          </a:xfrm>
          <a:prstGeom prst="rect">
            <a:avLst/>
          </a:prstGeom>
          <a:noFill/>
        </p:spPr>
        <p:txBody>
          <a:bodyPr wrap="square" lIns="0" rIns="0" tIns="0" bIns="0" anchor="t">
            <a:noAutofit/>
          </a:bodyPr>
          <a:lstStyle/>
          <a:p>
            <a:pPr algn="l">
              <a:lnSpc>
                <a:spcPct val="110000"/>
              </a:lnSpc>
              <a:spcBef>
                <a:spcPts val="0"/>
              </a:spcBef>
              <a:spcAft>
                <a:spcPts val="0"/>
              </a:spcAft>
            </a:pPr>
            <a:r>
              <a:rPr sz="960" b="1" i="0">
                <a:solidFill>
                  <a:srgbClr val="E8EEF7"/>
                </a:solidFill>
                <a:latin typeface="Segoe UI"/>
              </a:rPr>
              <a:t>Test</a:t>
            </a:r>
          </a:p>
        </p:txBody>
      </p:sp>
      <p:sp>
        <p:nvSpPr>
          <p:cNvPr id="19" name="TextBox 18"/>
          <p:cNvSpPr txBox="1"/>
          <p:nvPr/>
        </p:nvSpPr>
        <p:spPr>
          <a:xfrm>
            <a:off x="7882127" y="2761488"/>
            <a:ext cx="35661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Aeroelastic model in the boundary layer; directional tests.</a:t>
            </a:r>
          </a:p>
        </p:txBody>
      </p:sp>
      <p:cxnSp>
        <p:nvCxnSpPr>
          <p:cNvPr id="20" name="Connector 19"/>
          <p:cNvCxnSpPr/>
          <p:nvPr/>
        </p:nvCxnSpPr>
        <p:spPr>
          <a:xfrm>
            <a:off x="7598664" y="2871216"/>
            <a:ext cx="0" cy="329184"/>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21" name="Right Arrow 20"/>
          <p:cNvSpPr/>
          <p:nvPr/>
        </p:nvSpPr>
        <p:spPr>
          <a:xfrm>
            <a:off x="7562088" y="3145536"/>
            <a:ext cx="73152" cy="91440"/>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43216" y="3200400"/>
            <a:ext cx="310896" cy="310896"/>
          </a:xfrm>
          <a:prstGeom prst="ellipse">
            <a:avLst/>
          </a:prstGeom>
          <a:solidFill>
            <a:srgbClr val="F59E0B">
              <a:alpha val="18000"/>
            </a:srgbClr>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3216" y="3236976"/>
            <a:ext cx="310896" cy="219456"/>
          </a:xfrm>
          <a:prstGeom prst="rect">
            <a:avLst/>
          </a:prstGeom>
          <a:noFill/>
        </p:spPr>
        <p:txBody>
          <a:bodyPr wrap="square" lIns="0" rIns="0" tIns="0" bIns="0" anchor="t">
            <a:noAutofit/>
          </a:bodyPr>
          <a:lstStyle/>
          <a:p>
            <a:pPr algn="ctr">
              <a:lnSpc>
                <a:spcPct val="110000"/>
              </a:lnSpc>
              <a:spcBef>
                <a:spcPts val="0"/>
              </a:spcBef>
              <a:spcAft>
                <a:spcPts val="0"/>
              </a:spcAft>
            </a:pPr>
            <a:r>
              <a:rPr sz="700" b="1" i="0">
                <a:solidFill>
                  <a:srgbClr val="F59E0B"/>
                </a:solidFill>
                <a:latin typeface="Segoe UI"/>
              </a:rPr>
              <a:t>03</a:t>
            </a:r>
          </a:p>
        </p:txBody>
      </p:sp>
      <p:sp>
        <p:nvSpPr>
          <p:cNvPr id="24" name="TextBox 23"/>
          <p:cNvSpPr txBox="1"/>
          <p:nvPr/>
        </p:nvSpPr>
        <p:spPr>
          <a:xfrm>
            <a:off x="7882127" y="3182112"/>
            <a:ext cx="3566160" cy="237744"/>
          </a:xfrm>
          <a:prstGeom prst="rect">
            <a:avLst/>
          </a:prstGeom>
          <a:noFill/>
        </p:spPr>
        <p:txBody>
          <a:bodyPr wrap="square" lIns="0" rIns="0" tIns="0" bIns="0" anchor="t">
            <a:noAutofit/>
          </a:bodyPr>
          <a:lstStyle/>
          <a:p>
            <a:pPr algn="l">
              <a:lnSpc>
                <a:spcPct val="110000"/>
              </a:lnSpc>
              <a:spcBef>
                <a:spcPts val="0"/>
              </a:spcBef>
              <a:spcAft>
                <a:spcPts val="0"/>
              </a:spcAft>
            </a:pPr>
            <a:r>
              <a:rPr sz="960" b="1" i="0">
                <a:solidFill>
                  <a:srgbClr val="E8EEF7"/>
                </a:solidFill>
                <a:latin typeface="Segoe UI"/>
              </a:rPr>
              <a:t>Compare</a:t>
            </a:r>
          </a:p>
        </p:txBody>
      </p:sp>
      <p:sp>
        <p:nvSpPr>
          <p:cNvPr id="25" name="TextBox 24"/>
          <p:cNvSpPr txBox="1"/>
          <p:nvPr/>
        </p:nvSpPr>
        <p:spPr>
          <a:xfrm>
            <a:off x="7882127" y="3419856"/>
            <a:ext cx="35661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Base moments and accelerations against criteria.</a:t>
            </a:r>
          </a:p>
        </p:txBody>
      </p:sp>
      <p:cxnSp>
        <p:nvCxnSpPr>
          <p:cNvPr id="26" name="Connector 25"/>
          <p:cNvCxnSpPr/>
          <p:nvPr/>
        </p:nvCxnSpPr>
        <p:spPr>
          <a:xfrm>
            <a:off x="7598664" y="3529584"/>
            <a:ext cx="0" cy="329184"/>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27" name="Right Arrow 26"/>
          <p:cNvSpPr/>
          <p:nvPr/>
        </p:nvSpPr>
        <p:spPr>
          <a:xfrm>
            <a:off x="7562088" y="3803904"/>
            <a:ext cx="73152" cy="91440"/>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43216" y="3858768"/>
            <a:ext cx="310896" cy="310896"/>
          </a:xfrm>
          <a:prstGeom prst="ellipse">
            <a:avLst/>
          </a:prstGeom>
          <a:solidFill>
            <a:srgbClr val="34D399">
              <a:alpha val="18000"/>
            </a:srgbClr>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3895344"/>
            <a:ext cx="310896" cy="219456"/>
          </a:xfrm>
          <a:prstGeom prst="rect">
            <a:avLst/>
          </a:prstGeom>
          <a:noFill/>
        </p:spPr>
        <p:txBody>
          <a:bodyPr wrap="square" lIns="0" rIns="0" tIns="0" bIns="0" anchor="t">
            <a:noAutofit/>
          </a:bodyPr>
          <a:lstStyle/>
          <a:p>
            <a:pPr algn="ctr">
              <a:lnSpc>
                <a:spcPct val="110000"/>
              </a:lnSpc>
              <a:spcBef>
                <a:spcPts val="0"/>
              </a:spcBef>
              <a:spcAft>
                <a:spcPts val="0"/>
              </a:spcAft>
            </a:pPr>
            <a:r>
              <a:rPr sz="700" b="1" i="0">
                <a:solidFill>
                  <a:srgbClr val="34D399"/>
                </a:solidFill>
                <a:latin typeface="Segoe UI"/>
              </a:rPr>
              <a:t>04</a:t>
            </a:r>
          </a:p>
        </p:txBody>
      </p:sp>
      <p:sp>
        <p:nvSpPr>
          <p:cNvPr id="30" name="TextBox 29"/>
          <p:cNvSpPr txBox="1"/>
          <p:nvPr/>
        </p:nvSpPr>
        <p:spPr>
          <a:xfrm>
            <a:off x="7882127" y="3840480"/>
            <a:ext cx="3566160" cy="237744"/>
          </a:xfrm>
          <a:prstGeom prst="rect">
            <a:avLst/>
          </a:prstGeom>
          <a:noFill/>
        </p:spPr>
        <p:txBody>
          <a:bodyPr wrap="square" lIns="0" rIns="0" tIns="0" bIns="0" anchor="t">
            <a:noAutofit/>
          </a:bodyPr>
          <a:lstStyle/>
          <a:p>
            <a:pPr algn="l">
              <a:lnSpc>
                <a:spcPct val="110000"/>
              </a:lnSpc>
              <a:spcBef>
                <a:spcPts val="0"/>
              </a:spcBef>
              <a:spcAft>
                <a:spcPts val="0"/>
              </a:spcAft>
            </a:pPr>
            <a:r>
              <a:rPr sz="960" b="1" i="0">
                <a:solidFill>
                  <a:srgbClr val="E8EEF7"/>
                </a:solidFill>
                <a:latin typeface="Segoe UI"/>
              </a:rPr>
              <a:t>Refine</a:t>
            </a:r>
          </a:p>
        </p:txBody>
      </p:sp>
      <p:sp>
        <p:nvSpPr>
          <p:cNvPr id="31" name="TextBox 30"/>
          <p:cNvSpPr txBox="1"/>
          <p:nvPr/>
        </p:nvSpPr>
        <p:spPr>
          <a:xfrm>
            <a:off x="7882127" y="4078224"/>
            <a:ext cx="35661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Iterate the massing until the response flattens.</a:t>
            </a:r>
          </a:p>
        </p:txBody>
      </p:sp>
      <p:sp>
        <p:nvSpPr>
          <p:cNvPr id="32" name="TextBox 31"/>
          <p:cNvSpPr txBox="1"/>
          <p:nvPr/>
        </p:nvSpPr>
        <p:spPr>
          <a:xfrm>
            <a:off x="7406640" y="4681728"/>
            <a:ext cx="3931920" cy="274320"/>
          </a:xfrm>
          <a:prstGeom prst="rect">
            <a:avLst/>
          </a:prstGeom>
          <a:noFill/>
        </p:spPr>
        <p:txBody>
          <a:bodyPr wrap="square" lIns="0" rIns="0" tIns="0" bIns="0" anchor="t">
            <a:noAutofit/>
          </a:bodyPr>
          <a:lstStyle/>
          <a:p>
            <a:pPr algn="l">
              <a:lnSpc>
                <a:spcPct val="110000"/>
              </a:lnSpc>
              <a:spcBef>
                <a:spcPts val="0"/>
              </a:spcBef>
              <a:spcAft>
                <a:spcPts val="0"/>
              </a:spcAft>
            </a:pPr>
            <a:r>
              <a:rPr sz="2200" b="1" i="0">
                <a:solidFill>
                  <a:srgbClr val="34D399"/>
                </a:solidFill>
                <a:latin typeface="Segoe UI Semibold"/>
              </a:rPr>
              <a:t>−68%</a:t>
            </a:r>
          </a:p>
        </p:txBody>
      </p:sp>
      <p:sp>
        <p:nvSpPr>
          <p:cNvPr id="33" name="TextBox 32"/>
          <p:cNvSpPr txBox="1"/>
          <p:nvPr/>
        </p:nvSpPr>
        <p:spPr>
          <a:xfrm>
            <a:off x="8412480" y="4754880"/>
            <a:ext cx="2926080" cy="274320"/>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peak acceleration vs the May 2003 baseline</a:t>
            </a:r>
          </a:p>
        </p:txBody>
      </p:sp>
      <p:sp>
        <p:nvSpPr>
          <p:cNvPr id="34" name="Rounded Rectangle 33"/>
          <p:cNvSpPr/>
          <p:nvPr/>
        </p:nvSpPr>
        <p:spPr>
          <a:xfrm>
            <a:off x="640080" y="5559552"/>
            <a:ext cx="10911535" cy="45720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58368" y="5559552"/>
            <a:ext cx="10874959"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5669280"/>
            <a:ext cx="10545775" cy="256032"/>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34D399"/>
                </a:solidFill>
                <a:latin typeface="Segoe UI"/>
              </a:rPr>
              <a:t>Result: </a:t>
            </a:r>
            <a:r>
              <a:rPr sz="900" b="0" i="0">
                <a:solidFill>
                  <a:srgbClr val="E8EEF7"/>
                </a:solidFill>
                <a:latin typeface="Segoe UI"/>
              </a:rPr>
              <a:t>12 milli-g satisfies the comfort criterion with no auxiliary damping device — mass, stiffness and geometry did the work.</a:t>
            </a:r>
          </a:p>
        </p:txBody>
      </p:sp>
      <p:sp>
        <p:nvSpPr>
          <p:cNvPr id="37" name="TextBox 36"/>
          <p:cNvSpPr txBox="1"/>
          <p:nvPr/>
        </p:nvSpPr>
        <p:spPr>
          <a:xfrm>
            <a:off x="640080" y="6126480"/>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Acceleration history: Irwin (CTBUH 2005); Baker et al. (2015). Values are aeroelastic predictions at the 5-year return period, not measurements.</a:t>
            </a:r>
          </a:p>
        </p:txBody>
      </p:sp>
      <p:cxnSp>
        <p:nvCxnSpPr>
          <p:cNvPr id="38" name="Connector 37"/>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0" name="TextBox 39"/>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34D399"/>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34D399"/>
                </a:solidFill>
                <a:latin typeface="Segoe UI"/>
              </a:rPr>
              <a:t>OCCUPANT COMFORT</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Comfort is a wind-load case too</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10 / 20</a:t>
            </a:r>
          </a:p>
        </p:txBody>
      </p:sp>
      <p:sp>
        <p:nvSpPr>
          <p:cNvPr id="5" name="TextBox 4"/>
          <p:cNvSpPr txBox="1"/>
          <p:nvPr/>
        </p:nvSpPr>
        <p:spPr>
          <a:xfrm>
            <a:off x="640080" y="1517904"/>
            <a:ext cx="64008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PEAK HORIZONTAL ACCELERATION  ·  5-YEAR RETURN PERIOD</a:t>
            </a:r>
          </a:p>
        </p:txBody>
      </p:sp>
      <p:sp>
        <p:nvSpPr>
          <p:cNvPr id="6" name="Rectangle 5"/>
          <p:cNvSpPr/>
          <p:nvPr/>
        </p:nvSpPr>
        <p:spPr>
          <a:xfrm>
            <a:off x="914400" y="1828800"/>
            <a:ext cx="1280160" cy="420624"/>
          </a:xfrm>
          <a:prstGeom prst="rect">
            <a:avLst/>
          </a:prstGeom>
          <a:solidFill>
            <a:srgbClr val="207A5F">
              <a:alpha val="55000"/>
            </a:srgbClr>
          </a:solidFill>
          <a:ln w="1524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86000"/>
            <a:ext cx="1280160" cy="182880"/>
          </a:xfrm>
          <a:prstGeom prst="rect">
            <a:avLst/>
          </a:prstGeom>
          <a:noFill/>
        </p:spPr>
        <p:txBody>
          <a:bodyPr wrap="square" lIns="0" rIns="0" tIns="0" bIns="0" anchor="t">
            <a:noAutofit/>
          </a:bodyPr>
          <a:lstStyle/>
          <a:p>
            <a:pPr algn="ctr">
              <a:lnSpc>
                <a:spcPct val="110000"/>
              </a:lnSpc>
              <a:spcBef>
                <a:spcPts val="0"/>
              </a:spcBef>
              <a:spcAft>
                <a:spcPts val="0"/>
              </a:spcAft>
            </a:pPr>
            <a:r>
              <a:rPr sz="640" b="0" i="0">
                <a:solidFill>
                  <a:srgbClr val="64748B"/>
                </a:solidFill>
                <a:latin typeface="Segoe UI"/>
              </a:rPr>
              <a:t>IMPERCEPTIBLE</a:t>
            </a:r>
          </a:p>
        </p:txBody>
      </p:sp>
      <p:sp>
        <p:nvSpPr>
          <p:cNvPr id="8" name="Rectangle 7"/>
          <p:cNvSpPr/>
          <p:nvPr/>
        </p:nvSpPr>
        <p:spPr>
          <a:xfrm>
            <a:off x="2194560" y="1828800"/>
            <a:ext cx="1280160" cy="420624"/>
          </a:xfrm>
          <a:prstGeom prst="rect">
            <a:avLst/>
          </a:prstGeom>
          <a:solidFill>
            <a:srgbClr val="208E84">
              <a:alpha val="55000"/>
            </a:srgbClr>
          </a:solidFill>
          <a:ln w="1524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2286000"/>
            <a:ext cx="1280160" cy="182880"/>
          </a:xfrm>
          <a:prstGeom prst="rect">
            <a:avLst/>
          </a:prstGeom>
          <a:noFill/>
        </p:spPr>
        <p:txBody>
          <a:bodyPr wrap="square" lIns="0" rIns="0" tIns="0" bIns="0" anchor="t">
            <a:noAutofit/>
          </a:bodyPr>
          <a:lstStyle/>
          <a:p>
            <a:pPr algn="ctr">
              <a:lnSpc>
                <a:spcPct val="110000"/>
              </a:lnSpc>
              <a:spcBef>
                <a:spcPts val="0"/>
              </a:spcBef>
              <a:spcAft>
                <a:spcPts val="0"/>
              </a:spcAft>
            </a:pPr>
            <a:r>
              <a:rPr sz="640" b="0" i="0">
                <a:solidFill>
                  <a:srgbClr val="64748B"/>
                </a:solidFill>
                <a:latin typeface="Segoe UI"/>
              </a:rPr>
              <a:t>PERCEPTIBLE</a:t>
            </a:r>
          </a:p>
        </p:txBody>
      </p:sp>
      <p:sp>
        <p:nvSpPr>
          <p:cNvPr id="10" name="Rectangle 9"/>
          <p:cNvSpPr/>
          <p:nvPr/>
        </p:nvSpPr>
        <p:spPr>
          <a:xfrm>
            <a:off x="3474720" y="1828800"/>
            <a:ext cx="1280160" cy="420624"/>
          </a:xfrm>
          <a:prstGeom prst="rect">
            <a:avLst/>
          </a:prstGeom>
          <a:solidFill>
            <a:srgbClr val="2BAB7F">
              <a:alpha val="55000"/>
            </a:srgbClr>
          </a:solidFill>
          <a:ln w="1524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286000"/>
            <a:ext cx="1280160" cy="182880"/>
          </a:xfrm>
          <a:prstGeom prst="rect">
            <a:avLst/>
          </a:prstGeom>
          <a:noFill/>
        </p:spPr>
        <p:txBody>
          <a:bodyPr wrap="square" lIns="0" rIns="0" tIns="0" bIns="0" anchor="t">
            <a:noAutofit/>
          </a:bodyPr>
          <a:lstStyle/>
          <a:p>
            <a:pPr algn="ctr">
              <a:lnSpc>
                <a:spcPct val="110000"/>
              </a:lnSpc>
              <a:spcBef>
                <a:spcPts val="0"/>
              </a:spcBef>
              <a:spcAft>
                <a:spcPts val="0"/>
              </a:spcAft>
            </a:pPr>
            <a:r>
              <a:rPr sz="640" b="0" i="0">
                <a:solidFill>
                  <a:srgbClr val="64748B"/>
                </a:solidFill>
                <a:latin typeface="Segoe UI"/>
              </a:rPr>
              <a:t>RESIDENTIAL TARGET</a:t>
            </a:r>
          </a:p>
        </p:txBody>
      </p:sp>
      <p:sp>
        <p:nvSpPr>
          <p:cNvPr id="12" name="Rectangle 11"/>
          <p:cNvSpPr/>
          <p:nvPr/>
        </p:nvSpPr>
        <p:spPr>
          <a:xfrm>
            <a:off x="4754879" y="1828800"/>
            <a:ext cx="2560320" cy="420624"/>
          </a:xfrm>
          <a:prstGeom prst="rect">
            <a:avLst/>
          </a:prstGeom>
          <a:solidFill>
            <a:srgbClr val="C5810D">
              <a:alpha val="55000"/>
            </a:srgbClr>
          </a:solidFill>
          <a:ln w="1524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2286000"/>
            <a:ext cx="2560320" cy="182880"/>
          </a:xfrm>
          <a:prstGeom prst="rect">
            <a:avLst/>
          </a:prstGeom>
          <a:noFill/>
        </p:spPr>
        <p:txBody>
          <a:bodyPr wrap="square" lIns="0" rIns="0" tIns="0" bIns="0" anchor="t">
            <a:noAutofit/>
          </a:bodyPr>
          <a:lstStyle/>
          <a:p>
            <a:pPr algn="ctr">
              <a:lnSpc>
                <a:spcPct val="110000"/>
              </a:lnSpc>
              <a:spcBef>
                <a:spcPts val="0"/>
              </a:spcBef>
              <a:spcAft>
                <a:spcPts val="0"/>
              </a:spcAft>
            </a:pPr>
            <a:r>
              <a:rPr sz="640" b="0" i="0">
                <a:solidFill>
                  <a:srgbClr val="64748B"/>
                </a:solidFill>
                <a:latin typeface="Segoe UI"/>
              </a:rPr>
              <a:t>ABOVE TARGET</a:t>
            </a:r>
          </a:p>
        </p:txBody>
      </p:sp>
      <p:sp>
        <p:nvSpPr>
          <p:cNvPr id="14" name="Rectangle 13"/>
          <p:cNvSpPr/>
          <p:nvPr/>
        </p:nvSpPr>
        <p:spPr>
          <a:xfrm>
            <a:off x="7315200" y="1828800"/>
            <a:ext cx="3840479" cy="420624"/>
          </a:xfrm>
          <a:prstGeom prst="rect">
            <a:avLst/>
          </a:prstGeom>
          <a:solidFill>
            <a:srgbClr val="B05356">
              <a:alpha val="55000"/>
            </a:srgbClr>
          </a:solidFill>
          <a:ln w="1524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2286000"/>
            <a:ext cx="3840479" cy="182880"/>
          </a:xfrm>
          <a:prstGeom prst="rect">
            <a:avLst/>
          </a:prstGeom>
          <a:noFill/>
        </p:spPr>
        <p:txBody>
          <a:bodyPr wrap="square" lIns="0" rIns="0" tIns="0" bIns="0" anchor="t">
            <a:noAutofit/>
          </a:bodyPr>
          <a:lstStyle/>
          <a:p>
            <a:pPr algn="ctr">
              <a:lnSpc>
                <a:spcPct val="110000"/>
              </a:lnSpc>
              <a:spcBef>
                <a:spcPts val="0"/>
              </a:spcBef>
              <a:spcAft>
                <a:spcPts val="0"/>
              </a:spcAft>
            </a:pPr>
            <a:r>
              <a:rPr sz="640" b="0" i="0">
                <a:solidFill>
                  <a:srgbClr val="64748B"/>
                </a:solidFill>
                <a:latin typeface="Segoe UI"/>
              </a:rPr>
              <a:t>UNACCEPTABLE</a:t>
            </a:r>
          </a:p>
        </p:txBody>
      </p:sp>
      <p:cxnSp>
        <p:nvCxnSpPr>
          <p:cNvPr id="16" name="Connector 15"/>
          <p:cNvCxnSpPr/>
          <p:nvPr/>
        </p:nvCxnSpPr>
        <p:spPr>
          <a:xfrm flipV="1">
            <a:off x="91440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0</a:t>
            </a:r>
          </a:p>
        </p:txBody>
      </p:sp>
      <p:cxnSp>
        <p:nvCxnSpPr>
          <p:cNvPr id="18" name="Connector 17"/>
          <p:cNvCxnSpPr/>
          <p:nvPr/>
        </p:nvCxnSpPr>
        <p:spPr>
          <a:xfrm flipV="1">
            <a:off x="219456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11679"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5</a:t>
            </a:r>
          </a:p>
        </p:txBody>
      </p:sp>
      <p:cxnSp>
        <p:nvCxnSpPr>
          <p:cNvPr id="20" name="Connector 19"/>
          <p:cNvCxnSpPr/>
          <p:nvPr/>
        </p:nvCxnSpPr>
        <p:spPr>
          <a:xfrm flipV="1">
            <a:off x="347472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291839"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10</a:t>
            </a:r>
          </a:p>
        </p:txBody>
      </p:sp>
      <p:cxnSp>
        <p:nvCxnSpPr>
          <p:cNvPr id="22" name="Connector 21"/>
          <p:cNvCxnSpPr/>
          <p:nvPr/>
        </p:nvCxnSpPr>
        <p:spPr>
          <a:xfrm flipV="1">
            <a:off x="4754879"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1999"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15</a:t>
            </a:r>
          </a:p>
        </p:txBody>
      </p:sp>
      <p:cxnSp>
        <p:nvCxnSpPr>
          <p:cNvPr id="24" name="Connector 23"/>
          <p:cNvCxnSpPr/>
          <p:nvPr/>
        </p:nvCxnSpPr>
        <p:spPr>
          <a:xfrm flipV="1">
            <a:off x="603504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852159"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20</a:t>
            </a:r>
          </a:p>
        </p:txBody>
      </p:sp>
      <p:cxnSp>
        <p:nvCxnSpPr>
          <p:cNvPr id="26" name="Connector 25"/>
          <p:cNvCxnSpPr/>
          <p:nvPr/>
        </p:nvCxnSpPr>
        <p:spPr>
          <a:xfrm flipV="1">
            <a:off x="731520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32320"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25</a:t>
            </a:r>
          </a:p>
        </p:txBody>
      </p:sp>
      <p:cxnSp>
        <p:nvCxnSpPr>
          <p:cNvPr id="28" name="Connector 27"/>
          <p:cNvCxnSpPr/>
          <p:nvPr/>
        </p:nvCxnSpPr>
        <p:spPr>
          <a:xfrm flipV="1">
            <a:off x="8595359"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12480"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30</a:t>
            </a:r>
          </a:p>
        </p:txBody>
      </p:sp>
      <p:cxnSp>
        <p:nvCxnSpPr>
          <p:cNvPr id="30" name="Connector 29"/>
          <p:cNvCxnSpPr/>
          <p:nvPr/>
        </p:nvCxnSpPr>
        <p:spPr>
          <a:xfrm flipV="1">
            <a:off x="9875519"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92640"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35</a:t>
            </a:r>
          </a:p>
        </p:txBody>
      </p:sp>
      <p:cxnSp>
        <p:nvCxnSpPr>
          <p:cNvPr id="32" name="Connector 31"/>
          <p:cNvCxnSpPr/>
          <p:nvPr/>
        </p:nvCxnSpPr>
        <p:spPr>
          <a:xfrm flipV="1">
            <a:off x="11155680" y="1773936"/>
            <a:ext cx="0" cy="54864"/>
          </a:xfrm>
          <a:prstGeom prst="line">
            <a:avLst/>
          </a:prstGeom>
          <a:ln w="9525">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972800" y="2450592"/>
            <a:ext cx="365760" cy="182880"/>
          </a:xfrm>
          <a:prstGeom prst="rect">
            <a:avLst/>
          </a:prstGeom>
          <a:noFill/>
        </p:spPr>
        <p:txBody>
          <a:bodyPr wrap="square" lIns="0" rIns="0" tIns="0" bIns="0" anchor="t">
            <a:noAutofit/>
          </a:bodyPr>
          <a:lstStyle/>
          <a:p>
            <a:pPr algn="ctr">
              <a:lnSpc>
                <a:spcPct val="110000"/>
              </a:lnSpc>
              <a:spcBef>
                <a:spcPts val="0"/>
              </a:spcBef>
              <a:spcAft>
                <a:spcPts val="0"/>
              </a:spcAft>
            </a:pPr>
            <a:r>
              <a:rPr sz="680" b="0" i="0">
                <a:solidFill>
                  <a:srgbClr val="94A3B8"/>
                </a:solidFill>
                <a:latin typeface="Segoe UI"/>
              </a:rPr>
              <a:t>40</a:t>
            </a:r>
          </a:p>
        </p:txBody>
      </p:sp>
      <p:sp>
        <p:nvSpPr>
          <p:cNvPr id="34" name="TextBox 33"/>
          <p:cNvSpPr txBox="1"/>
          <p:nvPr/>
        </p:nvSpPr>
        <p:spPr>
          <a:xfrm>
            <a:off x="11265407" y="1901952"/>
            <a:ext cx="914400" cy="274320"/>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94A3B8"/>
                </a:solidFill>
                <a:latin typeface="Segoe UI"/>
              </a:rPr>
              <a:t>mg</a:t>
            </a:r>
          </a:p>
        </p:txBody>
      </p:sp>
      <p:cxnSp>
        <p:nvCxnSpPr>
          <p:cNvPr id="35" name="Connector 34"/>
          <p:cNvCxnSpPr/>
          <p:nvPr/>
        </p:nvCxnSpPr>
        <p:spPr>
          <a:xfrm>
            <a:off x="3986783" y="1572768"/>
            <a:ext cx="0" cy="676656"/>
          </a:xfrm>
          <a:prstGeom prst="line">
            <a:avLst/>
          </a:prstGeom>
          <a:ln w="20320">
            <a:solidFill>
              <a:srgbClr val="E8EEF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46703" y="1325880"/>
            <a:ext cx="1280160" cy="219456"/>
          </a:xfrm>
          <a:prstGeom prst="rect">
            <a:avLst/>
          </a:prstGeom>
          <a:noFill/>
        </p:spPr>
        <p:txBody>
          <a:bodyPr wrap="square" lIns="0" rIns="0" tIns="0" bIns="0" anchor="t">
            <a:noAutofit/>
          </a:bodyPr>
          <a:lstStyle/>
          <a:p>
            <a:pPr algn="ctr">
              <a:lnSpc>
                <a:spcPct val="110000"/>
              </a:lnSpc>
              <a:spcBef>
                <a:spcPts val="0"/>
              </a:spcBef>
              <a:spcAft>
                <a:spcPts val="0"/>
              </a:spcAft>
            </a:pPr>
            <a:r>
              <a:rPr sz="840" b="1" i="0">
                <a:solidFill>
                  <a:srgbClr val="E8EEF7"/>
                </a:solidFill>
                <a:latin typeface="Segoe UI"/>
              </a:rPr>
              <a:t>BURJ 12 mg</a:t>
            </a:r>
          </a:p>
        </p:txBody>
      </p:sp>
      <p:sp>
        <p:nvSpPr>
          <p:cNvPr id="37" name="TextBox 36"/>
          <p:cNvSpPr txBox="1"/>
          <p:nvPr/>
        </p:nvSpPr>
        <p:spPr>
          <a:xfrm>
            <a:off x="640080" y="2788920"/>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TYPICAL 5-YEAR COMFORT TARGETS</a:t>
            </a:r>
          </a:p>
        </p:txBody>
      </p:sp>
      <p:cxnSp>
        <p:nvCxnSpPr>
          <p:cNvPr id="38" name="Connector 37"/>
          <p:cNvCxnSpPr/>
          <p:nvPr/>
        </p:nvCxnSpPr>
        <p:spPr>
          <a:xfrm>
            <a:off x="640080" y="3200400"/>
            <a:ext cx="5120640"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3328416"/>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860" b="1" i="0">
                <a:solidFill>
                  <a:srgbClr val="E8EEF7"/>
                </a:solidFill>
                <a:latin typeface="Segoe UI"/>
              </a:rPr>
              <a:t>Residential</a:t>
            </a:r>
          </a:p>
        </p:txBody>
      </p:sp>
      <p:sp>
        <p:nvSpPr>
          <p:cNvPr id="40" name="TextBox 39"/>
          <p:cNvSpPr txBox="1"/>
          <p:nvPr/>
        </p:nvSpPr>
        <p:spPr>
          <a:xfrm>
            <a:off x="2148840" y="3310128"/>
            <a:ext cx="1234440" cy="237744"/>
          </a:xfrm>
          <a:prstGeom prst="rect">
            <a:avLst/>
          </a:prstGeom>
          <a:noFill/>
        </p:spPr>
        <p:txBody>
          <a:bodyPr wrap="square" lIns="0" rIns="0" tIns="0" bIns="0" anchor="t">
            <a:noAutofit/>
          </a:bodyPr>
          <a:lstStyle/>
          <a:p>
            <a:pPr algn="l">
              <a:lnSpc>
                <a:spcPct val="110000"/>
              </a:lnSpc>
              <a:spcBef>
                <a:spcPts val="0"/>
              </a:spcBef>
              <a:spcAft>
                <a:spcPts val="0"/>
              </a:spcAft>
            </a:pPr>
            <a:r>
              <a:rPr sz="1000" b="1" i="0">
                <a:solidFill>
                  <a:srgbClr val="34D399"/>
                </a:solidFill>
                <a:latin typeface="Segoe UI Semibold"/>
              </a:rPr>
              <a:t>10 – 15 mg</a:t>
            </a:r>
          </a:p>
        </p:txBody>
      </p:sp>
      <p:sp>
        <p:nvSpPr>
          <p:cNvPr id="41" name="TextBox 40"/>
          <p:cNvSpPr txBox="1"/>
          <p:nvPr/>
        </p:nvSpPr>
        <p:spPr>
          <a:xfrm>
            <a:off x="3520440" y="3328416"/>
            <a:ext cx="2194560" cy="219456"/>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Burj residences &amp; hotel</a:t>
            </a:r>
          </a:p>
        </p:txBody>
      </p:sp>
      <p:cxnSp>
        <p:nvCxnSpPr>
          <p:cNvPr id="42" name="Connector 41"/>
          <p:cNvCxnSpPr/>
          <p:nvPr/>
        </p:nvCxnSpPr>
        <p:spPr>
          <a:xfrm>
            <a:off x="640080" y="3703320"/>
            <a:ext cx="5120640"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0080" y="3831335"/>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860" b="1" i="0">
                <a:solidFill>
                  <a:srgbClr val="E8EEF7"/>
                </a:solidFill>
                <a:latin typeface="Segoe UI"/>
              </a:rPr>
              <a:t>Hotel</a:t>
            </a:r>
          </a:p>
        </p:txBody>
      </p:sp>
      <p:sp>
        <p:nvSpPr>
          <p:cNvPr id="44" name="TextBox 43"/>
          <p:cNvSpPr txBox="1"/>
          <p:nvPr/>
        </p:nvSpPr>
        <p:spPr>
          <a:xfrm>
            <a:off x="2148840" y="3813048"/>
            <a:ext cx="1234440" cy="237744"/>
          </a:xfrm>
          <a:prstGeom prst="rect">
            <a:avLst/>
          </a:prstGeom>
          <a:noFill/>
        </p:spPr>
        <p:txBody>
          <a:bodyPr wrap="square" lIns="0" rIns="0" tIns="0" bIns="0" anchor="t">
            <a:noAutofit/>
          </a:bodyPr>
          <a:lstStyle/>
          <a:p>
            <a:pPr algn="l">
              <a:lnSpc>
                <a:spcPct val="110000"/>
              </a:lnSpc>
              <a:spcBef>
                <a:spcPts val="0"/>
              </a:spcBef>
              <a:spcAft>
                <a:spcPts val="0"/>
              </a:spcAft>
            </a:pPr>
            <a:r>
              <a:rPr sz="1000" b="1" i="0">
                <a:solidFill>
                  <a:srgbClr val="34D399"/>
                </a:solidFill>
                <a:latin typeface="Segoe UI Semibold"/>
              </a:rPr>
              <a:t>15 – 20 mg</a:t>
            </a:r>
          </a:p>
        </p:txBody>
      </p:sp>
      <p:sp>
        <p:nvSpPr>
          <p:cNvPr id="45" name="TextBox 44"/>
          <p:cNvSpPr txBox="1"/>
          <p:nvPr/>
        </p:nvSpPr>
        <p:spPr>
          <a:xfrm>
            <a:off x="3520440" y="3831335"/>
            <a:ext cx="2194560" cy="219456"/>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Armani Hotel floors</a:t>
            </a:r>
          </a:p>
        </p:txBody>
      </p:sp>
      <p:cxnSp>
        <p:nvCxnSpPr>
          <p:cNvPr id="46" name="Connector 45"/>
          <p:cNvCxnSpPr/>
          <p:nvPr/>
        </p:nvCxnSpPr>
        <p:spPr>
          <a:xfrm>
            <a:off x="640080" y="4206240"/>
            <a:ext cx="5120640"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4334255"/>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860" b="1" i="0">
                <a:solidFill>
                  <a:srgbClr val="E8EEF7"/>
                </a:solidFill>
                <a:latin typeface="Segoe UI"/>
              </a:rPr>
              <a:t>Office</a:t>
            </a:r>
          </a:p>
        </p:txBody>
      </p:sp>
      <p:sp>
        <p:nvSpPr>
          <p:cNvPr id="48" name="TextBox 47"/>
          <p:cNvSpPr txBox="1"/>
          <p:nvPr/>
        </p:nvSpPr>
        <p:spPr>
          <a:xfrm>
            <a:off x="2148840" y="4315968"/>
            <a:ext cx="1234440" cy="237744"/>
          </a:xfrm>
          <a:prstGeom prst="rect">
            <a:avLst/>
          </a:prstGeom>
          <a:noFill/>
        </p:spPr>
        <p:txBody>
          <a:bodyPr wrap="square" lIns="0" rIns="0" tIns="0" bIns="0" anchor="t">
            <a:noAutofit/>
          </a:bodyPr>
          <a:lstStyle/>
          <a:p>
            <a:pPr algn="l">
              <a:lnSpc>
                <a:spcPct val="110000"/>
              </a:lnSpc>
              <a:spcBef>
                <a:spcPts val="0"/>
              </a:spcBef>
              <a:spcAft>
                <a:spcPts val="0"/>
              </a:spcAft>
            </a:pPr>
            <a:r>
              <a:rPr sz="1000" b="1" i="0">
                <a:solidFill>
                  <a:srgbClr val="34D399"/>
                </a:solidFill>
                <a:latin typeface="Segoe UI Semibold"/>
              </a:rPr>
              <a:t>20 – 25 mg</a:t>
            </a:r>
          </a:p>
        </p:txBody>
      </p:sp>
      <p:sp>
        <p:nvSpPr>
          <p:cNvPr id="49" name="TextBox 48"/>
          <p:cNvSpPr txBox="1"/>
          <p:nvPr/>
        </p:nvSpPr>
        <p:spPr>
          <a:xfrm>
            <a:off x="3520440" y="4334255"/>
            <a:ext cx="2194560" cy="219456"/>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corporate suites</a:t>
            </a:r>
          </a:p>
        </p:txBody>
      </p:sp>
      <p:cxnSp>
        <p:nvCxnSpPr>
          <p:cNvPr id="50" name="Connector 49"/>
          <p:cNvCxnSpPr/>
          <p:nvPr/>
        </p:nvCxnSpPr>
        <p:spPr>
          <a:xfrm>
            <a:off x="640080" y="4709159"/>
            <a:ext cx="5120640" cy="0"/>
          </a:xfrm>
          <a:prstGeom prst="line">
            <a:avLst/>
          </a:prstGeom>
          <a:ln w="6350">
            <a:solidFill>
              <a:srgbClr val="22314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40080" y="4837175"/>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860" b="1" i="0">
                <a:solidFill>
                  <a:srgbClr val="E8EEF7"/>
                </a:solidFill>
                <a:latin typeface="Segoe UI"/>
              </a:rPr>
              <a:t>Observation</a:t>
            </a:r>
          </a:p>
        </p:txBody>
      </p:sp>
      <p:sp>
        <p:nvSpPr>
          <p:cNvPr id="52" name="TextBox 51"/>
          <p:cNvSpPr txBox="1"/>
          <p:nvPr/>
        </p:nvSpPr>
        <p:spPr>
          <a:xfrm>
            <a:off x="2148840" y="4818888"/>
            <a:ext cx="1234440" cy="237744"/>
          </a:xfrm>
          <a:prstGeom prst="rect">
            <a:avLst/>
          </a:prstGeom>
          <a:noFill/>
        </p:spPr>
        <p:txBody>
          <a:bodyPr wrap="square" lIns="0" rIns="0" tIns="0" bIns="0" anchor="t">
            <a:noAutofit/>
          </a:bodyPr>
          <a:lstStyle/>
          <a:p>
            <a:pPr algn="l">
              <a:lnSpc>
                <a:spcPct val="110000"/>
              </a:lnSpc>
              <a:spcBef>
                <a:spcPts val="0"/>
              </a:spcBef>
              <a:spcAft>
                <a:spcPts val="0"/>
              </a:spcAft>
            </a:pPr>
            <a:r>
              <a:rPr sz="1000" b="1" i="0">
                <a:solidFill>
                  <a:srgbClr val="34D399"/>
                </a:solidFill>
                <a:latin typeface="Segoe UI Semibold"/>
              </a:rPr>
              <a:t>25 – 30 mg</a:t>
            </a:r>
          </a:p>
        </p:txBody>
      </p:sp>
      <p:sp>
        <p:nvSpPr>
          <p:cNvPr id="53" name="TextBox 52"/>
          <p:cNvSpPr txBox="1"/>
          <p:nvPr/>
        </p:nvSpPr>
        <p:spPr>
          <a:xfrm>
            <a:off x="3520440" y="4837175"/>
            <a:ext cx="2194560" cy="219456"/>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At the Top decks</a:t>
            </a:r>
          </a:p>
        </p:txBody>
      </p:sp>
      <p:sp>
        <p:nvSpPr>
          <p:cNvPr id="54" name="TextBox 53"/>
          <p:cNvSpPr txBox="1"/>
          <p:nvPr/>
        </p:nvSpPr>
        <p:spPr>
          <a:xfrm>
            <a:off x="640080" y="5349240"/>
            <a:ext cx="5760720" cy="457200"/>
          </a:xfrm>
          <a:prstGeom prst="rect">
            <a:avLst/>
          </a:prstGeom>
          <a:noFill/>
        </p:spPr>
        <p:txBody>
          <a:bodyPr wrap="square" lIns="0" rIns="0" tIns="0" bIns="0" anchor="t">
            <a:noAutofit/>
          </a:bodyPr>
          <a:lstStyle/>
          <a:p>
            <a:pPr algn="l">
              <a:lnSpc>
                <a:spcPct val="120000"/>
              </a:lnSpc>
              <a:spcBef>
                <a:spcPts val="0"/>
              </a:spcBef>
              <a:spcAft>
                <a:spcPts val="0"/>
              </a:spcAft>
            </a:pPr>
            <a:r>
              <a:rPr sz="720" b="0" i="0">
                <a:solidFill>
                  <a:srgbClr val="64748B"/>
                </a:solidFill>
                <a:latin typeface="Segoe UI"/>
              </a:rPr>
              <a:t>Limits are frequency-dependent and project-specific; the bands above are typical supertall practice, not code minima.</a:t>
            </a:r>
          </a:p>
        </p:txBody>
      </p:sp>
      <p:sp>
        <p:nvSpPr>
          <p:cNvPr id="55" name="Rounded Rectangle 54"/>
          <p:cNvSpPr/>
          <p:nvPr/>
        </p:nvSpPr>
        <p:spPr>
          <a:xfrm>
            <a:off x="6172200" y="2880360"/>
            <a:ext cx="5376672" cy="265176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190488" y="2880360"/>
            <a:ext cx="5340096"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55080" y="2990088"/>
            <a:ext cx="493776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34D399"/>
                </a:solidFill>
                <a:latin typeface="Segoe UI"/>
              </a:rPr>
              <a:t>WHY 12 MILLI-G IS THE RIGHT NUMBER</a:t>
            </a:r>
          </a:p>
        </p:txBody>
      </p:sp>
      <p:sp>
        <p:nvSpPr>
          <p:cNvPr id="58" name="TextBox 57"/>
          <p:cNvSpPr txBox="1"/>
          <p:nvPr/>
        </p:nvSpPr>
        <p:spPr>
          <a:xfrm>
            <a:off x="6355080" y="3310128"/>
            <a:ext cx="146304" cy="146304"/>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34D399"/>
                </a:solidFill>
                <a:latin typeface="Segoe UI"/>
              </a:rPr>
              <a:t>■</a:t>
            </a:r>
          </a:p>
        </p:txBody>
      </p:sp>
      <p:sp>
        <p:nvSpPr>
          <p:cNvPr id="59" name="TextBox 58"/>
          <p:cNvSpPr txBox="1"/>
          <p:nvPr/>
        </p:nvSpPr>
        <p:spPr>
          <a:xfrm>
            <a:off x="6537960" y="3282696"/>
            <a:ext cx="475488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Damping is structural</a:t>
            </a:r>
          </a:p>
        </p:txBody>
      </p:sp>
      <p:sp>
        <p:nvSpPr>
          <p:cNvPr id="60" name="TextBox 59"/>
          <p:cNvSpPr txBox="1"/>
          <p:nvPr/>
        </p:nvSpPr>
        <p:spPr>
          <a:xfrm>
            <a:off x="6537960" y="3502152"/>
            <a:ext cx="4800600" cy="411480"/>
          </a:xfrm>
          <a:prstGeom prst="rect">
            <a:avLst/>
          </a:prstGeom>
          <a:noFill/>
        </p:spPr>
        <p:txBody>
          <a:bodyPr wrap="square" lIns="0" rIns="0" tIns="0" bIns="0" anchor="t">
            <a:noAutofit/>
          </a:bodyPr>
          <a:lstStyle/>
          <a:p>
            <a:pPr algn="l">
              <a:lnSpc>
                <a:spcPct val="118000"/>
              </a:lnSpc>
              <a:spcBef>
                <a:spcPts val="0"/>
              </a:spcBef>
              <a:spcAft>
                <a:spcPts val="0"/>
              </a:spcAft>
            </a:pPr>
            <a:r>
              <a:rPr sz="760" b="0" i="0">
                <a:solidFill>
                  <a:srgbClr val="94A3B8"/>
                </a:solidFill>
                <a:latin typeface="Segoe UI"/>
              </a:rPr>
              <a:t>Concrete core, finishes and foundations give roughly 1–2% of critical — the model must assume the low end.</a:t>
            </a:r>
          </a:p>
        </p:txBody>
      </p:sp>
      <p:sp>
        <p:nvSpPr>
          <p:cNvPr id="61" name="TextBox 60"/>
          <p:cNvSpPr txBox="1"/>
          <p:nvPr/>
        </p:nvSpPr>
        <p:spPr>
          <a:xfrm>
            <a:off x="6355080" y="4023360"/>
            <a:ext cx="146304" cy="146304"/>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34D399"/>
                </a:solidFill>
                <a:latin typeface="Segoe UI"/>
              </a:rPr>
              <a:t>■</a:t>
            </a:r>
          </a:p>
        </p:txBody>
      </p:sp>
      <p:sp>
        <p:nvSpPr>
          <p:cNvPr id="62" name="TextBox 61"/>
          <p:cNvSpPr txBox="1"/>
          <p:nvPr/>
        </p:nvSpPr>
        <p:spPr>
          <a:xfrm>
            <a:off x="6537960" y="3995928"/>
            <a:ext cx="475488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No damper, no fallback</a:t>
            </a:r>
          </a:p>
        </p:txBody>
      </p:sp>
      <p:sp>
        <p:nvSpPr>
          <p:cNvPr id="63" name="TextBox 62"/>
          <p:cNvSpPr txBox="1"/>
          <p:nvPr/>
        </p:nvSpPr>
        <p:spPr>
          <a:xfrm>
            <a:off x="6537960" y="4215384"/>
            <a:ext cx="4800600" cy="411480"/>
          </a:xfrm>
          <a:prstGeom prst="rect">
            <a:avLst/>
          </a:prstGeom>
          <a:noFill/>
        </p:spPr>
        <p:txBody>
          <a:bodyPr wrap="square" lIns="0" rIns="0" tIns="0" bIns="0" anchor="t">
            <a:noAutofit/>
          </a:bodyPr>
          <a:lstStyle/>
          <a:p>
            <a:pPr algn="l">
              <a:lnSpc>
                <a:spcPct val="118000"/>
              </a:lnSpc>
              <a:spcBef>
                <a:spcPts val="0"/>
              </a:spcBef>
              <a:spcAft>
                <a:spcPts val="0"/>
              </a:spcAft>
            </a:pPr>
            <a:r>
              <a:rPr sz="760" b="0" i="0">
                <a:solidFill>
                  <a:srgbClr val="94A3B8"/>
                </a:solidFill>
                <a:latin typeface="Segoe UI"/>
              </a:rPr>
              <a:t>Without a TMD, the margin has to come from geometry and stiffness. 12 mg leaves room for uncertainty.</a:t>
            </a:r>
          </a:p>
        </p:txBody>
      </p:sp>
      <p:sp>
        <p:nvSpPr>
          <p:cNvPr id="64" name="TextBox 63"/>
          <p:cNvSpPr txBox="1"/>
          <p:nvPr/>
        </p:nvSpPr>
        <p:spPr>
          <a:xfrm>
            <a:off x="6355080" y="4736592"/>
            <a:ext cx="146304" cy="146304"/>
          </a:xfrm>
          <a:prstGeom prst="rect">
            <a:avLst/>
          </a:prstGeom>
          <a:noFill/>
        </p:spPr>
        <p:txBody>
          <a:bodyPr wrap="square" lIns="0" rIns="0" tIns="0" bIns="0" anchor="t">
            <a:noAutofit/>
          </a:bodyPr>
          <a:lstStyle/>
          <a:p>
            <a:pPr algn="l">
              <a:lnSpc>
                <a:spcPct val="110000"/>
              </a:lnSpc>
              <a:spcBef>
                <a:spcPts val="0"/>
              </a:spcBef>
              <a:spcAft>
                <a:spcPts val="0"/>
              </a:spcAft>
            </a:pPr>
            <a:r>
              <a:rPr sz="700" b="0" i="0">
                <a:solidFill>
                  <a:srgbClr val="34D399"/>
                </a:solidFill>
                <a:latin typeface="Segoe UI"/>
              </a:rPr>
              <a:t>■</a:t>
            </a:r>
          </a:p>
        </p:txBody>
      </p:sp>
      <p:sp>
        <p:nvSpPr>
          <p:cNvPr id="65" name="TextBox 64"/>
          <p:cNvSpPr txBox="1"/>
          <p:nvPr/>
        </p:nvSpPr>
        <p:spPr>
          <a:xfrm>
            <a:off x="6537960" y="4709160"/>
            <a:ext cx="475488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Serviceability, not safety</a:t>
            </a:r>
          </a:p>
        </p:txBody>
      </p:sp>
      <p:sp>
        <p:nvSpPr>
          <p:cNvPr id="66" name="TextBox 65"/>
          <p:cNvSpPr txBox="1"/>
          <p:nvPr/>
        </p:nvSpPr>
        <p:spPr>
          <a:xfrm>
            <a:off x="6537960" y="4928616"/>
            <a:ext cx="4800600" cy="411480"/>
          </a:xfrm>
          <a:prstGeom prst="rect">
            <a:avLst/>
          </a:prstGeom>
          <a:noFill/>
        </p:spPr>
        <p:txBody>
          <a:bodyPr wrap="square" lIns="0" rIns="0" tIns="0" bIns="0" anchor="t">
            <a:noAutofit/>
          </a:bodyPr>
          <a:lstStyle/>
          <a:p>
            <a:pPr algn="l">
              <a:lnSpc>
                <a:spcPct val="118000"/>
              </a:lnSpc>
              <a:spcBef>
                <a:spcPts val="0"/>
              </a:spcBef>
              <a:spcAft>
                <a:spcPts val="0"/>
              </a:spcAft>
            </a:pPr>
            <a:r>
              <a:rPr sz="760" b="0" i="0">
                <a:solidFill>
                  <a:srgbClr val="94A3B8"/>
                </a:solidFill>
                <a:latin typeface="Segoe UI"/>
              </a:rPr>
              <a:t>Comfort governs the 5-year storm; strength is governed by the 50-year load case.</a:t>
            </a:r>
          </a:p>
        </p:txBody>
      </p:sp>
      <p:sp>
        <p:nvSpPr>
          <p:cNvPr id="67" name="TextBox 66"/>
          <p:cNvSpPr txBox="1"/>
          <p:nvPr/>
        </p:nvSpPr>
        <p:spPr>
          <a:xfrm>
            <a:off x="640080" y="5760720"/>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12 mg: aeroelastic prediction for the 5-year return period (Irwin 2005; Baker et al. 2015). Comfort-band thresholds are illustrative of ISO 10137 practice.</a:t>
            </a:r>
          </a:p>
        </p:txBody>
      </p:sp>
      <p:cxnSp>
        <p:nvCxnSpPr>
          <p:cNvPr id="68" name="Connector 67"/>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70" name="TextBox 69"/>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34D399"/>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A78BFA"/>
                </a:solidFill>
                <a:latin typeface="Segoe UI"/>
              </a:rPr>
              <a:t>STRUCTURAL SYSTEM</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The buttressed core: three wings holding each other up</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11 / 20</a:t>
            </a:r>
          </a:p>
        </p:txBody>
      </p:sp>
      <p:sp>
        <p:nvSpPr>
          <p:cNvPr id="5" name="Rounded Rectangle 4"/>
          <p:cNvSpPr/>
          <p:nvPr/>
        </p:nvSpPr>
        <p:spPr>
          <a:xfrm>
            <a:off x="640080" y="1463040"/>
            <a:ext cx="5989320" cy="4315968"/>
          </a:xfrm>
          <a:prstGeom prst="roundRect">
            <a:avLst>
              <a:gd name="adj" fmla="val 5000"/>
            </a:avLst>
          </a:prstGeom>
          <a:solidFill>
            <a:srgbClr val="0B1424"/>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72768"/>
            <a:ext cx="42062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PLAN  ·  TYPICAL FLOOR  ·  SCHEMATIC</a:t>
            </a:r>
          </a:p>
        </p:txBody>
      </p:sp>
      <p:sp>
        <p:nvSpPr>
          <p:cNvPr id="7" name="Rectangle 6"/>
          <p:cNvSpPr/>
          <p:nvPr/>
        </p:nvSpPr>
        <p:spPr>
          <a:xfrm rot="16200000">
            <a:off x="2491740" y="2491739"/>
            <a:ext cx="1874519" cy="786384"/>
          </a:xfrm>
          <a:prstGeom prst="rect">
            <a:avLst/>
          </a:prstGeom>
          <a:solidFill>
            <a:srgbClr val="A78BFA">
              <a:alpha val="16000"/>
            </a:srgbClr>
          </a:solidFill>
          <a:ln w="20320">
            <a:solidFill>
              <a:srgbClr val="8772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1800000">
            <a:off x="3303430" y="3897630"/>
            <a:ext cx="1874519" cy="786384"/>
          </a:xfrm>
          <a:prstGeom prst="rect">
            <a:avLst/>
          </a:prstGeom>
          <a:solidFill>
            <a:srgbClr val="A78BFA">
              <a:alpha val="16000"/>
            </a:srgbClr>
          </a:solidFill>
          <a:ln w="20320">
            <a:solidFill>
              <a:srgbClr val="8772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9000000">
            <a:off x="1680049" y="3897630"/>
            <a:ext cx="1874519" cy="786384"/>
          </a:xfrm>
          <a:prstGeom prst="rect">
            <a:avLst/>
          </a:prstGeom>
          <a:solidFill>
            <a:srgbClr val="A78BFA">
              <a:alpha val="16000"/>
            </a:srgbClr>
          </a:solidFill>
          <a:ln w="20320">
            <a:solidFill>
              <a:srgbClr val="8772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rot="1800000">
            <a:off x="3082991" y="3476183"/>
            <a:ext cx="692017" cy="692017"/>
          </a:xfrm>
          <a:prstGeom prst="hexagon">
            <a:avLst/>
          </a:prstGeom>
          <a:solidFill>
            <a:srgbClr val="101A2C"/>
          </a:solidFill>
          <a:ln w="20320">
            <a:solidFill>
              <a:srgbClr val="8772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2268626"/>
            <a:ext cx="822960" cy="201168"/>
          </a:xfrm>
          <a:prstGeom prst="rect">
            <a:avLst/>
          </a:prstGeom>
          <a:noFill/>
        </p:spPr>
        <p:txBody>
          <a:bodyPr wrap="square" lIns="0" rIns="0" tIns="0" bIns="0" anchor="t">
            <a:noAutofit/>
          </a:bodyPr>
          <a:lstStyle/>
          <a:p>
            <a:pPr algn="ctr">
              <a:lnSpc>
                <a:spcPct val="110000"/>
              </a:lnSpc>
              <a:spcBef>
                <a:spcPts val="0"/>
              </a:spcBef>
              <a:spcAft>
                <a:spcPts val="0"/>
              </a:spcAft>
            </a:pPr>
            <a:r>
              <a:rPr sz="720" b="1" i="0">
                <a:solidFill>
                  <a:srgbClr val="22D3EE"/>
                </a:solidFill>
                <a:latin typeface="Segoe UI"/>
              </a:rPr>
              <a:t>WING A</a:t>
            </a:r>
          </a:p>
        </p:txBody>
      </p:sp>
      <p:sp>
        <p:nvSpPr>
          <p:cNvPr id="12" name="TextBox 11"/>
          <p:cNvSpPr txBox="1"/>
          <p:nvPr/>
        </p:nvSpPr>
        <p:spPr>
          <a:xfrm>
            <a:off x="4283757" y="4461814"/>
            <a:ext cx="822960" cy="201168"/>
          </a:xfrm>
          <a:prstGeom prst="rect">
            <a:avLst/>
          </a:prstGeom>
          <a:noFill/>
        </p:spPr>
        <p:txBody>
          <a:bodyPr wrap="square" lIns="0" rIns="0" tIns="0" bIns="0" anchor="t">
            <a:noAutofit/>
          </a:bodyPr>
          <a:lstStyle/>
          <a:p>
            <a:pPr algn="ctr">
              <a:lnSpc>
                <a:spcPct val="110000"/>
              </a:lnSpc>
              <a:spcBef>
                <a:spcPts val="0"/>
              </a:spcBef>
              <a:spcAft>
                <a:spcPts val="0"/>
              </a:spcAft>
            </a:pPr>
            <a:r>
              <a:rPr sz="720" b="1" i="0">
                <a:solidFill>
                  <a:srgbClr val="A78BFA"/>
                </a:solidFill>
                <a:latin typeface="Segoe UI"/>
              </a:rPr>
              <a:t>WING B</a:t>
            </a:r>
          </a:p>
        </p:txBody>
      </p:sp>
      <p:sp>
        <p:nvSpPr>
          <p:cNvPr id="13" name="TextBox 12"/>
          <p:cNvSpPr txBox="1"/>
          <p:nvPr/>
        </p:nvSpPr>
        <p:spPr>
          <a:xfrm>
            <a:off x="1751282" y="4461814"/>
            <a:ext cx="822960" cy="201168"/>
          </a:xfrm>
          <a:prstGeom prst="rect">
            <a:avLst/>
          </a:prstGeom>
          <a:noFill/>
        </p:spPr>
        <p:txBody>
          <a:bodyPr wrap="square" lIns="0" rIns="0" tIns="0" bIns="0" anchor="t">
            <a:noAutofit/>
          </a:bodyPr>
          <a:lstStyle/>
          <a:p>
            <a:pPr algn="ctr">
              <a:lnSpc>
                <a:spcPct val="110000"/>
              </a:lnSpc>
              <a:spcBef>
                <a:spcPts val="0"/>
              </a:spcBef>
              <a:spcAft>
                <a:spcPts val="0"/>
              </a:spcAft>
            </a:pPr>
            <a:r>
              <a:rPr sz="720" b="1" i="0">
                <a:solidFill>
                  <a:srgbClr val="A78BFA"/>
                </a:solidFill>
                <a:latin typeface="Segoe UI"/>
              </a:rPr>
              <a:t>WING C</a:t>
            </a:r>
          </a:p>
        </p:txBody>
      </p:sp>
      <p:sp>
        <p:nvSpPr>
          <p:cNvPr id="14" name="TextBox 13"/>
          <p:cNvSpPr txBox="1"/>
          <p:nvPr/>
        </p:nvSpPr>
        <p:spPr>
          <a:xfrm>
            <a:off x="2971800" y="3739896"/>
            <a:ext cx="914400" cy="182880"/>
          </a:xfrm>
          <a:prstGeom prst="rect">
            <a:avLst/>
          </a:prstGeom>
          <a:noFill/>
        </p:spPr>
        <p:txBody>
          <a:bodyPr wrap="square" lIns="0" rIns="0" tIns="0" bIns="0" anchor="t">
            <a:noAutofit/>
          </a:bodyPr>
          <a:lstStyle/>
          <a:p>
            <a:pPr algn="ctr">
              <a:lnSpc>
                <a:spcPct val="110000"/>
              </a:lnSpc>
              <a:spcBef>
                <a:spcPts val="0"/>
              </a:spcBef>
              <a:spcAft>
                <a:spcPts val="0"/>
              </a:spcAft>
            </a:pPr>
            <a:r>
              <a:rPr sz="720" b="1" i="0">
                <a:solidFill>
                  <a:srgbClr val="E8EEF7"/>
                </a:solidFill>
                <a:latin typeface="Segoe UI"/>
              </a:rPr>
              <a:t>CORE</a:t>
            </a:r>
          </a:p>
        </p:txBody>
      </p:sp>
      <p:sp>
        <p:nvSpPr>
          <p:cNvPr id="15" name="Right Arrow 14"/>
          <p:cNvSpPr/>
          <p:nvPr/>
        </p:nvSpPr>
        <p:spPr>
          <a:xfrm>
            <a:off x="868680" y="2926080"/>
            <a:ext cx="457200" cy="64008"/>
          </a:xfrm>
          <a:prstGeom prst="rightArrow">
            <a:avLst/>
          </a:prstGeom>
          <a:solidFill>
            <a:srgbClr val="157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868680" y="3429000"/>
            <a:ext cx="457200" cy="64008"/>
          </a:xfrm>
          <a:prstGeom prst="rightArrow">
            <a:avLst/>
          </a:prstGeom>
          <a:solidFill>
            <a:srgbClr val="157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868680" y="3931920"/>
            <a:ext cx="457200" cy="64008"/>
          </a:xfrm>
          <a:prstGeom prst="rightArrow">
            <a:avLst/>
          </a:prstGeom>
          <a:solidFill>
            <a:srgbClr val="157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68680" y="4434840"/>
            <a:ext cx="457200" cy="64008"/>
          </a:xfrm>
          <a:prstGeom prst="rightArrow">
            <a:avLst/>
          </a:prstGeom>
          <a:solidFill>
            <a:srgbClr val="1570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743200"/>
            <a:ext cx="731520" cy="182880"/>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22D3EE"/>
                </a:solidFill>
                <a:latin typeface="Segoe UI"/>
              </a:rPr>
              <a:t>WIND</a:t>
            </a:r>
          </a:p>
        </p:txBody>
      </p:sp>
      <p:sp>
        <p:nvSpPr>
          <p:cNvPr id="20" name="TextBox 19"/>
          <p:cNvSpPr txBox="1"/>
          <p:nvPr/>
        </p:nvSpPr>
        <p:spPr>
          <a:xfrm>
            <a:off x="822959" y="5358384"/>
            <a:ext cx="3657600" cy="365760"/>
          </a:xfrm>
          <a:prstGeom prst="rect">
            <a:avLst/>
          </a:prstGeom>
          <a:noFill/>
        </p:spPr>
        <p:txBody>
          <a:bodyPr wrap="square" lIns="0" rIns="0" tIns="0" bIns="0" anchor="t">
            <a:noAutofit/>
          </a:bodyPr>
          <a:lstStyle/>
          <a:p>
            <a:pPr algn="l">
              <a:lnSpc>
                <a:spcPct val="120000"/>
              </a:lnSpc>
              <a:spcBef>
                <a:spcPts val="0"/>
              </a:spcBef>
              <a:spcAft>
                <a:spcPts val="0"/>
              </a:spcAft>
            </a:pPr>
            <a:r>
              <a:rPr sz="780" b="0" i="0">
                <a:solidFill>
                  <a:srgbClr val="94A3B8"/>
                </a:solidFill>
                <a:latin typeface="Segoe UI"/>
              </a:rPr>
              <a:t>Each wing braces the other two. Remove one and the system loses its torsional stiffness.</a:t>
            </a:r>
          </a:p>
        </p:txBody>
      </p:sp>
      <p:sp>
        <p:nvSpPr>
          <p:cNvPr id="21" name="Rounded Rectangle 20"/>
          <p:cNvSpPr/>
          <p:nvPr/>
        </p:nvSpPr>
        <p:spPr>
          <a:xfrm>
            <a:off x="6766560" y="1463040"/>
            <a:ext cx="4782312" cy="431596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784848" y="1463040"/>
            <a:ext cx="4745736" cy="4114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1572768"/>
            <a:ext cx="438912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A78BFA"/>
                </a:solidFill>
                <a:latin typeface="Segoe UI"/>
              </a:rPr>
              <a:t>HOW A BUTTRESSED CORE WORKS</a:t>
            </a:r>
          </a:p>
        </p:txBody>
      </p:sp>
      <p:sp>
        <p:nvSpPr>
          <p:cNvPr id="24" name="TextBox 23"/>
          <p:cNvSpPr txBox="1"/>
          <p:nvPr/>
        </p:nvSpPr>
        <p:spPr>
          <a:xfrm>
            <a:off x="6949440" y="1810512"/>
            <a:ext cx="4434840" cy="914400"/>
          </a:xfrm>
          <a:prstGeom prst="rect">
            <a:avLst/>
          </a:prstGeom>
          <a:noFill/>
        </p:spPr>
        <p:txBody>
          <a:bodyPr wrap="square" lIns="0" rIns="0" tIns="0" bIns="0" anchor="t">
            <a:noAutofit/>
          </a:bodyPr>
          <a:lstStyle/>
          <a:p>
            <a:pPr algn="l">
              <a:lnSpc>
                <a:spcPct val="130000"/>
              </a:lnSpc>
              <a:spcBef>
                <a:spcPts val="0"/>
              </a:spcBef>
              <a:spcAft>
                <a:spcPts val="0"/>
              </a:spcAft>
            </a:pPr>
            <a:r>
              <a:rPr sz="919" b="0" i="0">
                <a:solidFill>
                  <a:srgbClr val="94A3B8"/>
                </a:solidFill>
                <a:latin typeface="Segoe UI"/>
              </a:rPr>
              <a:t>A central hexagonal hub with three residential wings. The wings are not attached decoration — they are the lateral system. Wind on one wing is resisted by the other two acting as buttresses.</a:t>
            </a:r>
          </a:p>
        </p:txBody>
      </p:sp>
      <p:sp>
        <p:nvSpPr>
          <p:cNvPr id="25" name="TextBox 24"/>
          <p:cNvSpPr txBox="1"/>
          <p:nvPr/>
        </p:nvSpPr>
        <p:spPr>
          <a:xfrm>
            <a:off x="6949440" y="2852928"/>
            <a:ext cx="128016" cy="128016"/>
          </a:xfrm>
          <a:prstGeom prst="rect">
            <a:avLst/>
          </a:prstGeom>
          <a:noFill/>
        </p:spPr>
        <p:txBody>
          <a:bodyPr wrap="square" lIns="0" rIns="0" tIns="0" bIns="0" anchor="t">
            <a:noAutofit/>
          </a:bodyPr>
          <a:lstStyle/>
          <a:p>
            <a:pPr algn="l">
              <a:lnSpc>
                <a:spcPct val="110000"/>
              </a:lnSpc>
              <a:spcBef>
                <a:spcPts val="0"/>
              </a:spcBef>
              <a:spcAft>
                <a:spcPts val="0"/>
              </a:spcAft>
            </a:pPr>
            <a:r>
              <a:rPr sz="650" b="0" i="0">
                <a:solidFill>
                  <a:srgbClr val="A78BFA"/>
                </a:solidFill>
                <a:latin typeface="Segoe UI"/>
              </a:rPr>
              <a:t>■</a:t>
            </a:r>
          </a:p>
        </p:txBody>
      </p:sp>
      <p:sp>
        <p:nvSpPr>
          <p:cNvPr id="26" name="TextBox 25"/>
          <p:cNvSpPr txBox="1"/>
          <p:nvPr/>
        </p:nvSpPr>
        <p:spPr>
          <a:xfrm>
            <a:off x="7132320" y="2816352"/>
            <a:ext cx="420624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Torsion</a:t>
            </a:r>
          </a:p>
        </p:txBody>
      </p:sp>
      <p:sp>
        <p:nvSpPr>
          <p:cNvPr id="27" name="TextBox 26"/>
          <p:cNvSpPr txBox="1"/>
          <p:nvPr/>
        </p:nvSpPr>
        <p:spPr>
          <a:xfrm>
            <a:off x="7132320" y="3035808"/>
            <a:ext cx="4206240" cy="457200"/>
          </a:xfrm>
          <a:prstGeom prst="rect">
            <a:avLst/>
          </a:prstGeom>
          <a:noFill/>
        </p:spPr>
        <p:txBody>
          <a:bodyPr wrap="square" lIns="0" rIns="0" tIns="0" bIns="0" anchor="t">
            <a:noAutofit/>
          </a:bodyPr>
          <a:lstStyle/>
          <a:p>
            <a:pPr algn="l">
              <a:lnSpc>
                <a:spcPct val="120000"/>
              </a:lnSpc>
              <a:spcBef>
                <a:spcPts val="0"/>
              </a:spcBef>
              <a:spcAft>
                <a:spcPts val="0"/>
              </a:spcAft>
            </a:pPr>
            <a:r>
              <a:rPr sz="760" b="0" i="0">
                <a:solidFill>
                  <a:srgbClr val="94A3B8"/>
                </a:solidFill>
                <a:latin typeface="Segoe UI"/>
              </a:rPr>
              <a:t>Wings at 120° put mass and stiffness away from the centre, raising torsional resistance.</a:t>
            </a:r>
          </a:p>
        </p:txBody>
      </p:sp>
      <p:sp>
        <p:nvSpPr>
          <p:cNvPr id="28" name="TextBox 27"/>
          <p:cNvSpPr txBox="1"/>
          <p:nvPr/>
        </p:nvSpPr>
        <p:spPr>
          <a:xfrm>
            <a:off x="6949440" y="3511296"/>
            <a:ext cx="128016" cy="128016"/>
          </a:xfrm>
          <a:prstGeom prst="rect">
            <a:avLst/>
          </a:prstGeom>
          <a:noFill/>
        </p:spPr>
        <p:txBody>
          <a:bodyPr wrap="square" lIns="0" rIns="0" tIns="0" bIns="0" anchor="t">
            <a:noAutofit/>
          </a:bodyPr>
          <a:lstStyle/>
          <a:p>
            <a:pPr algn="l">
              <a:lnSpc>
                <a:spcPct val="110000"/>
              </a:lnSpc>
              <a:spcBef>
                <a:spcPts val="0"/>
              </a:spcBef>
              <a:spcAft>
                <a:spcPts val="0"/>
              </a:spcAft>
            </a:pPr>
            <a:r>
              <a:rPr sz="650" b="0" i="0">
                <a:solidFill>
                  <a:srgbClr val="A78BFA"/>
                </a:solidFill>
                <a:latin typeface="Segoe UI"/>
              </a:rPr>
              <a:t>■</a:t>
            </a:r>
          </a:p>
        </p:txBody>
      </p:sp>
      <p:sp>
        <p:nvSpPr>
          <p:cNvPr id="29" name="TextBox 28"/>
          <p:cNvSpPr txBox="1"/>
          <p:nvPr/>
        </p:nvSpPr>
        <p:spPr>
          <a:xfrm>
            <a:off x="7132320" y="3474720"/>
            <a:ext cx="420624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Overturning</a:t>
            </a:r>
          </a:p>
        </p:txBody>
      </p:sp>
      <p:sp>
        <p:nvSpPr>
          <p:cNvPr id="30" name="TextBox 29"/>
          <p:cNvSpPr txBox="1"/>
          <p:nvPr/>
        </p:nvSpPr>
        <p:spPr>
          <a:xfrm>
            <a:off x="7132320" y="3694176"/>
            <a:ext cx="4206240" cy="457200"/>
          </a:xfrm>
          <a:prstGeom prst="rect">
            <a:avLst/>
          </a:prstGeom>
          <a:noFill/>
        </p:spPr>
        <p:txBody>
          <a:bodyPr wrap="square" lIns="0" rIns="0" tIns="0" bIns="0" anchor="t">
            <a:noAutofit/>
          </a:bodyPr>
          <a:lstStyle/>
          <a:p>
            <a:pPr algn="l">
              <a:lnSpc>
                <a:spcPct val="120000"/>
              </a:lnSpc>
              <a:spcBef>
                <a:spcPts val="0"/>
              </a:spcBef>
              <a:spcAft>
                <a:spcPts val="0"/>
              </a:spcAft>
            </a:pPr>
            <a:r>
              <a:rPr sz="760" b="0" i="0">
                <a:solidFill>
                  <a:srgbClr val="94A3B8"/>
                </a:solidFill>
                <a:latin typeface="Segoe UI"/>
              </a:rPr>
              <a:t>The plan spreads compression over a wide footprint, cutting foundation pressure.</a:t>
            </a:r>
          </a:p>
        </p:txBody>
      </p:sp>
      <p:sp>
        <p:nvSpPr>
          <p:cNvPr id="31" name="TextBox 30"/>
          <p:cNvSpPr txBox="1"/>
          <p:nvPr/>
        </p:nvSpPr>
        <p:spPr>
          <a:xfrm>
            <a:off x="6949440" y="4169663"/>
            <a:ext cx="128016" cy="128016"/>
          </a:xfrm>
          <a:prstGeom prst="rect">
            <a:avLst/>
          </a:prstGeom>
          <a:noFill/>
        </p:spPr>
        <p:txBody>
          <a:bodyPr wrap="square" lIns="0" rIns="0" tIns="0" bIns="0" anchor="t">
            <a:noAutofit/>
          </a:bodyPr>
          <a:lstStyle/>
          <a:p>
            <a:pPr algn="l">
              <a:lnSpc>
                <a:spcPct val="110000"/>
              </a:lnSpc>
              <a:spcBef>
                <a:spcPts val="0"/>
              </a:spcBef>
              <a:spcAft>
                <a:spcPts val="0"/>
              </a:spcAft>
            </a:pPr>
            <a:r>
              <a:rPr sz="650" b="0" i="0">
                <a:solidFill>
                  <a:srgbClr val="A78BFA"/>
                </a:solidFill>
                <a:latin typeface="Segoe UI"/>
              </a:rPr>
              <a:t>■</a:t>
            </a:r>
          </a:p>
        </p:txBody>
      </p:sp>
      <p:sp>
        <p:nvSpPr>
          <p:cNvPr id="32" name="TextBox 31"/>
          <p:cNvSpPr txBox="1"/>
          <p:nvPr/>
        </p:nvSpPr>
        <p:spPr>
          <a:xfrm>
            <a:off x="7132320" y="4133087"/>
            <a:ext cx="4206240" cy="21945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E8EEF7"/>
                </a:solidFill>
                <a:latin typeface="Segoe UI"/>
              </a:rPr>
              <a:t>Flexibility</a:t>
            </a:r>
          </a:p>
        </p:txBody>
      </p:sp>
      <p:sp>
        <p:nvSpPr>
          <p:cNvPr id="33" name="TextBox 32"/>
          <p:cNvSpPr txBox="1"/>
          <p:nvPr/>
        </p:nvSpPr>
        <p:spPr>
          <a:xfrm>
            <a:off x="7132320" y="4352544"/>
            <a:ext cx="4206240" cy="457200"/>
          </a:xfrm>
          <a:prstGeom prst="rect">
            <a:avLst/>
          </a:prstGeom>
          <a:noFill/>
        </p:spPr>
        <p:txBody>
          <a:bodyPr wrap="square" lIns="0" rIns="0" tIns="0" bIns="0" anchor="t">
            <a:noAutofit/>
          </a:bodyPr>
          <a:lstStyle/>
          <a:p>
            <a:pPr algn="l">
              <a:lnSpc>
                <a:spcPct val="120000"/>
              </a:lnSpc>
              <a:spcBef>
                <a:spcPts val="0"/>
              </a:spcBef>
              <a:spcAft>
                <a:spcPts val="0"/>
              </a:spcAft>
            </a:pPr>
            <a:r>
              <a:rPr sz="760" b="0" i="0">
                <a:solidFill>
                  <a:srgbClr val="94A3B8"/>
                </a:solidFill>
                <a:latin typeface="Segoe UI"/>
              </a:rPr>
              <a:t>Wall lengths set the period — long wings are stiff in bending but never fully closed.</a:t>
            </a:r>
          </a:p>
        </p:txBody>
      </p:sp>
      <p:sp>
        <p:nvSpPr>
          <p:cNvPr id="34" name="Rounded Rectangle 33"/>
          <p:cNvSpPr/>
          <p:nvPr/>
        </p:nvSpPr>
        <p:spPr>
          <a:xfrm>
            <a:off x="6766560" y="5010912"/>
            <a:ext cx="4782312" cy="768096"/>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0" y="5084064"/>
            <a:ext cx="1188720" cy="274320"/>
          </a:xfrm>
          <a:prstGeom prst="rect">
            <a:avLst/>
          </a:prstGeom>
          <a:noFill/>
        </p:spPr>
        <p:txBody>
          <a:bodyPr wrap="square" lIns="0" rIns="0" tIns="0" bIns="0" anchor="t">
            <a:noAutofit/>
          </a:bodyPr>
          <a:lstStyle/>
          <a:p>
            <a:pPr algn="l">
              <a:lnSpc>
                <a:spcPct val="110000"/>
              </a:lnSpc>
              <a:spcBef>
                <a:spcPts val="0"/>
              </a:spcBef>
              <a:spcAft>
                <a:spcPts val="0"/>
              </a:spcAft>
            </a:pPr>
            <a:r>
              <a:rPr sz="1300" b="1" i="0">
                <a:solidFill>
                  <a:srgbClr val="A78BFA"/>
                </a:solidFill>
                <a:latin typeface="Segoe UI Semibold"/>
              </a:rPr>
              <a:t>C60 – C80</a:t>
            </a:r>
          </a:p>
        </p:txBody>
      </p:sp>
      <p:sp>
        <p:nvSpPr>
          <p:cNvPr id="36" name="TextBox 35"/>
          <p:cNvSpPr txBox="1"/>
          <p:nvPr/>
        </p:nvSpPr>
        <p:spPr>
          <a:xfrm>
            <a:off x="6949440" y="5413248"/>
            <a:ext cx="4206240" cy="219456"/>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high-strength concrete in the walls and core</a:t>
            </a:r>
          </a:p>
        </p:txBody>
      </p:sp>
      <p:sp>
        <p:nvSpPr>
          <p:cNvPr id="37" name="TextBox 36"/>
          <p:cNvSpPr txBox="1"/>
          <p:nvPr/>
        </p:nvSpPr>
        <p:spPr>
          <a:xfrm>
            <a:off x="9052560" y="5084064"/>
            <a:ext cx="2377440" cy="274320"/>
          </a:xfrm>
          <a:prstGeom prst="rect">
            <a:avLst/>
          </a:prstGeom>
          <a:noFill/>
        </p:spPr>
        <p:txBody>
          <a:bodyPr wrap="square" lIns="0" rIns="0" tIns="0" bIns="0" anchor="t">
            <a:noAutofit/>
          </a:bodyPr>
          <a:lstStyle/>
          <a:p>
            <a:pPr algn="r">
              <a:lnSpc>
                <a:spcPct val="110000"/>
              </a:lnSpc>
              <a:spcBef>
                <a:spcPts val="0"/>
              </a:spcBef>
              <a:spcAft>
                <a:spcPts val="0"/>
              </a:spcAft>
            </a:pPr>
            <a:r>
              <a:rPr sz="1000" b="1" i="0">
                <a:solidFill>
                  <a:srgbClr val="E8EEF7"/>
                </a:solidFill>
                <a:latin typeface="Segoe UI"/>
              </a:rPr>
              <a:t>3 wings · 1 core</a:t>
            </a:r>
          </a:p>
        </p:txBody>
      </p:sp>
      <p:sp>
        <p:nvSpPr>
          <p:cNvPr id="38" name="TextBox 37"/>
          <p:cNvSpPr txBox="1"/>
          <p:nvPr/>
        </p:nvSpPr>
        <p:spPr>
          <a:xfrm>
            <a:off x="9052560" y="5413248"/>
            <a:ext cx="2377440" cy="219456"/>
          </a:xfrm>
          <a:prstGeom prst="rect">
            <a:avLst/>
          </a:prstGeom>
          <a:noFill/>
        </p:spPr>
        <p:txBody>
          <a:bodyPr wrap="square" lIns="0" rIns="0" tIns="0" bIns="0" anchor="t">
            <a:noAutofit/>
          </a:bodyPr>
          <a:lstStyle/>
          <a:p>
            <a:pPr algn="r">
              <a:lnSpc>
                <a:spcPct val="110000"/>
              </a:lnSpc>
              <a:spcBef>
                <a:spcPts val="0"/>
              </a:spcBef>
              <a:spcAft>
                <a:spcPts val="0"/>
              </a:spcAft>
            </a:pPr>
            <a:r>
              <a:rPr sz="720" b="0" i="0">
                <a:solidFill>
                  <a:srgbClr val="94A3B8"/>
                </a:solidFill>
                <a:latin typeface="Segoe UI"/>
              </a:rPr>
              <a:t>no perimeter moment frame</a:t>
            </a:r>
          </a:p>
        </p:txBody>
      </p:sp>
      <p:sp>
        <p:nvSpPr>
          <p:cNvPr id="39" name="TextBox 38"/>
          <p:cNvSpPr txBox="1"/>
          <p:nvPr/>
        </p:nvSpPr>
        <p:spPr>
          <a:xfrm>
            <a:off x="640080" y="587044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Buttressed-core concept and concrete grades: SOM / Baker et al. Plan is a schematic, not a construction drawing.</a:t>
            </a:r>
          </a:p>
        </p:txBody>
      </p:sp>
      <p:cxnSp>
        <p:nvCxnSpPr>
          <p:cNvPr id="40" name="Connector 39"/>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2" name="TextBox 41"/>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A78BFA"/>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LOAD PATH</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From wind pressure to the ground in five steps</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12 / 20</a:t>
            </a:r>
          </a:p>
        </p:txBody>
      </p:sp>
      <p:sp>
        <p:nvSpPr>
          <p:cNvPr id="5" name="Rounded Rectangle 4"/>
          <p:cNvSpPr/>
          <p:nvPr/>
        </p:nvSpPr>
        <p:spPr>
          <a:xfrm>
            <a:off x="640080" y="1463040"/>
            <a:ext cx="5806440" cy="4315968"/>
          </a:xfrm>
          <a:prstGeom prst="roundRect">
            <a:avLst>
              <a:gd name="adj" fmla="val 5000"/>
            </a:avLst>
          </a:prstGeom>
          <a:solidFill>
            <a:srgbClr val="0B1424"/>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72768"/>
            <a:ext cx="420624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ELEVATION  ·  OUTRIGGER LEVELS</a:t>
            </a:r>
          </a:p>
        </p:txBody>
      </p:sp>
      <p:sp>
        <p:nvSpPr>
          <p:cNvPr id="7" name="Freeform 6"/>
          <p:cNvSpPr/>
          <p:nvPr/>
        </p:nvSpPr>
        <p:spPr>
          <a:xfrm>
            <a:off x="2532888" y="1783080"/>
            <a:ext cx="1426464" cy="3749040"/>
          </a:xfrm>
          <a:custGeom>
            <a:avLst/>
            <a:gdLst/>
            <a:ahLst/>
            <a:cxnLst/>
            <a:rect l="l" t="t" r="r" b="b"/>
            <a:pathLst>
              <a:path w="156" h="410">
                <a:moveTo>
                  <a:pt x="0" y="410"/>
                </a:moveTo>
                <a:lnTo>
                  <a:pt x="0" y="373"/>
                </a:lnTo>
                <a:lnTo>
                  <a:pt x="5" y="373"/>
                </a:lnTo>
                <a:lnTo>
                  <a:pt x="5" y="336"/>
                </a:lnTo>
                <a:lnTo>
                  <a:pt x="10" y="336"/>
                </a:lnTo>
                <a:lnTo>
                  <a:pt x="10" y="299"/>
                </a:lnTo>
                <a:lnTo>
                  <a:pt x="15" y="299"/>
                </a:lnTo>
                <a:lnTo>
                  <a:pt x="15" y="262"/>
                </a:lnTo>
                <a:lnTo>
                  <a:pt x="19" y="262"/>
                </a:lnTo>
                <a:lnTo>
                  <a:pt x="19" y="225"/>
                </a:lnTo>
                <a:lnTo>
                  <a:pt x="23" y="225"/>
                </a:lnTo>
                <a:lnTo>
                  <a:pt x="23" y="189"/>
                </a:lnTo>
                <a:lnTo>
                  <a:pt x="27" y="189"/>
                </a:lnTo>
                <a:lnTo>
                  <a:pt x="27" y="152"/>
                </a:lnTo>
                <a:lnTo>
                  <a:pt x="31" y="152"/>
                </a:lnTo>
                <a:lnTo>
                  <a:pt x="31" y="115"/>
                </a:lnTo>
                <a:lnTo>
                  <a:pt x="35" y="115"/>
                </a:lnTo>
                <a:lnTo>
                  <a:pt x="65" y="115"/>
                </a:lnTo>
                <a:lnTo>
                  <a:pt x="72" y="85"/>
                </a:lnTo>
                <a:lnTo>
                  <a:pt x="76" y="6"/>
                </a:lnTo>
                <a:lnTo>
                  <a:pt x="78" y="0"/>
                </a:lnTo>
                <a:lnTo>
                  <a:pt x="80" y="6"/>
                </a:lnTo>
                <a:lnTo>
                  <a:pt x="83" y="85"/>
                </a:lnTo>
                <a:lnTo>
                  <a:pt x="91" y="115"/>
                </a:lnTo>
                <a:lnTo>
                  <a:pt x="121" y="115"/>
                </a:lnTo>
                <a:lnTo>
                  <a:pt x="125" y="115"/>
                </a:lnTo>
                <a:lnTo>
                  <a:pt x="125" y="152"/>
                </a:lnTo>
                <a:lnTo>
                  <a:pt x="129" y="152"/>
                </a:lnTo>
                <a:lnTo>
                  <a:pt x="129" y="189"/>
                </a:lnTo>
                <a:lnTo>
                  <a:pt x="133" y="189"/>
                </a:lnTo>
                <a:lnTo>
                  <a:pt x="133" y="225"/>
                </a:lnTo>
                <a:lnTo>
                  <a:pt x="137" y="225"/>
                </a:lnTo>
                <a:lnTo>
                  <a:pt x="137" y="262"/>
                </a:lnTo>
                <a:lnTo>
                  <a:pt x="141" y="262"/>
                </a:lnTo>
                <a:lnTo>
                  <a:pt x="141" y="299"/>
                </a:lnTo>
                <a:lnTo>
                  <a:pt x="146" y="299"/>
                </a:lnTo>
                <a:lnTo>
                  <a:pt x="146" y="336"/>
                </a:lnTo>
                <a:lnTo>
                  <a:pt x="151" y="336"/>
                </a:lnTo>
                <a:lnTo>
                  <a:pt x="151" y="373"/>
                </a:lnTo>
                <a:lnTo>
                  <a:pt x="156" y="373"/>
                </a:lnTo>
                <a:lnTo>
                  <a:pt x="156" y="410"/>
                </a:lnTo>
                <a:lnTo>
                  <a:pt x="156" y="410"/>
                </a:lnTo>
                <a:close/>
              </a:path>
            </a:pathLst>
          </a:custGeom>
          <a:gradFill rotWithShape="1">
            <a:gsLst>
              <a:gs pos="0">
                <a:srgbClr val="183A63"/>
              </a:gs>
              <a:gs pos="100000">
                <a:srgbClr val="091628"/>
              </a:gs>
            </a:gsLst>
            <a:lin scaled="0" ang="16200000"/>
          </a:gradFill>
          <a:ln w="12700">
            <a:solidFill>
              <a:srgbClr val="1CAB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2594568" y="5100230"/>
            <a:ext cx="1303103"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47988" y="4668341"/>
            <a:ext cx="1196263"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98678" y="4236451"/>
            <a:ext cx="1094883"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741623" y="3858548"/>
            <a:ext cx="1008993"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218688" y="1755648"/>
            <a:ext cx="54864" cy="548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148840" y="5532120"/>
            <a:ext cx="2286000" cy="0"/>
          </a:xfrm>
          <a:prstGeom prst="line">
            <a:avLst/>
          </a:prstGeom>
          <a:ln w="13970">
            <a:solidFill>
              <a:srgbClr val="15708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621733" y="4884285"/>
            <a:ext cx="1248773" cy="0"/>
          </a:xfrm>
          <a:prstGeom prst="line">
            <a:avLst/>
          </a:prstGeom>
          <a:ln w="20320">
            <a:solidFill>
              <a:srgbClr val="F59E0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980234" y="4792845"/>
            <a:ext cx="457200" cy="182880"/>
          </a:xfrm>
          <a:prstGeom prst="rect">
            <a:avLst/>
          </a:prstGeom>
          <a:noFill/>
        </p:spPr>
        <p:txBody>
          <a:bodyPr wrap="square" lIns="0" rIns="0" tIns="0" bIns="0" anchor="t">
            <a:noAutofit/>
          </a:bodyPr>
          <a:lstStyle/>
          <a:p>
            <a:pPr algn="l">
              <a:lnSpc>
                <a:spcPct val="110000"/>
              </a:lnSpc>
              <a:spcBef>
                <a:spcPts val="0"/>
              </a:spcBef>
              <a:spcAft>
                <a:spcPts val="0"/>
              </a:spcAft>
            </a:pPr>
            <a:r>
              <a:rPr sz="660" b="1" i="0">
                <a:solidFill>
                  <a:srgbClr val="F59E0B"/>
                </a:solidFill>
                <a:latin typeface="Segoe UI"/>
              </a:rPr>
              <a:t>01</a:t>
            </a:r>
          </a:p>
        </p:txBody>
      </p:sp>
      <p:cxnSp>
        <p:nvCxnSpPr>
          <p:cNvPr id="16" name="Connector 15"/>
          <p:cNvCxnSpPr/>
          <p:nvPr/>
        </p:nvCxnSpPr>
        <p:spPr>
          <a:xfrm>
            <a:off x="2673589" y="4452396"/>
            <a:ext cx="1145061" cy="0"/>
          </a:xfrm>
          <a:prstGeom prst="line">
            <a:avLst/>
          </a:prstGeom>
          <a:ln w="2032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28378" y="4360956"/>
            <a:ext cx="457200" cy="182880"/>
          </a:xfrm>
          <a:prstGeom prst="rect">
            <a:avLst/>
          </a:prstGeom>
          <a:noFill/>
        </p:spPr>
        <p:txBody>
          <a:bodyPr wrap="square" lIns="0" rIns="0" tIns="0" bIns="0" anchor="t">
            <a:noAutofit/>
          </a:bodyPr>
          <a:lstStyle/>
          <a:p>
            <a:pPr algn="l">
              <a:lnSpc>
                <a:spcPct val="110000"/>
              </a:lnSpc>
              <a:spcBef>
                <a:spcPts val="0"/>
              </a:spcBef>
              <a:spcAft>
                <a:spcPts val="0"/>
              </a:spcAft>
            </a:pPr>
            <a:r>
              <a:rPr sz="660" b="1" i="0">
                <a:solidFill>
                  <a:srgbClr val="F59E0B"/>
                </a:solidFill>
                <a:latin typeface="Segoe UI"/>
              </a:rPr>
              <a:t>02</a:t>
            </a:r>
          </a:p>
        </p:txBody>
      </p:sp>
      <p:cxnSp>
        <p:nvCxnSpPr>
          <p:cNvPr id="18" name="Connector 17"/>
          <p:cNvCxnSpPr/>
          <p:nvPr/>
        </p:nvCxnSpPr>
        <p:spPr>
          <a:xfrm>
            <a:off x="2720288" y="4047500"/>
            <a:ext cx="1051663" cy="0"/>
          </a:xfrm>
          <a:prstGeom prst="line">
            <a:avLst/>
          </a:prstGeom>
          <a:ln w="20320">
            <a:solidFill>
              <a:srgbClr val="F59E0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881679" y="3956060"/>
            <a:ext cx="457200" cy="182880"/>
          </a:xfrm>
          <a:prstGeom prst="rect">
            <a:avLst/>
          </a:prstGeom>
          <a:noFill/>
        </p:spPr>
        <p:txBody>
          <a:bodyPr wrap="square" lIns="0" rIns="0" tIns="0" bIns="0" anchor="t">
            <a:noAutofit/>
          </a:bodyPr>
          <a:lstStyle/>
          <a:p>
            <a:pPr algn="l">
              <a:lnSpc>
                <a:spcPct val="110000"/>
              </a:lnSpc>
              <a:spcBef>
                <a:spcPts val="0"/>
              </a:spcBef>
              <a:spcAft>
                <a:spcPts val="0"/>
              </a:spcAft>
            </a:pPr>
            <a:r>
              <a:rPr sz="660" b="1" i="0">
                <a:solidFill>
                  <a:srgbClr val="F59E0B"/>
                </a:solidFill>
                <a:latin typeface="Segoe UI"/>
              </a:rPr>
              <a:t>03</a:t>
            </a:r>
          </a:p>
        </p:txBody>
      </p:sp>
      <p:cxnSp>
        <p:nvCxnSpPr>
          <p:cNvPr id="20" name="Connector 19"/>
          <p:cNvCxnSpPr/>
          <p:nvPr/>
        </p:nvCxnSpPr>
        <p:spPr>
          <a:xfrm>
            <a:off x="2759718" y="3696590"/>
            <a:ext cx="972803" cy="0"/>
          </a:xfrm>
          <a:prstGeom prst="line">
            <a:avLst/>
          </a:prstGeom>
          <a:ln w="20320">
            <a:solidFill>
              <a:srgbClr val="F59E0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842249" y="3605150"/>
            <a:ext cx="457200" cy="182880"/>
          </a:xfrm>
          <a:prstGeom prst="rect">
            <a:avLst/>
          </a:prstGeom>
          <a:noFill/>
        </p:spPr>
        <p:txBody>
          <a:bodyPr wrap="square" lIns="0" rIns="0" tIns="0" bIns="0" anchor="t">
            <a:noAutofit/>
          </a:bodyPr>
          <a:lstStyle/>
          <a:p>
            <a:pPr algn="l">
              <a:lnSpc>
                <a:spcPct val="110000"/>
              </a:lnSpc>
              <a:spcBef>
                <a:spcPts val="0"/>
              </a:spcBef>
              <a:spcAft>
                <a:spcPts val="0"/>
              </a:spcAft>
            </a:pPr>
            <a:r>
              <a:rPr sz="660" b="1" i="0">
                <a:solidFill>
                  <a:srgbClr val="F59E0B"/>
                </a:solidFill>
                <a:latin typeface="Segoe UI"/>
              </a:rPr>
              <a:t>04</a:t>
            </a:r>
          </a:p>
        </p:txBody>
      </p:sp>
      <p:cxnSp>
        <p:nvCxnSpPr>
          <p:cNvPr id="22" name="Connector 21"/>
          <p:cNvCxnSpPr/>
          <p:nvPr/>
        </p:nvCxnSpPr>
        <p:spPr>
          <a:xfrm>
            <a:off x="2795445" y="3372672"/>
            <a:ext cx="901349" cy="0"/>
          </a:xfrm>
          <a:prstGeom prst="line">
            <a:avLst/>
          </a:prstGeom>
          <a:ln w="20320">
            <a:solidFill>
              <a:srgbClr val="F59E0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806522" y="3281232"/>
            <a:ext cx="457200" cy="182880"/>
          </a:xfrm>
          <a:prstGeom prst="rect">
            <a:avLst/>
          </a:prstGeom>
          <a:noFill/>
        </p:spPr>
        <p:txBody>
          <a:bodyPr wrap="square" lIns="0" rIns="0" tIns="0" bIns="0" anchor="t">
            <a:noAutofit/>
          </a:bodyPr>
          <a:lstStyle/>
          <a:p>
            <a:pPr algn="l">
              <a:lnSpc>
                <a:spcPct val="110000"/>
              </a:lnSpc>
              <a:spcBef>
                <a:spcPts val="0"/>
              </a:spcBef>
              <a:spcAft>
                <a:spcPts val="0"/>
              </a:spcAft>
            </a:pPr>
            <a:r>
              <a:rPr sz="660" b="1" i="0">
                <a:solidFill>
                  <a:srgbClr val="F59E0B"/>
                </a:solidFill>
                <a:latin typeface="Segoe UI"/>
              </a:rPr>
              <a:t>05</a:t>
            </a:r>
          </a:p>
        </p:txBody>
      </p:sp>
      <p:sp>
        <p:nvSpPr>
          <p:cNvPr id="24" name="Right Arrow 23"/>
          <p:cNvSpPr/>
          <p:nvPr/>
        </p:nvSpPr>
        <p:spPr>
          <a:xfrm>
            <a:off x="1051560" y="2148840"/>
            <a:ext cx="548640" cy="91440"/>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1920240"/>
            <a:ext cx="914400" cy="182880"/>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22D3EE"/>
                </a:solidFill>
                <a:latin typeface="Segoe UI"/>
              </a:rPr>
              <a:t>WIND</a:t>
            </a:r>
          </a:p>
        </p:txBody>
      </p:sp>
      <p:sp>
        <p:nvSpPr>
          <p:cNvPr id="26" name="TextBox 25"/>
          <p:cNvSpPr txBox="1"/>
          <p:nvPr/>
        </p:nvSpPr>
        <p:spPr>
          <a:xfrm>
            <a:off x="4160520" y="2395728"/>
            <a:ext cx="1371600" cy="274320"/>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F59E0B"/>
                </a:solidFill>
                <a:latin typeface="Segoe UI"/>
              </a:rPr>
              <a:t>5 outrigger sets</a:t>
            </a:r>
          </a:p>
        </p:txBody>
      </p:sp>
      <p:graphicFrame>
        <p:nvGraphicFramePr>
          <p:cNvPr id="27" name="Chart 26"/>
          <p:cNvGraphicFramePr>
            <a:graphicFrameLocks noGrp="1"/>
          </p:cNvGraphicFramePr>
          <p:nvPr/>
        </p:nvGraphicFramePr>
        <p:xfrm>
          <a:off x="6537960" y="1481328"/>
          <a:ext cx="4754880" cy="2926080"/>
        </p:xfrm>
        <a:graphic>
          <a:graphicData uri="http://schemas.openxmlformats.org/drawingml/2006/chart">
            <c:chart xmlns:c="http://schemas.openxmlformats.org/drawingml/2006/chart" r:id="rId2"/>
          </a:graphicData>
        </a:graphic>
      </p:graphicFrame>
      <p:sp>
        <p:nvSpPr>
          <p:cNvPr id="28" name="TextBox 27"/>
          <p:cNvSpPr txBox="1"/>
          <p:nvPr/>
        </p:nvSpPr>
        <p:spPr>
          <a:xfrm>
            <a:off x="6812280" y="4443984"/>
            <a:ext cx="3840480" cy="201168"/>
          </a:xfrm>
          <a:prstGeom prst="rect">
            <a:avLst/>
          </a:prstGeom>
          <a:noFill/>
        </p:spPr>
        <p:txBody>
          <a:bodyPr wrap="square" lIns="0" rIns="0" tIns="0" bIns="0" anchor="t">
            <a:noAutofit/>
          </a:bodyPr>
          <a:lstStyle/>
          <a:p>
            <a:pPr algn="l">
              <a:lnSpc>
                <a:spcPct val="110000"/>
              </a:lnSpc>
              <a:spcBef>
                <a:spcPts val="0"/>
              </a:spcBef>
              <a:spcAft>
                <a:spcPts val="0"/>
              </a:spcAft>
            </a:pPr>
            <a:r>
              <a:rPr sz="720" b="1" i="0">
                <a:solidFill>
                  <a:srgbClr val="64748B"/>
                </a:solidFill>
                <a:latin typeface="Segoe UI"/>
              </a:rPr>
              <a:t>M / M_base</a:t>
            </a:r>
          </a:p>
        </p:txBody>
      </p:sp>
      <p:sp>
        <p:nvSpPr>
          <p:cNvPr id="29" name="TextBox 28"/>
          <p:cNvSpPr txBox="1"/>
          <p:nvPr/>
        </p:nvSpPr>
        <p:spPr>
          <a:xfrm>
            <a:off x="10561320" y="1554480"/>
            <a:ext cx="822960" cy="201168"/>
          </a:xfrm>
          <a:prstGeom prst="rect">
            <a:avLst/>
          </a:prstGeom>
          <a:noFill/>
        </p:spPr>
        <p:txBody>
          <a:bodyPr wrap="square" lIns="0" rIns="0" tIns="0" bIns="0" anchor="t">
            <a:noAutofit/>
          </a:bodyPr>
          <a:lstStyle/>
          <a:p>
            <a:pPr algn="r">
              <a:lnSpc>
                <a:spcPct val="110000"/>
              </a:lnSpc>
              <a:spcBef>
                <a:spcPts val="0"/>
              </a:spcBef>
              <a:spcAft>
                <a:spcPts val="0"/>
              </a:spcAft>
            </a:pPr>
            <a:r>
              <a:rPr sz="720" b="1" i="0">
                <a:solidFill>
                  <a:srgbClr val="64748B"/>
                </a:solidFill>
                <a:latin typeface="Segoe UI"/>
              </a:rPr>
              <a:t>z / H</a:t>
            </a:r>
          </a:p>
        </p:txBody>
      </p:sp>
      <p:sp>
        <p:nvSpPr>
          <p:cNvPr id="30" name="Rounded Rectangle 29"/>
          <p:cNvSpPr/>
          <p:nvPr/>
        </p:nvSpPr>
        <p:spPr>
          <a:xfrm>
            <a:off x="6537960" y="4572000"/>
            <a:ext cx="5010912" cy="1207008"/>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4663440"/>
            <a:ext cx="45720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22D3EE"/>
                </a:solidFill>
                <a:latin typeface="Segoe UI"/>
              </a:rPr>
              <a:t>WHY OUTRIGGERS?</a:t>
            </a:r>
          </a:p>
        </p:txBody>
      </p:sp>
      <p:sp>
        <p:nvSpPr>
          <p:cNvPr id="32" name="TextBox 31"/>
          <p:cNvSpPr txBox="1"/>
          <p:nvPr/>
        </p:nvSpPr>
        <p:spPr>
          <a:xfrm>
            <a:off x="6720840" y="4901184"/>
            <a:ext cx="4663440" cy="822960"/>
          </a:xfrm>
          <a:prstGeom prst="rect">
            <a:avLst/>
          </a:prstGeom>
          <a:noFill/>
        </p:spPr>
        <p:txBody>
          <a:bodyPr wrap="square" lIns="0" rIns="0" tIns="0" bIns="0" anchor="t">
            <a:noAutofit/>
          </a:bodyPr>
          <a:lstStyle/>
          <a:p>
            <a:pPr algn="l">
              <a:lnSpc>
                <a:spcPct val="120000"/>
              </a:lnSpc>
              <a:spcBef>
                <a:spcPts val="0"/>
              </a:spcBef>
              <a:spcAft>
                <a:spcPts val="0"/>
              </a:spcAft>
            </a:pPr>
            <a:r>
              <a:rPr sz="780" b="0" i="0">
                <a:solidFill>
                  <a:srgbClr val="94A3B8"/>
                </a:solidFill>
                <a:latin typeface="Segoe UI"/>
              </a:rPr>
              <a:t>They couple the core to the perimeter columns, widening the effective structural depth. Five sets keep the core from carrying the whole moment alone.</a:t>
            </a:r>
          </a:p>
        </p:txBody>
      </p:sp>
      <p:sp>
        <p:nvSpPr>
          <p:cNvPr id="33" name="TextBox 32"/>
          <p:cNvSpPr txBox="1"/>
          <p:nvPr/>
        </p:nvSpPr>
        <p:spPr>
          <a:xfrm>
            <a:off x="640080" y="5852160"/>
            <a:ext cx="5669280" cy="274320"/>
          </a:xfrm>
          <a:prstGeom prst="rect">
            <a:avLst/>
          </a:prstGeom>
          <a:noFill/>
        </p:spPr>
        <p:txBody>
          <a:bodyPr wrap="square" lIns="0" rIns="0" tIns="0" bIns="0" anchor="t">
            <a:noAutofit/>
          </a:bodyPr>
          <a:lstStyle/>
          <a:p>
            <a:pPr algn="l">
              <a:lnSpc>
                <a:spcPct val="110000"/>
              </a:lnSpc>
              <a:spcBef>
                <a:spcPts val="0"/>
              </a:spcBef>
              <a:spcAft>
                <a:spcPts val="0"/>
              </a:spcAft>
            </a:pPr>
            <a:r>
              <a:rPr sz="819" b="1" i="0">
                <a:solidFill>
                  <a:srgbClr val="22D3EE"/>
                </a:solidFill>
                <a:latin typeface="Segoe UI"/>
              </a:rPr>
              <a:t>Load path: </a:t>
            </a:r>
            <a:r>
              <a:rPr sz="819" b="0" i="0">
                <a:solidFill>
                  <a:srgbClr val="94A3B8"/>
                </a:solidFill>
                <a:latin typeface="Segoe UI"/>
              </a:rPr>
              <a:t>façade → floor plates → core walls → outriggers → columns → raft → piles.</a:t>
            </a:r>
          </a:p>
        </p:txBody>
      </p:sp>
      <p:sp>
        <p:nvSpPr>
          <p:cNvPr id="34" name="TextBox 33"/>
          <p:cNvSpPr txBox="1"/>
          <p:nvPr/>
        </p:nvSpPr>
        <p:spPr>
          <a:xfrm>
            <a:off x="640080" y="605332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Outrigger sets and load path: SOM / Baker et al. (2015). Moment curve is the elastic cantilever relation M(z) ∝ (H − z)², normalised.</a:t>
            </a:r>
          </a:p>
        </p:txBody>
      </p:sp>
      <p:cxnSp>
        <p:nvCxnSpPr>
          <p:cNvPr id="35" name="Connector 34"/>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37" name="TextBox 36"/>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F59E0B"/>
                </a:solidFill>
                <a:latin typeface="Segoe UI"/>
              </a:rPr>
              <a:t>FOUNDATIONS</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192 piles, one raft, and a lot of Dubai sand</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13 / 20</a:t>
            </a:r>
          </a:p>
        </p:txBody>
      </p:sp>
      <p:sp>
        <p:nvSpPr>
          <p:cNvPr id="5" name="Rounded Rectangle 4"/>
          <p:cNvSpPr/>
          <p:nvPr/>
        </p:nvSpPr>
        <p:spPr>
          <a:xfrm>
            <a:off x="640080" y="1463040"/>
            <a:ext cx="6675120" cy="4315968"/>
          </a:xfrm>
          <a:prstGeom prst="roundRect">
            <a:avLst>
              <a:gd name="adj" fmla="val 5000"/>
            </a:avLst>
          </a:prstGeom>
          <a:solidFill>
            <a:srgbClr val="0B1424"/>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72768"/>
            <a:ext cx="45720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SECTION  ·  PILED RAFT  ·  SCHEMATIC</a:t>
            </a:r>
          </a:p>
        </p:txBody>
      </p:sp>
      <p:sp>
        <p:nvSpPr>
          <p:cNvPr id="7" name="Rectangle 6"/>
          <p:cNvSpPr/>
          <p:nvPr/>
        </p:nvSpPr>
        <p:spPr>
          <a:xfrm>
            <a:off x="822960" y="2953512"/>
            <a:ext cx="6126480" cy="841248"/>
          </a:xfrm>
          <a:prstGeom prst="rect">
            <a:avLst/>
          </a:prstGeom>
          <a:solidFill>
            <a:srgbClr val="2A2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3794760"/>
            <a:ext cx="6126480" cy="914400"/>
          </a:xfrm>
          <a:prstGeom prst="rect">
            <a:avLst/>
          </a:prstGeom>
          <a:solidFill>
            <a:srgbClr val="26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4709160"/>
            <a:ext cx="6126480" cy="960119"/>
          </a:xfrm>
          <a:prstGeom prst="rect">
            <a:avLst/>
          </a:prstGeom>
          <a:solidFill>
            <a:srgbClr val="1C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822960" y="2953512"/>
            <a:ext cx="6126480" cy="0"/>
          </a:xfrm>
          <a:prstGeom prst="line">
            <a:avLst/>
          </a:prstGeom>
          <a:ln w="15240">
            <a:solidFill>
              <a:srgbClr val="A26B0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68680" y="3108960"/>
            <a:ext cx="2194560" cy="182880"/>
          </a:xfrm>
          <a:prstGeom prst="rect">
            <a:avLst/>
          </a:prstGeom>
          <a:noFill/>
        </p:spPr>
        <p:txBody>
          <a:bodyPr wrap="square" lIns="0" rIns="0" tIns="0" bIns="0" anchor="t">
            <a:noAutofit/>
          </a:bodyPr>
          <a:lstStyle/>
          <a:p>
            <a:pPr algn="l">
              <a:lnSpc>
                <a:spcPct val="110000"/>
              </a:lnSpc>
              <a:spcBef>
                <a:spcPts val="0"/>
              </a:spcBef>
              <a:spcAft>
                <a:spcPts val="0"/>
              </a:spcAft>
            </a:pPr>
            <a:r>
              <a:rPr sz="640" b="0" i="0">
                <a:solidFill>
                  <a:srgbClr val="64748B"/>
                </a:solidFill>
                <a:latin typeface="Segoe UI"/>
              </a:rPr>
              <a:t>SAND / WEAK ROCK</a:t>
            </a:r>
          </a:p>
        </p:txBody>
      </p:sp>
      <p:sp>
        <p:nvSpPr>
          <p:cNvPr id="12" name="TextBox 11"/>
          <p:cNvSpPr txBox="1"/>
          <p:nvPr/>
        </p:nvSpPr>
        <p:spPr>
          <a:xfrm>
            <a:off x="868680" y="4041648"/>
            <a:ext cx="2194560" cy="182880"/>
          </a:xfrm>
          <a:prstGeom prst="rect">
            <a:avLst/>
          </a:prstGeom>
          <a:noFill/>
        </p:spPr>
        <p:txBody>
          <a:bodyPr wrap="square" lIns="0" rIns="0" tIns="0" bIns="0" anchor="t">
            <a:noAutofit/>
          </a:bodyPr>
          <a:lstStyle/>
          <a:p>
            <a:pPr algn="l">
              <a:lnSpc>
                <a:spcPct val="110000"/>
              </a:lnSpc>
              <a:spcBef>
                <a:spcPts val="0"/>
              </a:spcBef>
              <a:spcAft>
                <a:spcPts val="0"/>
              </a:spcAft>
            </a:pPr>
            <a:r>
              <a:rPr sz="640" b="0" i="0">
                <a:solidFill>
                  <a:srgbClr val="64748B"/>
                </a:solidFill>
                <a:latin typeface="Segoe UI"/>
              </a:rPr>
              <a:t>CALCARENITE</a:t>
            </a:r>
          </a:p>
        </p:txBody>
      </p:sp>
      <p:sp>
        <p:nvSpPr>
          <p:cNvPr id="13" name="TextBox 12"/>
          <p:cNvSpPr txBox="1"/>
          <p:nvPr/>
        </p:nvSpPr>
        <p:spPr>
          <a:xfrm>
            <a:off x="868680" y="5029200"/>
            <a:ext cx="2194560" cy="182880"/>
          </a:xfrm>
          <a:prstGeom prst="rect">
            <a:avLst/>
          </a:prstGeom>
          <a:noFill/>
        </p:spPr>
        <p:txBody>
          <a:bodyPr wrap="square" lIns="0" rIns="0" tIns="0" bIns="0" anchor="t">
            <a:noAutofit/>
          </a:bodyPr>
          <a:lstStyle/>
          <a:p>
            <a:pPr algn="l">
              <a:lnSpc>
                <a:spcPct val="110000"/>
              </a:lnSpc>
              <a:spcBef>
                <a:spcPts val="0"/>
              </a:spcBef>
              <a:spcAft>
                <a:spcPts val="0"/>
              </a:spcAft>
            </a:pPr>
            <a:r>
              <a:rPr sz="640" b="0" i="0">
                <a:solidFill>
                  <a:srgbClr val="64748B"/>
                </a:solidFill>
                <a:latin typeface="Segoe UI"/>
              </a:rPr>
              <a:t>BEARING STRATUM</a:t>
            </a:r>
          </a:p>
        </p:txBody>
      </p:sp>
      <p:sp>
        <p:nvSpPr>
          <p:cNvPr id="14" name="Rectangle 13"/>
          <p:cNvSpPr/>
          <p:nvPr/>
        </p:nvSpPr>
        <p:spPr>
          <a:xfrm>
            <a:off x="2148839" y="2395728"/>
            <a:ext cx="3657600" cy="310896"/>
          </a:xfrm>
          <a:prstGeom prst="rect">
            <a:avLst/>
          </a:prstGeom>
          <a:solidFill>
            <a:srgbClr val="152238"/>
          </a:solidFill>
          <a:ln w="11430">
            <a:solidFill>
              <a:srgbClr val="188E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31720" y="2084831"/>
            <a:ext cx="3291840" cy="310896"/>
          </a:xfrm>
          <a:prstGeom prst="rect">
            <a:avLst/>
          </a:prstGeom>
          <a:solidFill>
            <a:srgbClr val="152238"/>
          </a:solidFill>
          <a:ln w="11430">
            <a:solidFill>
              <a:srgbClr val="188E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4599" y="1773936"/>
            <a:ext cx="2926080" cy="310896"/>
          </a:xfrm>
          <a:prstGeom prst="rect">
            <a:avLst/>
          </a:prstGeom>
          <a:solidFill>
            <a:srgbClr val="152238"/>
          </a:solidFill>
          <a:ln w="11430">
            <a:solidFill>
              <a:srgbClr val="188E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24327" y="1837943"/>
            <a:ext cx="2194560" cy="182880"/>
          </a:xfrm>
          <a:prstGeom prst="rect">
            <a:avLst/>
          </a:prstGeom>
          <a:noFill/>
        </p:spPr>
        <p:txBody>
          <a:bodyPr wrap="square" lIns="0" rIns="0" tIns="0" bIns="0" anchor="t">
            <a:noAutofit/>
          </a:bodyPr>
          <a:lstStyle/>
          <a:p>
            <a:pPr algn="l">
              <a:lnSpc>
                <a:spcPct val="110000"/>
              </a:lnSpc>
              <a:spcBef>
                <a:spcPts val="0"/>
              </a:spcBef>
              <a:spcAft>
                <a:spcPts val="0"/>
              </a:spcAft>
            </a:pPr>
            <a:r>
              <a:rPr sz="640" b="1" i="0">
                <a:solidFill>
                  <a:srgbClr val="94A3B8"/>
                </a:solidFill>
                <a:latin typeface="Segoe UI"/>
              </a:rPr>
              <a:t>TOWER ABOVE</a:t>
            </a:r>
          </a:p>
        </p:txBody>
      </p:sp>
      <p:sp>
        <p:nvSpPr>
          <p:cNvPr id="18" name="Rectangle 17"/>
          <p:cNvSpPr/>
          <p:nvPr/>
        </p:nvSpPr>
        <p:spPr>
          <a:xfrm>
            <a:off x="1920240" y="2697480"/>
            <a:ext cx="4114800" cy="256032"/>
          </a:xfrm>
          <a:prstGeom prst="rect">
            <a:avLst/>
          </a:prstGeom>
          <a:solidFill>
            <a:srgbClr val="8A5D11"/>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1031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317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603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889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175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461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74720" y="2953512"/>
            <a:ext cx="0" cy="2286000"/>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03320" y="2953512"/>
            <a:ext cx="0" cy="2286000"/>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31920" y="2953512"/>
            <a:ext cx="0" cy="2286000"/>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160520" y="2953512"/>
            <a:ext cx="0" cy="2286000"/>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89120" y="2953512"/>
            <a:ext cx="0" cy="2286000"/>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6177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463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749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035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532120" y="2953512"/>
            <a:ext cx="0" cy="2487168"/>
          </a:xfrm>
          <a:prstGeom prst="line">
            <a:avLst/>
          </a:prstGeom>
          <a:ln w="33020">
            <a:solidFill>
              <a:srgbClr val="CA840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60720" y="2953512"/>
            <a:ext cx="0" cy="2487168"/>
          </a:xfrm>
          <a:prstGeom prst="line">
            <a:avLst/>
          </a:prstGeom>
          <a:ln w="33020">
            <a:solidFill>
              <a:srgbClr val="E6950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920240" y="5522976"/>
            <a:ext cx="3108960" cy="182880"/>
          </a:xfrm>
          <a:prstGeom prst="rect">
            <a:avLst/>
          </a:prstGeom>
          <a:noFill/>
        </p:spPr>
        <p:txBody>
          <a:bodyPr wrap="square" lIns="0" rIns="0" tIns="0" bIns="0" anchor="t">
            <a:noAutofit/>
          </a:bodyPr>
          <a:lstStyle/>
          <a:p>
            <a:pPr algn="l">
              <a:lnSpc>
                <a:spcPct val="110000"/>
              </a:lnSpc>
              <a:spcBef>
                <a:spcPts val="0"/>
              </a:spcBef>
              <a:spcAft>
                <a:spcPts val="0"/>
              </a:spcAft>
            </a:pPr>
            <a:r>
              <a:rPr sz="660" b="0" i="0">
                <a:solidFill>
                  <a:srgbClr val="64748B"/>
                </a:solidFill>
                <a:latin typeface="Segoe UI"/>
              </a:rPr>
              <a:t>192 piles  ·  spacing schematic</a:t>
            </a:r>
          </a:p>
        </p:txBody>
      </p:sp>
      <p:cxnSp>
        <p:nvCxnSpPr>
          <p:cNvPr id="37" name="Connector 36"/>
          <p:cNvCxnSpPr/>
          <p:nvPr/>
        </p:nvCxnSpPr>
        <p:spPr>
          <a:xfrm>
            <a:off x="1280160" y="2825496"/>
            <a:ext cx="621792" cy="0"/>
          </a:xfrm>
          <a:prstGeom prst="line">
            <a:avLst/>
          </a:prstGeom>
          <a:ln w="10160">
            <a:solidFill>
              <a:srgbClr val="F59E0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8680" y="2331720"/>
            <a:ext cx="1097280" cy="365760"/>
          </a:xfrm>
          <a:prstGeom prst="rect">
            <a:avLst/>
          </a:prstGeom>
          <a:noFill/>
        </p:spPr>
        <p:txBody>
          <a:bodyPr wrap="square" lIns="0" rIns="0" tIns="0" bIns="0" anchor="t">
            <a:noAutofit/>
          </a:bodyPr>
          <a:lstStyle/>
          <a:p>
            <a:pPr algn="l">
              <a:lnSpc>
                <a:spcPct val="105000"/>
              </a:lnSpc>
              <a:spcBef>
                <a:spcPts val="0"/>
              </a:spcBef>
              <a:spcAft>
                <a:spcPts val="0"/>
              </a:spcAft>
            </a:pPr>
            <a:r>
              <a:rPr sz="740" b="1" i="0">
                <a:solidFill>
                  <a:srgbClr val="F59E0B"/>
                </a:solidFill>
                <a:latin typeface="Segoe UI"/>
              </a:rPr>
              <a:t>3.7 m
raft</a:t>
            </a:r>
          </a:p>
        </p:txBody>
      </p:sp>
      <p:cxnSp>
        <p:nvCxnSpPr>
          <p:cNvPr id="39" name="Connector 38"/>
          <p:cNvCxnSpPr/>
          <p:nvPr/>
        </p:nvCxnSpPr>
        <p:spPr>
          <a:xfrm>
            <a:off x="5806440" y="5230368"/>
            <a:ext cx="228600" cy="0"/>
          </a:xfrm>
          <a:prstGeom prst="line">
            <a:avLst/>
          </a:prstGeom>
          <a:ln w="10160">
            <a:solidFill>
              <a:srgbClr val="F59E0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53328" y="5120640"/>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F59E0B"/>
                </a:solidFill>
                <a:latin typeface="Segoe UI"/>
              </a:rPr>
              <a:t>47.45 m</a:t>
            </a:r>
          </a:p>
        </p:txBody>
      </p:sp>
      <p:sp>
        <p:nvSpPr>
          <p:cNvPr id="41" name="Rounded Rectangle 40"/>
          <p:cNvSpPr/>
          <p:nvPr/>
        </p:nvSpPr>
        <p:spPr>
          <a:xfrm>
            <a:off x="7360920" y="1463040"/>
            <a:ext cx="4187952" cy="192024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379208" y="1463040"/>
            <a:ext cx="4151376"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43800" y="1572768"/>
            <a:ext cx="384048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F59E0B"/>
                </a:solidFill>
                <a:latin typeface="Segoe UI"/>
              </a:rPr>
              <a:t>THE NUMBERS</a:t>
            </a:r>
          </a:p>
        </p:txBody>
      </p:sp>
      <p:sp>
        <p:nvSpPr>
          <p:cNvPr id="44" name="TextBox 43"/>
          <p:cNvSpPr txBox="1"/>
          <p:nvPr/>
        </p:nvSpPr>
        <p:spPr>
          <a:xfrm>
            <a:off x="7543800" y="1828800"/>
            <a:ext cx="1737360" cy="274320"/>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192</a:t>
            </a:r>
          </a:p>
        </p:txBody>
      </p:sp>
      <p:sp>
        <p:nvSpPr>
          <p:cNvPr id="45" name="TextBox 44"/>
          <p:cNvSpPr txBox="1"/>
          <p:nvPr/>
        </p:nvSpPr>
        <p:spPr>
          <a:xfrm>
            <a:off x="7543800" y="2139696"/>
            <a:ext cx="173736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bored piles</a:t>
            </a:r>
          </a:p>
        </p:txBody>
      </p:sp>
      <p:sp>
        <p:nvSpPr>
          <p:cNvPr id="46" name="TextBox 45"/>
          <p:cNvSpPr txBox="1"/>
          <p:nvPr/>
        </p:nvSpPr>
        <p:spPr>
          <a:xfrm>
            <a:off x="9464040" y="1828800"/>
            <a:ext cx="1737360" cy="274320"/>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1.5 m</a:t>
            </a:r>
          </a:p>
        </p:txBody>
      </p:sp>
      <p:sp>
        <p:nvSpPr>
          <p:cNvPr id="47" name="TextBox 46"/>
          <p:cNvSpPr txBox="1"/>
          <p:nvPr/>
        </p:nvSpPr>
        <p:spPr>
          <a:xfrm>
            <a:off x="9464040" y="2139696"/>
            <a:ext cx="173736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pile diameter</a:t>
            </a:r>
          </a:p>
        </p:txBody>
      </p:sp>
      <p:sp>
        <p:nvSpPr>
          <p:cNvPr id="48" name="TextBox 47"/>
          <p:cNvSpPr txBox="1"/>
          <p:nvPr/>
        </p:nvSpPr>
        <p:spPr>
          <a:xfrm>
            <a:off x="7543800" y="2542032"/>
            <a:ext cx="1737360" cy="274320"/>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47.45 m</a:t>
            </a:r>
          </a:p>
        </p:txBody>
      </p:sp>
      <p:sp>
        <p:nvSpPr>
          <p:cNvPr id="49" name="TextBox 48"/>
          <p:cNvSpPr txBox="1"/>
          <p:nvPr/>
        </p:nvSpPr>
        <p:spPr>
          <a:xfrm>
            <a:off x="7543800" y="2852928"/>
            <a:ext cx="173736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pile depth</a:t>
            </a:r>
          </a:p>
        </p:txBody>
      </p:sp>
      <p:sp>
        <p:nvSpPr>
          <p:cNvPr id="50" name="TextBox 49"/>
          <p:cNvSpPr txBox="1"/>
          <p:nvPr/>
        </p:nvSpPr>
        <p:spPr>
          <a:xfrm>
            <a:off x="9464040" y="2542032"/>
            <a:ext cx="1737360" cy="274320"/>
          </a:xfrm>
          <a:prstGeom prst="rect">
            <a:avLst/>
          </a:prstGeom>
          <a:noFill/>
        </p:spPr>
        <p:txBody>
          <a:bodyPr wrap="square" lIns="0" rIns="0" tIns="0" bIns="0" anchor="t">
            <a:noAutofit/>
          </a:bodyPr>
          <a:lstStyle/>
          <a:p>
            <a:pPr algn="l">
              <a:lnSpc>
                <a:spcPct val="110000"/>
              </a:lnSpc>
              <a:spcBef>
                <a:spcPts val="0"/>
              </a:spcBef>
              <a:spcAft>
                <a:spcPts val="0"/>
              </a:spcAft>
            </a:pPr>
            <a:r>
              <a:rPr sz="1500" b="1" i="0">
                <a:solidFill>
                  <a:srgbClr val="E8EEF7"/>
                </a:solidFill>
                <a:latin typeface="Segoe UI Semibold"/>
              </a:rPr>
              <a:t>3.7 m</a:t>
            </a:r>
          </a:p>
        </p:txBody>
      </p:sp>
      <p:sp>
        <p:nvSpPr>
          <p:cNvPr id="51" name="TextBox 50"/>
          <p:cNvSpPr txBox="1"/>
          <p:nvPr/>
        </p:nvSpPr>
        <p:spPr>
          <a:xfrm>
            <a:off x="9464040" y="2852928"/>
            <a:ext cx="1737360" cy="18288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94A3B8"/>
                </a:solidFill>
                <a:latin typeface="Segoe UI"/>
              </a:rPr>
              <a:t>raft thickness</a:t>
            </a:r>
          </a:p>
        </p:txBody>
      </p:sp>
      <p:sp>
        <p:nvSpPr>
          <p:cNvPr id="52" name="Rounded Rectangle 51"/>
          <p:cNvSpPr/>
          <p:nvPr/>
        </p:nvSpPr>
        <p:spPr>
          <a:xfrm>
            <a:off x="7360920" y="3529584"/>
            <a:ext cx="4187952" cy="2249424"/>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43800" y="3639312"/>
            <a:ext cx="384048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F59E0B"/>
                </a:solidFill>
                <a:latin typeface="Segoe UI"/>
              </a:rPr>
              <a:t>WHY A PILED RAFT?</a:t>
            </a:r>
          </a:p>
        </p:txBody>
      </p:sp>
      <p:sp>
        <p:nvSpPr>
          <p:cNvPr id="54" name="TextBox 53"/>
          <p:cNvSpPr txBox="1"/>
          <p:nvPr/>
        </p:nvSpPr>
        <p:spPr>
          <a:xfrm>
            <a:off x="7543800" y="3877056"/>
            <a:ext cx="3886200" cy="1737360"/>
          </a:xfrm>
          <a:prstGeom prst="rect">
            <a:avLst/>
          </a:prstGeom>
          <a:noFill/>
        </p:spPr>
        <p:txBody>
          <a:bodyPr wrap="square" lIns="0" rIns="0" tIns="0" bIns="0" anchor="t">
            <a:noAutofit/>
          </a:bodyPr>
          <a:lstStyle/>
          <a:p>
            <a:pPr algn="l">
              <a:lnSpc>
                <a:spcPct val="124000"/>
              </a:lnSpc>
              <a:spcBef>
                <a:spcPts val="0"/>
              </a:spcBef>
              <a:spcAft>
                <a:spcPts val="0"/>
              </a:spcAft>
            </a:pPr>
            <a:r>
              <a:rPr sz="800" b="0" i="0">
                <a:solidFill>
                  <a:srgbClr val="94A3B8"/>
                </a:solidFill>
                <a:latin typeface="Segoe UI"/>
              </a:rPr>
              <a:t>Dubai's ground is weak carbonate sand and rock. The raft spreads load; the piles reach the stronger stratum and mobilise skin friction. Excavating the basement also removes weight — a compensated foundation, so the net pressure on the soil stays low.</a:t>
            </a:r>
          </a:p>
        </p:txBody>
      </p:sp>
      <p:sp>
        <p:nvSpPr>
          <p:cNvPr id="55" name="TextBox 54"/>
          <p:cNvSpPr txBox="1"/>
          <p:nvPr/>
        </p:nvSpPr>
        <p:spPr>
          <a:xfrm>
            <a:off x="7543800" y="5285232"/>
            <a:ext cx="3886200" cy="365760"/>
          </a:xfrm>
          <a:prstGeom prst="rect">
            <a:avLst/>
          </a:prstGeom>
          <a:noFill/>
        </p:spPr>
        <p:txBody>
          <a:bodyPr wrap="square" lIns="0" rIns="0" tIns="0" bIns="0" anchor="t">
            <a:noAutofit/>
          </a:bodyPr>
          <a:lstStyle/>
          <a:p>
            <a:pPr algn="l">
              <a:lnSpc>
                <a:spcPct val="115000"/>
              </a:lnSpc>
              <a:spcBef>
                <a:spcPts val="0"/>
              </a:spcBef>
              <a:spcAft>
                <a:spcPts val="0"/>
              </a:spcAft>
            </a:pPr>
            <a:r>
              <a:rPr sz="740" b="1" i="0">
                <a:solidFill>
                  <a:srgbClr val="22D3EE"/>
                </a:solidFill>
                <a:latin typeface="Segoe UI"/>
              </a:rPr>
              <a:t>Net pressure ≈ building weight − excavated soil</a:t>
            </a:r>
          </a:p>
        </p:txBody>
      </p:sp>
      <p:sp>
        <p:nvSpPr>
          <p:cNvPr id="56" name="TextBox 55"/>
          <p:cNvSpPr txBox="1"/>
          <p:nvPr/>
        </p:nvSpPr>
        <p:spPr>
          <a:xfrm>
            <a:off x="640080" y="587044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Pile count, diameter, depth and raft thickness: CTBUH / SOM foundation papers. Section is diagrammatic; pile spacing is not to scale.</a:t>
            </a:r>
          </a:p>
        </p:txBody>
      </p:sp>
      <p:cxnSp>
        <p:nvCxnSpPr>
          <p:cNvPr id="57" name="Connector 56"/>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59" name="TextBox 58"/>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F59E0B"/>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F59E0B"/>
                </a:solidFill>
                <a:latin typeface="Segoe UI"/>
              </a:rPr>
              <a:t>CONSTRUCTION</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Building 828 metres, one climbing cycle at a time</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14 / 20</a:t>
            </a:r>
          </a:p>
        </p:txBody>
      </p:sp>
      <p:sp>
        <p:nvSpPr>
          <p:cNvPr id="5" name="Rounded Rectangle 4"/>
          <p:cNvSpPr/>
          <p:nvPr/>
        </p:nvSpPr>
        <p:spPr>
          <a:xfrm>
            <a:off x="640080" y="148132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57276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330,000</a:t>
            </a:r>
            <a:r>
              <a:rPr sz="800" b="1" i="0">
                <a:solidFill>
                  <a:srgbClr val="F59E0B"/>
                </a:solidFill>
                <a:latin typeface="Segoe UI"/>
              </a:rPr>
              <a:t>m³</a:t>
            </a:r>
          </a:p>
        </p:txBody>
      </p:sp>
      <p:sp>
        <p:nvSpPr>
          <p:cNvPr id="7" name="TextBox 6"/>
          <p:cNvSpPr txBox="1"/>
          <p:nvPr/>
        </p:nvSpPr>
        <p:spPr>
          <a:xfrm>
            <a:off x="768096" y="2139696"/>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concrete</a:t>
            </a:r>
          </a:p>
        </p:txBody>
      </p:sp>
      <p:sp>
        <p:nvSpPr>
          <p:cNvPr id="8" name="Rounded Rectangle 7"/>
          <p:cNvSpPr/>
          <p:nvPr/>
        </p:nvSpPr>
        <p:spPr>
          <a:xfrm>
            <a:off x="2560320" y="148132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88336" y="157276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39,000</a:t>
            </a:r>
            <a:r>
              <a:rPr sz="800" b="1" i="0">
                <a:solidFill>
                  <a:srgbClr val="F59E0B"/>
                </a:solidFill>
                <a:latin typeface="Segoe UI"/>
              </a:rPr>
              <a:t>t</a:t>
            </a:r>
          </a:p>
        </p:txBody>
      </p:sp>
      <p:sp>
        <p:nvSpPr>
          <p:cNvPr id="10" name="TextBox 9"/>
          <p:cNvSpPr txBox="1"/>
          <p:nvPr/>
        </p:nvSpPr>
        <p:spPr>
          <a:xfrm>
            <a:off x="2688336" y="2139696"/>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reinforcement</a:t>
            </a:r>
          </a:p>
        </p:txBody>
      </p:sp>
      <p:sp>
        <p:nvSpPr>
          <p:cNvPr id="11" name="Rounded Rectangle 10"/>
          <p:cNvSpPr/>
          <p:nvPr/>
        </p:nvSpPr>
        <p:spPr>
          <a:xfrm>
            <a:off x="4480560" y="148132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57276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C60–C80</a:t>
            </a:r>
            <a:r>
              <a:rPr sz="800" b="1" i="0">
                <a:solidFill>
                  <a:srgbClr val="F59E0B"/>
                </a:solidFill>
                <a:latin typeface="Segoe UI"/>
              </a:rPr>
              <a:t/>
            </a:r>
          </a:p>
        </p:txBody>
      </p:sp>
      <p:sp>
        <p:nvSpPr>
          <p:cNvPr id="13" name="TextBox 12"/>
          <p:cNvSpPr txBox="1"/>
          <p:nvPr/>
        </p:nvSpPr>
        <p:spPr>
          <a:xfrm>
            <a:off x="4608576" y="2139696"/>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concrete cube strength</a:t>
            </a:r>
          </a:p>
        </p:txBody>
      </p:sp>
      <p:sp>
        <p:nvSpPr>
          <p:cNvPr id="14" name="Rounded Rectangle 13"/>
          <p:cNvSpPr/>
          <p:nvPr/>
        </p:nvSpPr>
        <p:spPr>
          <a:xfrm>
            <a:off x="640080" y="267004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6148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22 M</a:t>
            </a:r>
            <a:r>
              <a:rPr sz="800" b="1" i="0">
                <a:solidFill>
                  <a:srgbClr val="F59E0B"/>
                </a:solidFill>
                <a:latin typeface="Segoe UI"/>
              </a:rPr>
              <a:t/>
            </a:r>
          </a:p>
        </p:txBody>
      </p:sp>
      <p:sp>
        <p:nvSpPr>
          <p:cNvPr id="16" name="TextBox 15"/>
          <p:cNvSpPr txBox="1"/>
          <p:nvPr/>
        </p:nvSpPr>
        <p:spPr>
          <a:xfrm>
            <a:off x="768096" y="3328415"/>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construction man-hours</a:t>
            </a:r>
          </a:p>
        </p:txBody>
      </p:sp>
      <p:sp>
        <p:nvSpPr>
          <p:cNvPr id="17" name="Rounded Rectangle 16"/>
          <p:cNvSpPr/>
          <p:nvPr/>
        </p:nvSpPr>
        <p:spPr>
          <a:xfrm>
            <a:off x="2560320" y="267004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88336" y="276148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12,000</a:t>
            </a:r>
            <a:r>
              <a:rPr sz="800" b="1" i="0">
                <a:solidFill>
                  <a:srgbClr val="F59E0B"/>
                </a:solidFill>
                <a:latin typeface="Segoe UI"/>
              </a:rPr>
              <a:t/>
            </a:r>
          </a:p>
        </p:txBody>
      </p:sp>
      <p:sp>
        <p:nvSpPr>
          <p:cNvPr id="19" name="TextBox 18"/>
          <p:cNvSpPr txBox="1"/>
          <p:nvPr/>
        </p:nvSpPr>
        <p:spPr>
          <a:xfrm>
            <a:off x="2688336" y="3328415"/>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workers at peak</a:t>
            </a:r>
          </a:p>
        </p:txBody>
      </p:sp>
      <p:sp>
        <p:nvSpPr>
          <p:cNvPr id="20" name="Rounded Rectangle 19"/>
          <p:cNvSpPr/>
          <p:nvPr/>
        </p:nvSpPr>
        <p:spPr>
          <a:xfrm>
            <a:off x="4480560" y="2670048"/>
            <a:ext cx="1792224"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8576" y="2761488"/>
            <a:ext cx="1554480" cy="457200"/>
          </a:xfrm>
          <a:prstGeom prst="rect">
            <a:avLst/>
          </a:prstGeom>
          <a:noFill/>
        </p:spPr>
        <p:txBody>
          <a:bodyPr wrap="square" lIns="0" rIns="0" tIns="0" bIns="0" anchor="t">
            <a:noAutofit/>
          </a:bodyPr>
          <a:lstStyle/>
          <a:p>
            <a:pPr algn="l">
              <a:lnSpc>
                <a:spcPct val="95000"/>
              </a:lnSpc>
              <a:spcBef>
                <a:spcPts val="0"/>
              </a:spcBef>
              <a:spcAft>
                <a:spcPts val="0"/>
              </a:spcAft>
            </a:pPr>
            <a:r>
              <a:rPr sz="1700" b="1" i="0">
                <a:solidFill>
                  <a:srgbClr val="E8EEF7"/>
                </a:solidFill>
                <a:latin typeface="Segoe UI"/>
              </a:rPr>
              <a:t>600 m+</a:t>
            </a:r>
            <a:r>
              <a:rPr sz="800" b="1" i="0">
                <a:solidFill>
                  <a:srgbClr val="F59E0B"/>
                </a:solidFill>
                <a:latin typeface="Segoe UI"/>
              </a:rPr>
              <a:t/>
            </a:r>
          </a:p>
        </p:txBody>
      </p:sp>
      <p:sp>
        <p:nvSpPr>
          <p:cNvPr id="22" name="TextBox 21"/>
          <p:cNvSpPr txBox="1"/>
          <p:nvPr/>
        </p:nvSpPr>
        <p:spPr>
          <a:xfrm>
            <a:off x="4608576" y="3328415"/>
            <a:ext cx="1554480" cy="310896"/>
          </a:xfrm>
          <a:prstGeom prst="rect">
            <a:avLst/>
          </a:prstGeom>
          <a:noFill/>
        </p:spPr>
        <p:txBody>
          <a:bodyPr wrap="square" lIns="0" rIns="0" tIns="0" bIns="0" anchor="t">
            <a:noAutofit/>
          </a:bodyPr>
          <a:lstStyle/>
          <a:p>
            <a:pPr algn="l">
              <a:lnSpc>
                <a:spcPct val="105000"/>
              </a:lnSpc>
              <a:spcBef>
                <a:spcPts val="0"/>
              </a:spcBef>
              <a:spcAft>
                <a:spcPts val="0"/>
              </a:spcAft>
            </a:pPr>
            <a:r>
              <a:rPr sz="680" b="0" i="0">
                <a:solidFill>
                  <a:srgbClr val="94A3B8"/>
                </a:solidFill>
                <a:latin typeface="Segoe UI"/>
              </a:rPr>
              <a:t>concrete pump height</a:t>
            </a:r>
          </a:p>
        </p:txBody>
      </p:sp>
      <p:sp>
        <p:nvSpPr>
          <p:cNvPr id="23" name="Rounded Rectangle 22"/>
          <p:cNvSpPr/>
          <p:nvPr/>
        </p:nvSpPr>
        <p:spPr>
          <a:xfrm>
            <a:off x="640080" y="3968496"/>
            <a:ext cx="5669280" cy="182880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3968496"/>
            <a:ext cx="5632704"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4078224"/>
            <a:ext cx="53035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F59E0B"/>
                </a:solidFill>
                <a:latin typeface="Segoe UI"/>
              </a:rPr>
              <a:t>THE CLIMBING SYSTEM</a:t>
            </a:r>
          </a:p>
        </p:txBody>
      </p:sp>
      <p:sp>
        <p:nvSpPr>
          <p:cNvPr id="26" name="TextBox 25"/>
          <p:cNvSpPr txBox="1"/>
          <p:nvPr/>
        </p:nvSpPr>
        <p:spPr>
          <a:xfrm>
            <a:off x="822959" y="4315968"/>
            <a:ext cx="5349240" cy="1097280"/>
          </a:xfrm>
          <a:prstGeom prst="rect">
            <a:avLst/>
          </a:prstGeom>
          <a:noFill/>
        </p:spPr>
        <p:txBody>
          <a:bodyPr wrap="square" lIns="0" rIns="0" tIns="0" bIns="0" anchor="t">
            <a:noAutofit/>
          </a:bodyPr>
          <a:lstStyle/>
          <a:p>
            <a:pPr algn="l">
              <a:lnSpc>
                <a:spcPct val="128000"/>
              </a:lnSpc>
              <a:spcBef>
                <a:spcPts val="0"/>
              </a:spcBef>
              <a:spcAft>
                <a:spcPts val="0"/>
              </a:spcAft>
            </a:pPr>
            <a:r>
              <a:rPr sz="840" b="0" i="0">
                <a:solidFill>
                  <a:srgbClr val="94A3B8"/>
                </a:solidFill>
                <a:latin typeface="Segoe UI"/>
              </a:rPr>
              <a:t>A self-climbing formwork system jumped with the core. Each wing followed its own cycle, so the setbacks were built as ordinary floor steps — no transfer beams, no temporary works holding the shape.</a:t>
            </a:r>
          </a:p>
        </p:txBody>
      </p:sp>
      <p:sp>
        <p:nvSpPr>
          <p:cNvPr id="27" name="TextBox 26"/>
          <p:cNvSpPr txBox="1"/>
          <p:nvPr/>
        </p:nvSpPr>
        <p:spPr>
          <a:xfrm>
            <a:off x="822959" y="5230368"/>
            <a:ext cx="1463040" cy="182880"/>
          </a:xfrm>
          <a:prstGeom prst="rect">
            <a:avLst/>
          </a:prstGeom>
          <a:noFill/>
        </p:spPr>
        <p:txBody>
          <a:bodyPr wrap="square" lIns="0" rIns="0" tIns="0" bIns="0" anchor="t">
            <a:noAutofit/>
          </a:bodyPr>
          <a:lstStyle/>
          <a:p>
            <a:pPr algn="l">
              <a:lnSpc>
                <a:spcPct val="110000"/>
              </a:lnSpc>
              <a:spcBef>
                <a:spcPts val="0"/>
              </a:spcBef>
              <a:spcAft>
                <a:spcPts val="0"/>
              </a:spcAft>
            </a:pPr>
            <a:r>
              <a:rPr sz="640" b="1" i="0">
                <a:solidFill>
                  <a:srgbClr val="64748B"/>
                </a:solidFill>
                <a:latin typeface="Segoe UI"/>
              </a:rPr>
              <a:t>CORE</a:t>
            </a:r>
          </a:p>
        </p:txBody>
      </p:sp>
      <p:sp>
        <p:nvSpPr>
          <p:cNvPr id="28" name="TextBox 27"/>
          <p:cNvSpPr txBox="1"/>
          <p:nvPr/>
        </p:nvSpPr>
        <p:spPr>
          <a:xfrm>
            <a:off x="822959" y="5413248"/>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1100" b="1" i="0">
                <a:solidFill>
                  <a:srgbClr val="F59E0B"/>
                </a:solidFill>
                <a:latin typeface="Segoe UI Semibold"/>
              </a:rPr>
              <a:t>leads</a:t>
            </a:r>
          </a:p>
        </p:txBody>
      </p:sp>
      <p:sp>
        <p:nvSpPr>
          <p:cNvPr id="29" name="TextBox 28"/>
          <p:cNvSpPr txBox="1"/>
          <p:nvPr/>
        </p:nvSpPr>
        <p:spPr>
          <a:xfrm>
            <a:off x="2651760" y="5230368"/>
            <a:ext cx="1463040" cy="182880"/>
          </a:xfrm>
          <a:prstGeom prst="rect">
            <a:avLst/>
          </a:prstGeom>
          <a:noFill/>
        </p:spPr>
        <p:txBody>
          <a:bodyPr wrap="square" lIns="0" rIns="0" tIns="0" bIns="0" anchor="t">
            <a:noAutofit/>
          </a:bodyPr>
          <a:lstStyle/>
          <a:p>
            <a:pPr algn="l">
              <a:lnSpc>
                <a:spcPct val="110000"/>
              </a:lnSpc>
              <a:spcBef>
                <a:spcPts val="0"/>
              </a:spcBef>
              <a:spcAft>
                <a:spcPts val="0"/>
              </a:spcAft>
            </a:pPr>
            <a:r>
              <a:rPr sz="640" b="1" i="0">
                <a:solidFill>
                  <a:srgbClr val="64748B"/>
                </a:solidFill>
                <a:latin typeface="Segoe UI"/>
              </a:rPr>
              <a:t>WINGS</a:t>
            </a:r>
          </a:p>
        </p:txBody>
      </p:sp>
      <p:sp>
        <p:nvSpPr>
          <p:cNvPr id="30" name="TextBox 29"/>
          <p:cNvSpPr txBox="1"/>
          <p:nvPr/>
        </p:nvSpPr>
        <p:spPr>
          <a:xfrm>
            <a:off x="2651760" y="5413248"/>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1100" b="1" i="0">
                <a:solidFill>
                  <a:srgbClr val="F59E0B"/>
                </a:solidFill>
                <a:latin typeface="Segoe UI Semibold"/>
              </a:rPr>
              <a:t>follow</a:t>
            </a:r>
          </a:p>
        </p:txBody>
      </p:sp>
      <p:sp>
        <p:nvSpPr>
          <p:cNvPr id="31" name="TextBox 30"/>
          <p:cNvSpPr txBox="1"/>
          <p:nvPr/>
        </p:nvSpPr>
        <p:spPr>
          <a:xfrm>
            <a:off x="4480560" y="5230368"/>
            <a:ext cx="1463040" cy="182880"/>
          </a:xfrm>
          <a:prstGeom prst="rect">
            <a:avLst/>
          </a:prstGeom>
          <a:noFill/>
        </p:spPr>
        <p:txBody>
          <a:bodyPr wrap="square" lIns="0" rIns="0" tIns="0" bIns="0" anchor="t">
            <a:noAutofit/>
          </a:bodyPr>
          <a:lstStyle/>
          <a:p>
            <a:pPr algn="l">
              <a:lnSpc>
                <a:spcPct val="110000"/>
              </a:lnSpc>
              <a:spcBef>
                <a:spcPts val="0"/>
              </a:spcBef>
              <a:spcAft>
                <a:spcPts val="0"/>
              </a:spcAft>
            </a:pPr>
            <a:r>
              <a:rPr sz="640" b="1" i="0">
                <a:solidFill>
                  <a:srgbClr val="64748B"/>
                </a:solidFill>
                <a:latin typeface="Segoe UI"/>
              </a:rPr>
              <a:t>SETBACKS</a:t>
            </a:r>
          </a:p>
        </p:txBody>
      </p:sp>
      <p:sp>
        <p:nvSpPr>
          <p:cNvPr id="32" name="TextBox 31"/>
          <p:cNvSpPr txBox="1"/>
          <p:nvPr/>
        </p:nvSpPr>
        <p:spPr>
          <a:xfrm>
            <a:off x="4480560" y="5413248"/>
            <a:ext cx="1463040" cy="219456"/>
          </a:xfrm>
          <a:prstGeom prst="rect">
            <a:avLst/>
          </a:prstGeom>
          <a:noFill/>
        </p:spPr>
        <p:txBody>
          <a:bodyPr wrap="square" lIns="0" rIns="0" tIns="0" bIns="0" anchor="t">
            <a:noAutofit/>
          </a:bodyPr>
          <a:lstStyle/>
          <a:p>
            <a:pPr algn="l">
              <a:lnSpc>
                <a:spcPct val="110000"/>
              </a:lnSpc>
              <a:spcBef>
                <a:spcPts val="0"/>
              </a:spcBef>
              <a:spcAft>
                <a:spcPts val="0"/>
              </a:spcAft>
            </a:pPr>
            <a:r>
              <a:rPr sz="1100" b="1" i="0">
                <a:solidFill>
                  <a:srgbClr val="F59E0B"/>
                </a:solidFill>
                <a:latin typeface="Segoe UI Semibold"/>
              </a:rPr>
              <a:t>stack</a:t>
            </a:r>
          </a:p>
        </p:txBody>
      </p:sp>
      <p:sp>
        <p:nvSpPr>
          <p:cNvPr id="33" name="Rounded Rectangle 32"/>
          <p:cNvSpPr/>
          <p:nvPr/>
        </p:nvSpPr>
        <p:spPr>
          <a:xfrm>
            <a:off x="6492240" y="1481328"/>
            <a:ext cx="5056632" cy="431596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10527" y="1481328"/>
            <a:ext cx="5020056"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1591056"/>
            <a:ext cx="448056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22D3EE"/>
                </a:solidFill>
                <a:latin typeface="Segoe UI"/>
              </a:rPr>
              <a:t>PROGRAMME  ·  2004 – 2010</a:t>
            </a:r>
          </a:p>
        </p:txBody>
      </p:sp>
      <p:sp>
        <p:nvSpPr>
          <p:cNvPr id="36" name="Oval 35"/>
          <p:cNvSpPr/>
          <p:nvPr/>
        </p:nvSpPr>
        <p:spPr>
          <a:xfrm>
            <a:off x="6693408" y="1993392"/>
            <a:ext cx="128016" cy="12801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6757416" y="2139696"/>
            <a:ext cx="0" cy="566928"/>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949440" y="1920240"/>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2004</a:t>
            </a:r>
          </a:p>
        </p:txBody>
      </p:sp>
      <p:sp>
        <p:nvSpPr>
          <p:cNvPr id="39" name="TextBox 38"/>
          <p:cNvSpPr txBox="1"/>
          <p:nvPr/>
        </p:nvSpPr>
        <p:spPr>
          <a:xfrm>
            <a:off x="7589520" y="1920240"/>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E8EEF7"/>
                </a:solidFill>
                <a:latin typeface="Segoe UI"/>
              </a:rPr>
              <a:t>Excavation and piling</a:t>
            </a:r>
          </a:p>
        </p:txBody>
      </p:sp>
      <p:sp>
        <p:nvSpPr>
          <p:cNvPr id="40" name="TextBox 39"/>
          <p:cNvSpPr txBox="1"/>
          <p:nvPr/>
        </p:nvSpPr>
        <p:spPr>
          <a:xfrm>
            <a:off x="7589520" y="2139696"/>
            <a:ext cx="3703320" cy="365760"/>
          </a:xfrm>
          <a:prstGeom prst="rect">
            <a:avLst/>
          </a:prstGeom>
          <a:noFill/>
        </p:spPr>
        <p:txBody>
          <a:bodyPr wrap="square" lIns="0" rIns="0" tIns="0" bIns="0" anchor="t">
            <a:noAutofit/>
          </a:bodyPr>
          <a:lstStyle/>
          <a:p>
            <a:pPr algn="l">
              <a:lnSpc>
                <a:spcPct val="115000"/>
              </a:lnSpc>
              <a:spcBef>
                <a:spcPts val="0"/>
              </a:spcBef>
              <a:spcAft>
                <a:spcPts val="0"/>
              </a:spcAft>
            </a:pPr>
            <a:r>
              <a:rPr sz="740" b="0" i="0">
                <a:solidFill>
                  <a:srgbClr val="94A3B8"/>
                </a:solidFill>
                <a:latin typeface="Segoe UI"/>
              </a:rPr>
              <a:t>192 piles; 3.7 m raft cast in stages.</a:t>
            </a:r>
          </a:p>
        </p:txBody>
      </p:sp>
      <p:sp>
        <p:nvSpPr>
          <p:cNvPr id="41" name="Oval 40"/>
          <p:cNvSpPr/>
          <p:nvPr/>
        </p:nvSpPr>
        <p:spPr>
          <a:xfrm>
            <a:off x="6693408" y="2743200"/>
            <a:ext cx="128016" cy="12801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6757416" y="2889504"/>
            <a:ext cx="0" cy="566928"/>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949440" y="2670048"/>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2005</a:t>
            </a:r>
          </a:p>
        </p:txBody>
      </p:sp>
      <p:sp>
        <p:nvSpPr>
          <p:cNvPr id="44" name="TextBox 43"/>
          <p:cNvSpPr txBox="1"/>
          <p:nvPr/>
        </p:nvSpPr>
        <p:spPr>
          <a:xfrm>
            <a:off x="7589520" y="2670048"/>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E8EEF7"/>
                </a:solidFill>
                <a:latin typeface="Segoe UI"/>
              </a:rPr>
              <a:t>Tower rises</a:t>
            </a:r>
          </a:p>
        </p:txBody>
      </p:sp>
      <p:sp>
        <p:nvSpPr>
          <p:cNvPr id="45" name="TextBox 44"/>
          <p:cNvSpPr txBox="1"/>
          <p:nvPr/>
        </p:nvSpPr>
        <p:spPr>
          <a:xfrm>
            <a:off x="7589520" y="2889504"/>
            <a:ext cx="3703320" cy="365760"/>
          </a:xfrm>
          <a:prstGeom prst="rect">
            <a:avLst/>
          </a:prstGeom>
          <a:noFill/>
        </p:spPr>
        <p:txBody>
          <a:bodyPr wrap="square" lIns="0" rIns="0" tIns="0" bIns="0" anchor="t">
            <a:noAutofit/>
          </a:bodyPr>
          <a:lstStyle/>
          <a:p>
            <a:pPr algn="l">
              <a:lnSpc>
                <a:spcPct val="115000"/>
              </a:lnSpc>
              <a:spcBef>
                <a:spcPts val="0"/>
              </a:spcBef>
              <a:spcAft>
                <a:spcPts val="0"/>
              </a:spcAft>
            </a:pPr>
            <a:r>
              <a:rPr sz="740" b="0" i="0">
                <a:solidFill>
                  <a:srgbClr val="94A3B8"/>
                </a:solidFill>
                <a:latin typeface="Segoe UI"/>
              </a:rPr>
              <a:t>Climbing formwork established; core leads the wings.</a:t>
            </a:r>
          </a:p>
        </p:txBody>
      </p:sp>
      <p:sp>
        <p:nvSpPr>
          <p:cNvPr id="46" name="Oval 45"/>
          <p:cNvSpPr/>
          <p:nvPr/>
        </p:nvSpPr>
        <p:spPr>
          <a:xfrm>
            <a:off x="6693408" y="3493008"/>
            <a:ext cx="128016" cy="12801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6757416" y="3639312"/>
            <a:ext cx="0" cy="566928"/>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949440" y="3419856"/>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2007</a:t>
            </a:r>
          </a:p>
        </p:txBody>
      </p:sp>
      <p:sp>
        <p:nvSpPr>
          <p:cNvPr id="49" name="TextBox 48"/>
          <p:cNvSpPr txBox="1"/>
          <p:nvPr/>
        </p:nvSpPr>
        <p:spPr>
          <a:xfrm>
            <a:off x="7589520" y="3419856"/>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E8EEF7"/>
                </a:solidFill>
                <a:latin typeface="Segoe UI"/>
              </a:rPr>
              <a:t>Level 100</a:t>
            </a:r>
          </a:p>
        </p:txBody>
      </p:sp>
      <p:sp>
        <p:nvSpPr>
          <p:cNvPr id="50" name="TextBox 49"/>
          <p:cNvSpPr txBox="1"/>
          <p:nvPr/>
        </p:nvSpPr>
        <p:spPr>
          <a:xfrm>
            <a:off x="7589520" y="3639312"/>
            <a:ext cx="3703320" cy="365760"/>
          </a:xfrm>
          <a:prstGeom prst="rect">
            <a:avLst/>
          </a:prstGeom>
          <a:noFill/>
        </p:spPr>
        <p:txBody>
          <a:bodyPr wrap="square" lIns="0" rIns="0" tIns="0" bIns="0" anchor="t">
            <a:noAutofit/>
          </a:bodyPr>
          <a:lstStyle/>
          <a:p>
            <a:pPr algn="l">
              <a:lnSpc>
                <a:spcPct val="115000"/>
              </a:lnSpc>
              <a:spcBef>
                <a:spcPts val="0"/>
              </a:spcBef>
              <a:spcAft>
                <a:spcPts val="0"/>
              </a:spcAft>
            </a:pPr>
            <a:r>
              <a:rPr sz="740" b="0" i="0">
                <a:solidFill>
                  <a:srgbClr val="94A3B8"/>
                </a:solidFill>
                <a:latin typeface="Segoe UI"/>
              </a:rPr>
              <a:t>Concrete pumped beyond 400 m — a record at the time.</a:t>
            </a:r>
          </a:p>
        </p:txBody>
      </p:sp>
      <p:sp>
        <p:nvSpPr>
          <p:cNvPr id="51" name="Oval 50"/>
          <p:cNvSpPr/>
          <p:nvPr/>
        </p:nvSpPr>
        <p:spPr>
          <a:xfrm>
            <a:off x="6693408" y="4242816"/>
            <a:ext cx="128016" cy="12801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757416" y="4389120"/>
            <a:ext cx="0" cy="566928"/>
          </a:xfrm>
          <a:prstGeom prst="line">
            <a:avLst/>
          </a:prstGeom>
          <a:ln w="12700">
            <a:solidFill>
              <a:srgbClr val="22314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949440" y="4169663"/>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2009</a:t>
            </a:r>
          </a:p>
        </p:txBody>
      </p:sp>
      <p:sp>
        <p:nvSpPr>
          <p:cNvPr id="54" name="TextBox 53"/>
          <p:cNvSpPr txBox="1"/>
          <p:nvPr/>
        </p:nvSpPr>
        <p:spPr>
          <a:xfrm>
            <a:off x="7589520" y="4169663"/>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E8EEF7"/>
                </a:solidFill>
                <a:latin typeface="Segoe UI"/>
              </a:rPr>
              <a:t>Topped out</a:t>
            </a:r>
          </a:p>
        </p:txBody>
      </p:sp>
      <p:sp>
        <p:nvSpPr>
          <p:cNvPr id="55" name="TextBox 54"/>
          <p:cNvSpPr txBox="1"/>
          <p:nvPr/>
        </p:nvSpPr>
        <p:spPr>
          <a:xfrm>
            <a:off x="7589520" y="4389120"/>
            <a:ext cx="3703320" cy="365760"/>
          </a:xfrm>
          <a:prstGeom prst="rect">
            <a:avLst/>
          </a:prstGeom>
          <a:noFill/>
        </p:spPr>
        <p:txBody>
          <a:bodyPr wrap="square" lIns="0" rIns="0" tIns="0" bIns="0" anchor="t">
            <a:noAutofit/>
          </a:bodyPr>
          <a:lstStyle/>
          <a:p>
            <a:pPr algn="l">
              <a:lnSpc>
                <a:spcPct val="115000"/>
              </a:lnSpc>
              <a:spcBef>
                <a:spcPts val="0"/>
              </a:spcBef>
              <a:spcAft>
                <a:spcPts val="0"/>
              </a:spcAft>
            </a:pPr>
            <a:r>
              <a:rPr sz="740" b="0" i="0">
                <a:solidFill>
                  <a:srgbClr val="94A3B8"/>
                </a:solidFill>
                <a:latin typeface="Segoe UI"/>
              </a:rPr>
              <a:t>Spire completes at 828 m; cladding closes.</a:t>
            </a:r>
          </a:p>
        </p:txBody>
      </p:sp>
      <p:sp>
        <p:nvSpPr>
          <p:cNvPr id="56" name="Oval 55"/>
          <p:cNvSpPr/>
          <p:nvPr/>
        </p:nvSpPr>
        <p:spPr>
          <a:xfrm>
            <a:off x="6693408" y="4992624"/>
            <a:ext cx="128016" cy="12801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49440" y="4919472"/>
            <a:ext cx="640080" cy="219456"/>
          </a:xfrm>
          <a:prstGeom prst="rect">
            <a:avLst/>
          </a:prstGeom>
          <a:noFill/>
        </p:spPr>
        <p:txBody>
          <a:bodyPr wrap="square" lIns="0" rIns="0" tIns="0" bIns="0" anchor="t">
            <a:noAutofit/>
          </a:bodyPr>
          <a:lstStyle/>
          <a:p>
            <a:pPr algn="l">
              <a:lnSpc>
                <a:spcPct val="110000"/>
              </a:lnSpc>
              <a:spcBef>
                <a:spcPts val="0"/>
              </a:spcBef>
              <a:spcAft>
                <a:spcPts val="0"/>
              </a:spcAft>
            </a:pPr>
            <a:r>
              <a:rPr sz="800" b="1" i="0">
                <a:solidFill>
                  <a:srgbClr val="22D3EE"/>
                </a:solidFill>
                <a:latin typeface="Segoe UI"/>
              </a:rPr>
              <a:t>2010</a:t>
            </a:r>
          </a:p>
        </p:txBody>
      </p:sp>
      <p:sp>
        <p:nvSpPr>
          <p:cNvPr id="58" name="TextBox 57"/>
          <p:cNvSpPr txBox="1"/>
          <p:nvPr/>
        </p:nvSpPr>
        <p:spPr>
          <a:xfrm>
            <a:off x="7589520" y="4919472"/>
            <a:ext cx="3657600" cy="219456"/>
          </a:xfrm>
          <a:prstGeom prst="rect">
            <a:avLst/>
          </a:prstGeom>
          <a:noFill/>
        </p:spPr>
        <p:txBody>
          <a:bodyPr wrap="square" lIns="0" rIns="0" tIns="0" bIns="0" anchor="t">
            <a:noAutofit/>
          </a:bodyPr>
          <a:lstStyle/>
          <a:p>
            <a:pPr algn="l">
              <a:lnSpc>
                <a:spcPct val="110000"/>
              </a:lnSpc>
              <a:spcBef>
                <a:spcPts val="0"/>
              </a:spcBef>
              <a:spcAft>
                <a:spcPts val="0"/>
              </a:spcAft>
            </a:pPr>
            <a:r>
              <a:rPr sz="900" b="1" i="0">
                <a:solidFill>
                  <a:srgbClr val="E8EEF7"/>
                </a:solidFill>
                <a:latin typeface="Segoe UI"/>
              </a:rPr>
              <a:t>Opening</a:t>
            </a:r>
          </a:p>
        </p:txBody>
      </p:sp>
      <p:sp>
        <p:nvSpPr>
          <p:cNvPr id="59" name="TextBox 58"/>
          <p:cNvSpPr txBox="1"/>
          <p:nvPr/>
        </p:nvSpPr>
        <p:spPr>
          <a:xfrm>
            <a:off x="7589520" y="5138928"/>
            <a:ext cx="3703320" cy="365760"/>
          </a:xfrm>
          <a:prstGeom prst="rect">
            <a:avLst/>
          </a:prstGeom>
          <a:noFill/>
        </p:spPr>
        <p:txBody>
          <a:bodyPr wrap="square" lIns="0" rIns="0" tIns="0" bIns="0" anchor="t">
            <a:noAutofit/>
          </a:bodyPr>
          <a:lstStyle/>
          <a:p>
            <a:pPr algn="l">
              <a:lnSpc>
                <a:spcPct val="115000"/>
              </a:lnSpc>
              <a:spcBef>
                <a:spcPts val="0"/>
              </a:spcBef>
              <a:spcAft>
                <a:spcPts val="0"/>
              </a:spcAft>
            </a:pPr>
            <a:r>
              <a:rPr sz="740" b="0" i="0">
                <a:solidFill>
                  <a:srgbClr val="94A3B8"/>
                </a:solidFill>
                <a:latin typeface="Segoe UI"/>
              </a:rPr>
              <a:t>Burj Khalifa opens on 4 January.</a:t>
            </a:r>
          </a:p>
        </p:txBody>
      </p:sp>
      <p:sp>
        <p:nvSpPr>
          <p:cNvPr id="60" name="TextBox 59"/>
          <p:cNvSpPr txBox="1"/>
          <p:nvPr/>
        </p:nvSpPr>
        <p:spPr>
          <a:xfrm>
            <a:off x="640080" y="5870448"/>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F59E0B"/>
                </a:solidFill>
                <a:latin typeface="Segoe UI"/>
              </a:rPr>
              <a:t>Why it matters: </a:t>
            </a:r>
            <a:r>
              <a:rPr sz="840" b="0" i="0">
                <a:solidFill>
                  <a:srgbClr val="94A3B8"/>
                </a:solidFill>
                <a:latin typeface="Segoe UI"/>
              </a:rPr>
              <a:t>the aerodynamic shape had to be buildable. A geometry that saves wind load but adds a transfer structure would have lost the argument.</a:t>
            </a:r>
          </a:p>
        </p:txBody>
      </p:sp>
      <p:sp>
        <p:nvSpPr>
          <p:cNvPr id="61" name="TextBox 60"/>
          <p:cNvSpPr txBox="1"/>
          <p:nvPr/>
        </p:nvSpPr>
        <p:spPr>
          <a:xfrm>
            <a:off x="640080" y="6089904"/>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Quantities: SOM / CTBUH project records; ICC Building Safety Journal (2023). Programme dates are approximate milestones.</a:t>
            </a:r>
          </a:p>
        </p:txBody>
      </p:sp>
      <p:cxnSp>
        <p:nvCxnSpPr>
          <p:cNvPr id="62" name="Connector 61"/>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64" name="TextBox 63"/>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F59E0B"/>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60A5FA"/>
                </a:solidFill>
                <a:latin typeface="Segoe UI"/>
              </a:rPr>
              <a:t>VERIFICATION</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Five models, one building: the simulation stack</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15 / 20</a:t>
            </a:r>
          </a:p>
        </p:txBody>
      </p:sp>
      <p:sp>
        <p:nvSpPr>
          <p:cNvPr id="5" name="Rounded Rectangle 4"/>
          <p:cNvSpPr/>
          <p:nvPr/>
        </p:nvSpPr>
        <p:spPr>
          <a:xfrm>
            <a:off x="640080" y="1536192"/>
            <a:ext cx="2084831"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536192"/>
            <a:ext cx="2048255"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664208"/>
            <a:ext cx="3657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22D3EE"/>
                </a:solidFill>
                <a:latin typeface="Segoe UI"/>
              </a:rPr>
              <a:t>01</a:t>
            </a:r>
          </a:p>
        </p:txBody>
      </p:sp>
      <p:sp>
        <p:nvSpPr>
          <p:cNvPr id="8" name="TextBox 7"/>
          <p:cNvSpPr txBox="1"/>
          <p:nvPr/>
        </p:nvSpPr>
        <p:spPr>
          <a:xfrm>
            <a:off x="786384" y="1883664"/>
            <a:ext cx="1810511" cy="274320"/>
          </a:xfrm>
          <a:prstGeom prst="rect">
            <a:avLst/>
          </a:prstGeom>
          <a:noFill/>
        </p:spPr>
        <p:txBody>
          <a:bodyPr wrap="square" lIns="0" rIns="0" tIns="0" bIns="0" anchor="t">
            <a:noAutofit/>
          </a:bodyPr>
          <a:lstStyle/>
          <a:p>
            <a:pPr algn="l">
              <a:lnSpc>
                <a:spcPct val="110000"/>
              </a:lnSpc>
              <a:spcBef>
                <a:spcPts val="0"/>
              </a:spcBef>
              <a:spcAft>
                <a:spcPts val="0"/>
              </a:spcAft>
            </a:pPr>
            <a:r>
              <a:rPr sz="1200" b="1" i="0">
                <a:solidFill>
                  <a:srgbClr val="E8EEF7"/>
                </a:solidFill>
                <a:latin typeface="Segoe UI Semibold"/>
              </a:rPr>
              <a:t>Climate</a:t>
            </a:r>
          </a:p>
        </p:txBody>
      </p:sp>
      <p:sp>
        <p:nvSpPr>
          <p:cNvPr id="9" name="TextBox 8"/>
          <p:cNvSpPr txBox="1"/>
          <p:nvPr/>
        </p:nvSpPr>
        <p:spPr>
          <a:xfrm>
            <a:off x="786384" y="2249424"/>
            <a:ext cx="1810511" cy="731520"/>
          </a:xfrm>
          <a:prstGeom prst="rect">
            <a:avLst/>
          </a:prstGeom>
          <a:noFill/>
        </p:spPr>
        <p:txBody>
          <a:bodyPr wrap="square" lIns="0" rIns="0" tIns="0" bIns="0" anchor="t">
            <a:noAutofit/>
          </a:bodyPr>
          <a:lstStyle/>
          <a:p>
            <a:pPr algn="l">
              <a:lnSpc>
                <a:spcPct val="122000"/>
              </a:lnSpc>
              <a:spcBef>
                <a:spcPts val="0"/>
              </a:spcBef>
              <a:spcAft>
                <a:spcPts val="0"/>
              </a:spcAft>
            </a:pPr>
            <a:r>
              <a:rPr sz="760" b="0" i="0">
                <a:solidFill>
                  <a:srgbClr val="94A3B8"/>
                </a:solidFill>
                <a:latin typeface="Segoe UI"/>
              </a:rPr>
              <a:t>Met data, balloon profiles, MM5 mesoscale modelling → design speed profile.</a:t>
            </a:r>
          </a:p>
        </p:txBody>
      </p:sp>
      <p:sp>
        <p:nvSpPr>
          <p:cNvPr id="10" name="TextBox 9"/>
          <p:cNvSpPr txBox="1"/>
          <p:nvPr/>
        </p:nvSpPr>
        <p:spPr>
          <a:xfrm>
            <a:off x="786384" y="3054096"/>
            <a:ext cx="1810511"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22D3EE"/>
                </a:solidFill>
                <a:latin typeface="Segoe UI"/>
              </a:rPr>
              <a:t>→ design wind profile</a:t>
            </a:r>
          </a:p>
        </p:txBody>
      </p:sp>
      <p:sp>
        <p:nvSpPr>
          <p:cNvPr id="11" name="Right Arrow 10"/>
          <p:cNvSpPr/>
          <p:nvPr/>
        </p:nvSpPr>
        <p:spPr>
          <a:xfrm>
            <a:off x="2752343" y="2331720"/>
            <a:ext cx="146304" cy="109728"/>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26080" y="1536192"/>
            <a:ext cx="2084831"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44368" y="1536192"/>
            <a:ext cx="2048255" cy="4114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2384" y="1664208"/>
            <a:ext cx="3657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A78BFA"/>
                </a:solidFill>
                <a:latin typeface="Segoe UI"/>
              </a:rPr>
              <a:t>02</a:t>
            </a:r>
          </a:p>
        </p:txBody>
      </p:sp>
      <p:sp>
        <p:nvSpPr>
          <p:cNvPr id="15" name="TextBox 14"/>
          <p:cNvSpPr txBox="1"/>
          <p:nvPr/>
        </p:nvSpPr>
        <p:spPr>
          <a:xfrm>
            <a:off x="3072384" y="1883664"/>
            <a:ext cx="1810511" cy="274320"/>
          </a:xfrm>
          <a:prstGeom prst="rect">
            <a:avLst/>
          </a:prstGeom>
          <a:noFill/>
        </p:spPr>
        <p:txBody>
          <a:bodyPr wrap="square" lIns="0" rIns="0" tIns="0" bIns="0" anchor="t">
            <a:noAutofit/>
          </a:bodyPr>
          <a:lstStyle/>
          <a:p>
            <a:pPr algn="l">
              <a:lnSpc>
                <a:spcPct val="110000"/>
              </a:lnSpc>
              <a:spcBef>
                <a:spcPts val="0"/>
              </a:spcBef>
              <a:spcAft>
                <a:spcPts val="0"/>
              </a:spcAft>
            </a:pPr>
            <a:r>
              <a:rPr sz="1200" b="1" i="0">
                <a:solidFill>
                  <a:srgbClr val="E8EEF7"/>
                </a:solidFill>
                <a:latin typeface="Segoe UI Semibold"/>
              </a:rPr>
              <a:t>Shape</a:t>
            </a:r>
          </a:p>
        </p:txBody>
      </p:sp>
      <p:sp>
        <p:nvSpPr>
          <p:cNvPr id="16" name="TextBox 15"/>
          <p:cNvSpPr txBox="1"/>
          <p:nvPr/>
        </p:nvSpPr>
        <p:spPr>
          <a:xfrm>
            <a:off x="3072384" y="2249424"/>
            <a:ext cx="1810511" cy="731520"/>
          </a:xfrm>
          <a:prstGeom prst="rect">
            <a:avLst/>
          </a:prstGeom>
          <a:noFill/>
        </p:spPr>
        <p:txBody>
          <a:bodyPr wrap="square" lIns="0" rIns="0" tIns="0" bIns="0" anchor="t">
            <a:noAutofit/>
          </a:bodyPr>
          <a:lstStyle/>
          <a:p>
            <a:pPr algn="l">
              <a:lnSpc>
                <a:spcPct val="122000"/>
              </a:lnSpc>
              <a:spcBef>
                <a:spcPts val="0"/>
              </a:spcBef>
              <a:spcAft>
                <a:spcPts val="0"/>
              </a:spcAft>
            </a:pPr>
            <a:r>
              <a:rPr sz="760" b="0" i="0">
                <a:solidFill>
                  <a:srgbClr val="94A3B8"/>
                </a:solidFill>
                <a:latin typeface="Segoe UI"/>
              </a:rPr>
              <a:t>Massing studies; setbacks and taper iterated against aerodynamic response.</a:t>
            </a:r>
          </a:p>
        </p:txBody>
      </p:sp>
      <p:sp>
        <p:nvSpPr>
          <p:cNvPr id="17" name="TextBox 16"/>
          <p:cNvSpPr txBox="1"/>
          <p:nvPr/>
        </p:nvSpPr>
        <p:spPr>
          <a:xfrm>
            <a:off x="3072384" y="3054096"/>
            <a:ext cx="1810511"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A78BFA"/>
                </a:solidFill>
                <a:latin typeface="Segoe UI"/>
              </a:rPr>
              <a:t>→ candidate massing</a:t>
            </a:r>
          </a:p>
        </p:txBody>
      </p:sp>
      <p:sp>
        <p:nvSpPr>
          <p:cNvPr id="18" name="Right Arrow 17"/>
          <p:cNvSpPr/>
          <p:nvPr/>
        </p:nvSpPr>
        <p:spPr>
          <a:xfrm>
            <a:off x="5038344" y="2331720"/>
            <a:ext cx="146304" cy="109728"/>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2080" y="1536192"/>
            <a:ext cx="2084831"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30368" y="1536192"/>
            <a:ext cx="2048255" cy="41148"/>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58384" y="1664208"/>
            <a:ext cx="3657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60A5FA"/>
                </a:solidFill>
                <a:latin typeface="Segoe UI"/>
              </a:rPr>
              <a:t>03</a:t>
            </a:r>
          </a:p>
        </p:txBody>
      </p:sp>
      <p:sp>
        <p:nvSpPr>
          <p:cNvPr id="22" name="TextBox 21"/>
          <p:cNvSpPr txBox="1"/>
          <p:nvPr/>
        </p:nvSpPr>
        <p:spPr>
          <a:xfrm>
            <a:off x="5358384" y="1883664"/>
            <a:ext cx="1810511" cy="274320"/>
          </a:xfrm>
          <a:prstGeom prst="rect">
            <a:avLst/>
          </a:prstGeom>
          <a:noFill/>
        </p:spPr>
        <p:txBody>
          <a:bodyPr wrap="square" lIns="0" rIns="0" tIns="0" bIns="0" anchor="t">
            <a:noAutofit/>
          </a:bodyPr>
          <a:lstStyle/>
          <a:p>
            <a:pPr algn="l">
              <a:lnSpc>
                <a:spcPct val="110000"/>
              </a:lnSpc>
              <a:spcBef>
                <a:spcPts val="0"/>
              </a:spcBef>
              <a:spcAft>
                <a:spcPts val="0"/>
              </a:spcAft>
            </a:pPr>
            <a:r>
              <a:rPr sz="1200" b="1" i="0">
                <a:solidFill>
                  <a:srgbClr val="E8EEF7"/>
                </a:solidFill>
                <a:latin typeface="Segoe UI Semibold"/>
              </a:rPr>
              <a:t>Tunnel</a:t>
            </a:r>
          </a:p>
        </p:txBody>
      </p:sp>
      <p:sp>
        <p:nvSpPr>
          <p:cNvPr id="23" name="TextBox 22"/>
          <p:cNvSpPr txBox="1"/>
          <p:nvPr/>
        </p:nvSpPr>
        <p:spPr>
          <a:xfrm>
            <a:off x="5358384" y="2249424"/>
            <a:ext cx="1810511" cy="731520"/>
          </a:xfrm>
          <a:prstGeom prst="rect">
            <a:avLst/>
          </a:prstGeom>
          <a:noFill/>
        </p:spPr>
        <p:txBody>
          <a:bodyPr wrap="square" lIns="0" rIns="0" tIns="0" bIns="0" anchor="t">
            <a:noAutofit/>
          </a:bodyPr>
          <a:lstStyle/>
          <a:p>
            <a:pPr algn="l">
              <a:lnSpc>
                <a:spcPct val="122000"/>
              </a:lnSpc>
              <a:spcBef>
                <a:spcPts val="0"/>
              </a:spcBef>
              <a:spcAft>
                <a:spcPts val="0"/>
              </a:spcAft>
            </a:pPr>
            <a:r>
              <a:rPr sz="760" b="0" i="0">
                <a:solidFill>
                  <a:srgbClr val="94A3B8"/>
                </a:solidFill>
                <a:latin typeface="Segoe UI"/>
              </a:rPr>
              <a:t>1:500 aeroelastic + 1:50 high-Re + cladding pressure tests.</a:t>
            </a:r>
          </a:p>
        </p:txBody>
      </p:sp>
      <p:sp>
        <p:nvSpPr>
          <p:cNvPr id="24" name="TextBox 23"/>
          <p:cNvSpPr txBox="1"/>
          <p:nvPr/>
        </p:nvSpPr>
        <p:spPr>
          <a:xfrm>
            <a:off x="5358384" y="3054096"/>
            <a:ext cx="1810511"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60A5FA"/>
                </a:solidFill>
                <a:latin typeface="Segoe UI"/>
              </a:rPr>
              <a:t>→ loads &amp; accelerations</a:t>
            </a:r>
          </a:p>
        </p:txBody>
      </p:sp>
      <p:sp>
        <p:nvSpPr>
          <p:cNvPr id="25" name="Right Arrow 24"/>
          <p:cNvSpPr/>
          <p:nvPr/>
        </p:nvSpPr>
        <p:spPr>
          <a:xfrm>
            <a:off x="7324344" y="2331720"/>
            <a:ext cx="146304" cy="109728"/>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79" y="1536192"/>
            <a:ext cx="2084831"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16367" y="1536192"/>
            <a:ext cx="2048255"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44383" y="1664208"/>
            <a:ext cx="3657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F59E0B"/>
                </a:solidFill>
                <a:latin typeface="Segoe UI"/>
              </a:rPr>
              <a:t>04</a:t>
            </a:r>
          </a:p>
        </p:txBody>
      </p:sp>
      <p:sp>
        <p:nvSpPr>
          <p:cNvPr id="29" name="TextBox 28"/>
          <p:cNvSpPr txBox="1"/>
          <p:nvPr/>
        </p:nvSpPr>
        <p:spPr>
          <a:xfrm>
            <a:off x="7644383" y="1883664"/>
            <a:ext cx="1810511" cy="274320"/>
          </a:xfrm>
          <a:prstGeom prst="rect">
            <a:avLst/>
          </a:prstGeom>
          <a:noFill/>
        </p:spPr>
        <p:txBody>
          <a:bodyPr wrap="square" lIns="0" rIns="0" tIns="0" bIns="0" anchor="t">
            <a:noAutofit/>
          </a:bodyPr>
          <a:lstStyle/>
          <a:p>
            <a:pPr algn="l">
              <a:lnSpc>
                <a:spcPct val="110000"/>
              </a:lnSpc>
              <a:spcBef>
                <a:spcPts val="0"/>
              </a:spcBef>
              <a:spcAft>
                <a:spcPts val="0"/>
              </a:spcAft>
            </a:pPr>
            <a:r>
              <a:rPr sz="1200" b="1" i="0">
                <a:solidFill>
                  <a:srgbClr val="E8EEF7"/>
                </a:solidFill>
                <a:latin typeface="Segoe UI Semibold"/>
              </a:rPr>
              <a:t>FE model</a:t>
            </a:r>
          </a:p>
        </p:txBody>
      </p:sp>
      <p:sp>
        <p:nvSpPr>
          <p:cNvPr id="30" name="TextBox 29"/>
          <p:cNvSpPr txBox="1"/>
          <p:nvPr/>
        </p:nvSpPr>
        <p:spPr>
          <a:xfrm>
            <a:off x="7644383" y="2249424"/>
            <a:ext cx="1810511" cy="731520"/>
          </a:xfrm>
          <a:prstGeom prst="rect">
            <a:avLst/>
          </a:prstGeom>
          <a:noFill/>
        </p:spPr>
        <p:txBody>
          <a:bodyPr wrap="square" lIns="0" rIns="0" tIns="0" bIns="0" anchor="t">
            <a:noAutofit/>
          </a:bodyPr>
          <a:lstStyle/>
          <a:p>
            <a:pPr algn="l">
              <a:lnSpc>
                <a:spcPct val="122000"/>
              </a:lnSpc>
              <a:spcBef>
                <a:spcPts val="0"/>
              </a:spcBef>
              <a:spcAft>
                <a:spcPts val="0"/>
              </a:spcAft>
            </a:pPr>
            <a:r>
              <a:rPr sz="760" b="0" i="0">
                <a:solidFill>
                  <a:srgbClr val="94A3B8"/>
                </a:solidFill>
                <a:latin typeface="Segoe UI"/>
              </a:rPr>
              <a:t>Shell model of core, wings, outriggers; mode shapes and periods.</a:t>
            </a:r>
          </a:p>
        </p:txBody>
      </p:sp>
      <p:sp>
        <p:nvSpPr>
          <p:cNvPr id="31" name="TextBox 30"/>
          <p:cNvSpPr txBox="1"/>
          <p:nvPr/>
        </p:nvSpPr>
        <p:spPr>
          <a:xfrm>
            <a:off x="7644383" y="3054096"/>
            <a:ext cx="1810511"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F59E0B"/>
                </a:solidFill>
                <a:latin typeface="Segoe UI"/>
              </a:rPr>
              <a:t>→ stresses &amp; drift</a:t>
            </a:r>
          </a:p>
        </p:txBody>
      </p:sp>
      <p:sp>
        <p:nvSpPr>
          <p:cNvPr id="32" name="Right Arrow 31"/>
          <p:cNvSpPr/>
          <p:nvPr/>
        </p:nvSpPr>
        <p:spPr>
          <a:xfrm>
            <a:off x="9610343" y="2331720"/>
            <a:ext cx="146304" cy="109728"/>
          </a:xfrm>
          <a:prstGeom prst="rightArrow">
            <a:avLst/>
          </a:prstGeom>
          <a:solidFill>
            <a:srgbClr val="22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784080" y="1536192"/>
            <a:ext cx="2084831"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802367" y="1536192"/>
            <a:ext cx="2048255"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30384" y="1664208"/>
            <a:ext cx="3657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34D399"/>
                </a:solidFill>
                <a:latin typeface="Segoe UI"/>
              </a:rPr>
              <a:t>05</a:t>
            </a:r>
          </a:p>
        </p:txBody>
      </p:sp>
      <p:sp>
        <p:nvSpPr>
          <p:cNvPr id="36" name="TextBox 35"/>
          <p:cNvSpPr txBox="1"/>
          <p:nvPr/>
        </p:nvSpPr>
        <p:spPr>
          <a:xfrm>
            <a:off x="9930384" y="1883664"/>
            <a:ext cx="1810511" cy="274320"/>
          </a:xfrm>
          <a:prstGeom prst="rect">
            <a:avLst/>
          </a:prstGeom>
          <a:noFill/>
        </p:spPr>
        <p:txBody>
          <a:bodyPr wrap="square" lIns="0" rIns="0" tIns="0" bIns="0" anchor="t">
            <a:noAutofit/>
          </a:bodyPr>
          <a:lstStyle/>
          <a:p>
            <a:pPr algn="l">
              <a:lnSpc>
                <a:spcPct val="110000"/>
              </a:lnSpc>
              <a:spcBef>
                <a:spcPts val="0"/>
              </a:spcBef>
              <a:spcAft>
                <a:spcPts val="0"/>
              </a:spcAft>
            </a:pPr>
            <a:r>
              <a:rPr sz="1200" b="1" i="0">
                <a:solidFill>
                  <a:srgbClr val="E8EEF7"/>
                </a:solidFill>
                <a:latin typeface="Segoe UI Semibold"/>
              </a:rPr>
              <a:t>Design</a:t>
            </a:r>
          </a:p>
        </p:txBody>
      </p:sp>
      <p:sp>
        <p:nvSpPr>
          <p:cNvPr id="37" name="TextBox 36"/>
          <p:cNvSpPr txBox="1"/>
          <p:nvPr/>
        </p:nvSpPr>
        <p:spPr>
          <a:xfrm>
            <a:off x="9930384" y="2249424"/>
            <a:ext cx="1810511" cy="731520"/>
          </a:xfrm>
          <a:prstGeom prst="rect">
            <a:avLst/>
          </a:prstGeom>
          <a:noFill/>
        </p:spPr>
        <p:txBody>
          <a:bodyPr wrap="square" lIns="0" rIns="0" tIns="0" bIns="0" anchor="t">
            <a:noAutofit/>
          </a:bodyPr>
          <a:lstStyle/>
          <a:p>
            <a:pPr algn="l">
              <a:lnSpc>
                <a:spcPct val="122000"/>
              </a:lnSpc>
              <a:spcBef>
                <a:spcPts val="0"/>
              </a:spcBef>
              <a:spcAft>
                <a:spcPts val="0"/>
              </a:spcAft>
            </a:pPr>
            <a:r>
              <a:rPr sz="760" b="0" i="0">
                <a:solidFill>
                  <a:srgbClr val="94A3B8"/>
                </a:solidFill>
                <a:latin typeface="Segoe UI"/>
              </a:rPr>
              <a:t>Load cases, reinforcement, comfort check, foundation design.</a:t>
            </a:r>
          </a:p>
        </p:txBody>
      </p:sp>
      <p:sp>
        <p:nvSpPr>
          <p:cNvPr id="38" name="TextBox 37"/>
          <p:cNvSpPr txBox="1"/>
          <p:nvPr/>
        </p:nvSpPr>
        <p:spPr>
          <a:xfrm>
            <a:off x="9930384" y="3054096"/>
            <a:ext cx="1810511"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34D399"/>
                </a:solidFill>
                <a:latin typeface="Segoe UI"/>
              </a:rPr>
              <a:t>→ construction drawings</a:t>
            </a:r>
          </a:p>
        </p:txBody>
      </p:sp>
      <p:sp>
        <p:nvSpPr>
          <p:cNvPr id="39" name="Rounded Rectangle 38"/>
          <p:cNvSpPr/>
          <p:nvPr/>
        </p:nvSpPr>
        <p:spPr>
          <a:xfrm>
            <a:off x="640080" y="3566160"/>
            <a:ext cx="6949440" cy="219456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59" y="3675887"/>
            <a:ext cx="45720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0A5FA"/>
                </a:solidFill>
                <a:latin typeface="Segoe UI"/>
              </a:rPr>
              <a:t>CROSS-CHECKS  ·  NO SINGLE MODEL DECIDES</a:t>
            </a:r>
          </a:p>
        </p:txBody>
      </p:sp>
      <p:sp>
        <p:nvSpPr>
          <p:cNvPr id="41" name="TextBox 40"/>
          <p:cNvSpPr txBox="1"/>
          <p:nvPr/>
        </p:nvSpPr>
        <p:spPr>
          <a:xfrm>
            <a:off x="822959" y="4114800"/>
            <a:ext cx="1005840" cy="201168"/>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E8EEF7"/>
                </a:solidFill>
                <a:latin typeface="Segoe UI"/>
              </a:rPr>
              <a:t>CFD</a:t>
            </a:r>
          </a:p>
        </p:txBody>
      </p:sp>
      <p:sp>
        <p:nvSpPr>
          <p:cNvPr id="42" name="TextBox 41"/>
          <p:cNvSpPr txBox="1"/>
          <p:nvPr/>
        </p:nvSpPr>
        <p:spPr>
          <a:xfrm>
            <a:off x="1828800" y="4114800"/>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pressure fields, qualitative</a:t>
            </a:r>
          </a:p>
        </p:txBody>
      </p:sp>
      <p:sp>
        <p:nvSpPr>
          <p:cNvPr id="43" name="TextBox 42"/>
          <p:cNvSpPr txBox="1"/>
          <p:nvPr/>
        </p:nvSpPr>
        <p:spPr>
          <a:xfrm>
            <a:off x="4206240" y="4114800"/>
            <a:ext cx="1005840" cy="201168"/>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E8EEF7"/>
                </a:solidFill>
                <a:latin typeface="Segoe UI"/>
              </a:rPr>
              <a:t>Aeroelastic</a:t>
            </a:r>
          </a:p>
        </p:txBody>
      </p:sp>
      <p:sp>
        <p:nvSpPr>
          <p:cNvPr id="44" name="TextBox 43"/>
          <p:cNvSpPr txBox="1"/>
          <p:nvPr/>
        </p:nvSpPr>
        <p:spPr>
          <a:xfrm>
            <a:off x="5212079" y="4114800"/>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dynamic response + damping</a:t>
            </a:r>
          </a:p>
        </p:txBody>
      </p:sp>
      <p:sp>
        <p:nvSpPr>
          <p:cNvPr id="45" name="TextBox 44"/>
          <p:cNvSpPr txBox="1"/>
          <p:nvPr/>
        </p:nvSpPr>
        <p:spPr>
          <a:xfrm>
            <a:off x="822959" y="4846320"/>
            <a:ext cx="1005840" cy="201168"/>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E8EEF7"/>
                </a:solidFill>
                <a:latin typeface="Segoe UI"/>
              </a:rPr>
              <a:t>HFFB</a:t>
            </a:r>
          </a:p>
        </p:txBody>
      </p:sp>
      <p:sp>
        <p:nvSpPr>
          <p:cNvPr id="46" name="TextBox 45"/>
          <p:cNvSpPr txBox="1"/>
          <p:nvPr/>
        </p:nvSpPr>
        <p:spPr>
          <a:xfrm>
            <a:off x="1828800" y="4846320"/>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base moments, many directions</a:t>
            </a:r>
          </a:p>
        </p:txBody>
      </p:sp>
      <p:sp>
        <p:nvSpPr>
          <p:cNvPr id="47" name="TextBox 46"/>
          <p:cNvSpPr txBox="1"/>
          <p:nvPr/>
        </p:nvSpPr>
        <p:spPr>
          <a:xfrm>
            <a:off x="4206240" y="4846320"/>
            <a:ext cx="1005840" cy="201168"/>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E8EEF7"/>
                </a:solidFill>
                <a:latin typeface="Segoe UI"/>
              </a:rPr>
              <a:t>FE</a:t>
            </a:r>
          </a:p>
        </p:txBody>
      </p:sp>
      <p:sp>
        <p:nvSpPr>
          <p:cNvPr id="48" name="TextBox 47"/>
          <p:cNvSpPr txBox="1"/>
          <p:nvPr/>
        </p:nvSpPr>
        <p:spPr>
          <a:xfrm>
            <a:off x="5212079" y="4846320"/>
            <a:ext cx="2286000" cy="201168"/>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internal forces, drift, periods</a:t>
            </a:r>
          </a:p>
        </p:txBody>
      </p:sp>
      <p:sp>
        <p:nvSpPr>
          <p:cNvPr id="49" name="TextBox 48"/>
          <p:cNvSpPr txBox="1"/>
          <p:nvPr/>
        </p:nvSpPr>
        <p:spPr>
          <a:xfrm>
            <a:off x="822959" y="5413248"/>
            <a:ext cx="6583680" cy="219456"/>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Four independent checks. A disagreement is a design flag, not a rounding error.</a:t>
            </a:r>
          </a:p>
        </p:txBody>
      </p:sp>
      <p:sp>
        <p:nvSpPr>
          <p:cNvPr id="50" name="Rounded Rectangle 49"/>
          <p:cNvSpPr/>
          <p:nvPr/>
        </p:nvSpPr>
        <p:spPr>
          <a:xfrm>
            <a:off x="7726679" y="3566160"/>
            <a:ext cx="3822191" cy="219456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744967" y="3566160"/>
            <a:ext cx="3785615"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09560" y="3675887"/>
            <a:ext cx="34747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34D399"/>
                </a:solidFill>
                <a:latin typeface="Segoe UI"/>
              </a:rPr>
              <a:t>THE RULE</a:t>
            </a:r>
          </a:p>
        </p:txBody>
      </p:sp>
      <p:sp>
        <p:nvSpPr>
          <p:cNvPr id="53" name="TextBox 52"/>
          <p:cNvSpPr txBox="1"/>
          <p:nvPr/>
        </p:nvSpPr>
        <p:spPr>
          <a:xfrm>
            <a:off x="7909560" y="3931920"/>
            <a:ext cx="3520440" cy="1280160"/>
          </a:xfrm>
          <a:prstGeom prst="rect">
            <a:avLst/>
          </a:prstGeom>
          <a:noFill/>
        </p:spPr>
        <p:txBody>
          <a:bodyPr wrap="square" lIns="0" rIns="0" tIns="0" bIns="0" anchor="t">
            <a:noAutofit/>
          </a:bodyPr>
          <a:lstStyle/>
          <a:p>
            <a:pPr algn="l">
              <a:lnSpc>
                <a:spcPct val="135000"/>
              </a:lnSpc>
              <a:spcBef>
                <a:spcPts val="0"/>
              </a:spcBef>
              <a:spcAft>
                <a:spcPts val="0"/>
              </a:spcAft>
            </a:pPr>
            <a:r>
              <a:rPr sz="940" b="0" i="0">
                <a:solidFill>
                  <a:srgbClr val="94A3B8"/>
                </a:solidFill>
                <a:latin typeface="Segoe UI"/>
              </a:rPr>
              <a:t>Wind tunnel gives the loads. Finite element gives the stresses. Neither is trusted alone — the design only closes when both agree.</a:t>
            </a:r>
          </a:p>
        </p:txBody>
      </p:sp>
      <p:sp>
        <p:nvSpPr>
          <p:cNvPr id="54" name="TextBox 53"/>
          <p:cNvSpPr txBox="1"/>
          <p:nvPr/>
        </p:nvSpPr>
        <p:spPr>
          <a:xfrm>
            <a:off x="7909560" y="5138928"/>
            <a:ext cx="3520440" cy="457200"/>
          </a:xfrm>
          <a:prstGeom prst="rect">
            <a:avLst/>
          </a:prstGeom>
          <a:noFill/>
        </p:spPr>
        <p:txBody>
          <a:bodyPr wrap="square" lIns="0" rIns="0" tIns="0" bIns="0" anchor="t">
            <a:noAutofit/>
          </a:bodyPr>
          <a:lstStyle/>
          <a:p>
            <a:pPr algn="l">
              <a:lnSpc>
                <a:spcPct val="120000"/>
              </a:lnSpc>
              <a:spcBef>
                <a:spcPts val="0"/>
              </a:spcBef>
              <a:spcAft>
                <a:spcPts val="0"/>
              </a:spcAft>
            </a:pPr>
            <a:r>
              <a:rPr sz="819" b="1" i="0">
                <a:solidFill>
                  <a:srgbClr val="34D399"/>
                </a:solidFill>
                <a:latin typeface="Segoe UI"/>
              </a:rPr>
              <a:t>If they disagree, re-test the geometry — don't average the answer.</a:t>
            </a:r>
          </a:p>
        </p:txBody>
      </p:sp>
      <p:sp>
        <p:nvSpPr>
          <p:cNvPr id="55" name="TextBox 54"/>
          <p:cNvSpPr txBox="1"/>
          <p:nvPr/>
        </p:nvSpPr>
        <p:spPr>
          <a:xfrm>
            <a:off x="640080" y="5961888"/>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840" b="1" i="0">
                <a:solidFill>
                  <a:srgbClr val="60A5FA"/>
                </a:solidFill>
                <a:latin typeface="Segoe UI"/>
              </a:rPr>
              <a:t>Practical point: </a:t>
            </a:r>
            <a:r>
              <a:rPr sz="840" b="0" i="0">
                <a:solidFill>
                  <a:srgbClr val="94A3B8"/>
                </a:solidFill>
                <a:latin typeface="Segoe UI"/>
              </a:rPr>
              <a:t>the models were updated as the massing changed. A wind tunnel result is only valid for the geometry that was tested.</a:t>
            </a:r>
          </a:p>
        </p:txBody>
      </p:sp>
      <p:sp>
        <p:nvSpPr>
          <p:cNvPr id="56" name="TextBox 55"/>
          <p:cNvSpPr txBox="1"/>
          <p:nvPr/>
        </p:nvSpPr>
        <p:spPr>
          <a:xfrm>
            <a:off x="640080" y="614476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Workflow reconstructed from published project papers (Irwin 2005; Baker et al. 2015; RWDI). Tool names are not claimed.</a:t>
            </a:r>
          </a:p>
        </p:txBody>
      </p:sp>
      <p:cxnSp>
        <p:nvCxnSpPr>
          <p:cNvPr id="57" name="Connector 56"/>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59" name="TextBox 58"/>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60A5FA"/>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DD4BF"/>
                </a:solidFill>
                <a:latin typeface="Segoe UI"/>
              </a:rPr>
              <a:t>MONITORING</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The tower as a full-scale experiment</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16 / 20</a:t>
            </a:r>
          </a:p>
        </p:txBody>
      </p:sp>
      <p:sp>
        <p:nvSpPr>
          <p:cNvPr id="5" name="Rounded Rectangle 4"/>
          <p:cNvSpPr/>
          <p:nvPr/>
        </p:nvSpPr>
        <p:spPr>
          <a:xfrm>
            <a:off x="640080" y="1463040"/>
            <a:ext cx="5029200" cy="4297680"/>
          </a:xfrm>
          <a:prstGeom prst="roundRect">
            <a:avLst>
              <a:gd name="adj" fmla="val 5000"/>
            </a:avLst>
          </a:prstGeom>
          <a:solidFill>
            <a:srgbClr val="0B1424"/>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572768"/>
            <a:ext cx="402336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4748B"/>
                </a:solidFill>
                <a:latin typeface="Segoe UI"/>
              </a:rPr>
              <a:t>INSTRUMENTATION  ·  SCHEMATIC</a:t>
            </a:r>
          </a:p>
        </p:txBody>
      </p:sp>
      <p:sp>
        <p:nvSpPr>
          <p:cNvPr id="7" name="Freeform 6"/>
          <p:cNvSpPr/>
          <p:nvPr/>
        </p:nvSpPr>
        <p:spPr>
          <a:xfrm>
            <a:off x="2148840" y="1920240"/>
            <a:ext cx="914400" cy="3154680"/>
          </a:xfrm>
          <a:custGeom>
            <a:avLst/>
            <a:gdLst/>
            <a:ahLst/>
            <a:cxnLst/>
            <a:rect l="l" t="t" r="r" b="b"/>
            <a:pathLst>
              <a:path w="100" h="345">
                <a:moveTo>
                  <a:pt x="0" y="345"/>
                </a:moveTo>
                <a:lnTo>
                  <a:pt x="0" y="314"/>
                </a:lnTo>
                <a:lnTo>
                  <a:pt x="3" y="314"/>
                </a:lnTo>
                <a:lnTo>
                  <a:pt x="3" y="283"/>
                </a:lnTo>
                <a:lnTo>
                  <a:pt x="6" y="283"/>
                </a:lnTo>
                <a:lnTo>
                  <a:pt x="6" y="252"/>
                </a:lnTo>
                <a:lnTo>
                  <a:pt x="9" y="252"/>
                </a:lnTo>
                <a:lnTo>
                  <a:pt x="9" y="221"/>
                </a:lnTo>
                <a:lnTo>
                  <a:pt x="12" y="221"/>
                </a:lnTo>
                <a:lnTo>
                  <a:pt x="12" y="190"/>
                </a:lnTo>
                <a:lnTo>
                  <a:pt x="15" y="190"/>
                </a:lnTo>
                <a:lnTo>
                  <a:pt x="15" y="159"/>
                </a:lnTo>
                <a:lnTo>
                  <a:pt x="17" y="159"/>
                </a:lnTo>
                <a:lnTo>
                  <a:pt x="17" y="128"/>
                </a:lnTo>
                <a:lnTo>
                  <a:pt x="20" y="128"/>
                </a:lnTo>
                <a:lnTo>
                  <a:pt x="20" y="97"/>
                </a:lnTo>
                <a:lnTo>
                  <a:pt x="23" y="97"/>
                </a:lnTo>
                <a:lnTo>
                  <a:pt x="37" y="97"/>
                </a:lnTo>
                <a:lnTo>
                  <a:pt x="45" y="67"/>
                </a:lnTo>
                <a:lnTo>
                  <a:pt x="48" y="6"/>
                </a:lnTo>
                <a:lnTo>
                  <a:pt x="50" y="0"/>
                </a:lnTo>
                <a:lnTo>
                  <a:pt x="52" y="6"/>
                </a:lnTo>
                <a:lnTo>
                  <a:pt x="55" y="67"/>
                </a:lnTo>
                <a:lnTo>
                  <a:pt x="63" y="97"/>
                </a:lnTo>
                <a:lnTo>
                  <a:pt x="77" y="97"/>
                </a:lnTo>
                <a:lnTo>
                  <a:pt x="80" y="97"/>
                </a:lnTo>
                <a:lnTo>
                  <a:pt x="80" y="128"/>
                </a:lnTo>
                <a:lnTo>
                  <a:pt x="83" y="128"/>
                </a:lnTo>
                <a:lnTo>
                  <a:pt x="83" y="159"/>
                </a:lnTo>
                <a:lnTo>
                  <a:pt x="85" y="159"/>
                </a:lnTo>
                <a:lnTo>
                  <a:pt x="85" y="190"/>
                </a:lnTo>
                <a:lnTo>
                  <a:pt x="88" y="190"/>
                </a:lnTo>
                <a:lnTo>
                  <a:pt x="88" y="221"/>
                </a:lnTo>
                <a:lnTo>
                  <a:pt x="91" y="221"/>
                </a:lnTo>
                <a:lnTo>
                  <a:pt x="91" y="252"/>
                </a:lnTo>
                <a:lnTo>
                  <a:pt x="94" y="252"/>
                </a:lnTo>
                <a:lnTo>
                  <a:pt x="94" y="283"/>
                </a:lnTo>
                <a:lnTo>
                  <a:pt x="97" y="283"/>
                </a:lnTo>
                <a:lnTo>
                  <a:pt x="97" y="314"/>
                </a:lnTo>
                <a:lnTo>
                  <a:pt x="100" y="314"/>
                </a:lnTo>
                <a:lnTo>
                  <a:pt x="100" y="345"/>
                </a:lnTo>
                <a:lnTo>
                  <a:pt x="100" y="345"/>
                </a:lnTo>
                <a:close/>
              </a:path>
            </a:pathLst>
          </a:custGeom>
          <a:gradFill rotWithShape="1">
            <a:gsLst>
              <a:gs pos="0">
                <a:srgbClr val="183A63"/>
              </a:gs>
              <a:gs pos="100000">
                <a:srgbClr val="091628"/>
              </a:gs>
            </a:gsLst>
            <a:lin scaled="0" ang="16200000"/>
          </a:gradFill>
          <a:ln w="12700">
            <a:solidFill>
              <a:srgbClr val="1CAB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2188379" y="4711500"/>
            <a:ext cx="835321"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222622" y="4348081"/>
            <a:ext cx="766835"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255116" y="3984662"/>
            <a:ext cx="701847"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282644" y="3666670"/>
            <a:ext cx="646791" cy="0"/>
          </a:xfrm>
          <a:prstGeom prst="line">
            <a:avLst/>
          </a:prstGeom>
          <a:ln w="6350">
            <a:solidFill>
              <a:srgbClr val="125C6E"/>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578608" y="1892807"/>
            <a:ext cx="54864" cy="548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691640" y="5074920"/>
            <a:ext cx="1828800" cy="0"/>
          </a:xfrm>
          <a:prstGeom prst="line">
            <a:avLst/>
          </a:prstGeom>
          <a:ln w="12700">
            <a:solidFill>
              <a:srgbClr val="1E847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830392" y="2984967"/>
            <a:ext cx="109728" cy="109728"/>
          </a:xfrm>
          <a:prstGeom prst="ellipse">
            <a:avLst/>
          </a:prstGeom>
          <a:solidFill>
            <a:srgbClr val="2DD4BF"/>
          </a:solidFill>
          <a:ln w="1270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894400" y="3030687"/>
            <a:ext cx="351720" cy="0"/>
          </a:xfrm>
          <a:prstGeom prst="line">
            <a:avLst/>
          </a:prstGeom>
          <a:ln w="8890">
            <a:solidFill>
              <a:srgbClr val="1A716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10128" y="2847807"/>
            <a:ext cx="21031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E8EEF7"/>
                </a:solidFill>
                <a:latin typeface="Segoe UI"/>
              </a:rPr>
              <a:t>GPS + anemometer</a:t>
            </a:r>
          </a:p>
        </p:txBody>
      </p:sp>
      <p:sp>
        <p:nvSpPr>
          <p:cNvPr id="17" name="TextBox 16"/>
          <p:cNvSpPr txBox="1"/>
          <p:nvPr/>
        </p:nvSpPr>
        <p:spPr>
          <a:xfrm>
            <a:off x="3310128" y="3039831"/>
            <a:ext cx="2103120" cy="182880"/>
          </a:xfrm>
          <a:prstGeom prst="rect">
            <a:avLst/>
          </a:prstGeom>
          <a:noFill/>
        </p:spPr>
        <p:txBody>
          <a:bodyPr wrap="square" lIns="0" rIns="0" tIns="0" bIns="0" anchor="t">
            <a:noAutofit/>
          </a:bodyPr>
          <a:lstStyle/>
          <a:p>
            <a:pPr algn="l">
              <a:lnSpc>
                <a:spcPct val="110000"/>
              </a:lnSpc>
              <a:spcBef>
                <a:spcPts val="0"/>
              </a:spcBef>
              <a:spcAft>
                <a:spcPts val="0"/>
              </a:spcAft>
            </a:pPr>
            <a:r>
              <a:rPr sz="660" b="0" i="0">
                <a:solidFill>
                  <a:srgbClr val="94A3B8"/>
                </a:solidFill>
                <a:latin typeface="Segoe UI"/>
              </a:rPr>
              <a:t>top displacement &amp; wind speed</a:t>
            </a:r>
          </a:p>
        </p:txBody>
      </p:sp>
      <p:sp>
        <p:nvSpPr>
          <p:cNvPr id="18" name="Oval 17"/>
          <p:cNvSpPr/>
          <p:nvPr/>
        </p:nvSpPr>
        <p:spPr>
          <a:xfrm>
            <a:off x="2864440" y="3393813"/>
            <a:ext cx="109728" cy="109728"/>
          </a:xfrm>
          <a:prstGeom prst="ellipse">
            <a:avLst/>
          </a:prstGeom>
          <a:solidFill>
            <a:srgbClr val="2DD4BF"/>
          </a:solidFill>
          <a:ln w="1270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928448" y="3439533"/>
            <a:ext cx="317672" cy="0"/>
          </a:xfrm>
          <a:prstGeom prst="line">
            <a:avLst/>
          </a:prstGeom>
          <a:ln w="8890">
            <a:solidFill>
              <a:srgbClr val="1A716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310128" y="3256653"/>
            <a:ext cx="21031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E8EEF7"/>
                </a:solidFill>
                <a:latin typeface="Segoe UI"/>
              </a:rPr>
              <a:t>accelerometers</a:t>
            </a:r>
          </a:p>
        </p:txBody>
      </p:sp>
      <p:sp>
        <p:nvSpPr>
          <p:cNvPr id="21" name="TextBox 20"/>
          <p:cNvSpPr txBox="1"/>
          <p:nvPr/>
        </p:nvSpPr>
        <p:spPr>
          <a:xfrm>
            <a:off x="3310128" y="3448677"/>
            <a:ext cx="2103120" cy="182880"/>
          </a:xfrm>
          <a:prstGeom prst="rect">
            <a:avLst/>
          </a:prstGeom>
          <a:noFill/>
        </p:spPr>
        <p:txBody>
          <a:bodyPr wrap="square" lIns="0" rIns="0" tIns="0" bIns="0" anchor="t">
            <a:noAutofit/>
          </a:bodyPr>
          <a:lstStyle/>
          <a:p>
            <a:pPr algn="l">
              <a:lnSpc>
                <a:spcPct val="110000"/>
              </a:lnSpc>
              <a:spcBef>
                <a:spcPts val="0"/>
              </a:spcBef>
              <a:spcAft>
                <a:spcPts val="0"/>
              </a:spcAft>
            </a:pPr>
            <a:r>
              <a:rPr sz="660" b="0" i="0">
                <a:solidFill>
                  <a:srgbClr val="94A3B8"/>
                </a:solidFill>
                <a:latin typeface="Segoe UI"/>
              </a:rPr>
              <a:t>3 levels, two axes</a:t>
            </a:r>
          </a:p>
        </p:txBody>
      </p:sp>
      <p:sp>
        <p:nvSpPr>
          <p:cNvPr id="22" name="Oval 21"/>
          <p:cNvSpPr/>
          <p:nvPr/>
        </p:nvSpPr>
        <p:spPr>
          <a:xfrm>
            <a:off x="2911243" y="3938942"/>
            <a:ext cx="109728" cy="109728"/>
          </a:xfrm>
          <a:prstGeom prst="ellipse">
            <a:avLst/>
          </a:prstGeom>
          <a:solidFill>
            <a:srgbClr val="2DD4BF"/>
          </a:solidFill>
          <a:ln w="1270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2975251" y="3984662"/>
            <a:ext cx="270869" cy="0"/>
          </a:xfrm>
          <a:prstGeom prst="line">
            <a:avLst/>
          </a:prstGeom>
          <a:ln w="8890">
            <a:solidFill>
              <a:srgbClr val="1A716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310128" y="3801782"/>
            <a:ext cx="21031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E8EEF7"/>
                </a:solidFill>
                <a:latin typeface="Segoe UI"/>
              </a:rPr>
              <a:t>strain gauges</a:t>
            </a:r>
          </a:p>
        </p:txBody>
      </p:sp>
      <p:sp>
        <p:nvSpPr>
          <p:cNvPr id="25" name="TextBox 24"/>
          <p:cNvSpPr txBox="1"/>
          <p:nvPr/>
        </p:nvSpPr>
        <p:spPr>
          <a:xfrm>
            <a:off x="3310128" y="3993806"/>
            <a:ext cx="2103120" cy="182880"/>
          </a:xfrm>
          <a:prstGeom prst="rect">
            <a:avLst/>
          </a:prstGeom>
          <a:noFill/>
        </p:spPr>
        <p:txBody>
          <a:bodyPr wrap="square" lIns="0" rIns="0" tIns="0" bIns="0" anchor="t">
            <a:noAutofit/>
          </a:bodyPr>
          <a:lstStyle/>
          <a:p>
            <a:pPr algn="l">
              <a:lnSpc>
                <a:spcPct val="110000"/>
              </a:lnSpc>
              <a:spcBef>
                <a:spcPts val="0"/>
              </a:spcBef>
              <a:spcAft>
                <a:spcPts val="0"/>
              </a:spcAft>
            </a:pPr>
            <a:r>
              <a:rPr sz="660" b="0" i="0">
                <a:solidFill>
                  <a:srgbClr val="94A3B8"/>
                </a:solidFill>
                <a:latin typeface="Segoe UI"/>
              </a:rPr>
              <a:t>core &amp; outrigger walls</a:t>
            </a:r>
          </a:p>
        </p:txBody>
      </p:sp>
      <p:sp>
        <p:nvSpPr>
          <p:cNvPr id="26" name="Oval 25"/>
          <p:cNvSpPr/>
          <p:nvPr/>
        </p:nvSpPr>
        <p:spPr>
          <a:xfrm>
            <a:off x="2964857" y="4529498"/>
            <a:ext cx="109728" cy="109728"/>
          </a:xfrm>
          <a:prstGeom prst="ellipse">
            <a:avLst/>
          </a:prstGeom>
          <a:solidFill>
            <a:srgbClr val="2DD4BF"/>
          </a:solidFill>
          <a:ln w="12700">
            <a:solidFill>
              <a:srgbClr val="080E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028865" y="4575218"/>
            <a:ext cx="217255" cy="0"/>
          </a:xfrm>
          <a:prstGeom prst="line">
            <a:avLst/>
          </a:prstGeom>
          <a:ln w="8890">
            <a:solidFill>
              <a:srgbClr val="1A716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10128" y="4392338"/>
            <a:ext cx="210312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E8EEF7"/>
                </a:solidFill>
                <a:latin typeface="Segoe UI"/>
              </a:rPr>
              <a:t>temperature</a:t>
            </a:r>
          </a:p>
        </p:txBody>
      </p:sp>
      <p:sp>
        <p:nvSpPr>
          <p:cNvPr id="29" name="TextBox 28"/>
          <p:cNvSpPr txBox="1"/>
          <p:nvPr/>
        </p:nvSpPr>
        <p:spPr>
          <a:xfrm>
            <a:off x="3310128" y="4584362"/>
            <a:ext cx="2103120" cy="182880"/>
          </a:xfrm>
          <a:prstGeom prst="rect">
            <a:avLst/>
          </a:prstGeom>
          <a:noFill/>
        </p:spPr>
        <p:txBody>
          <a:bodyPr wrap="square" lIns="0" rIns="0" tIns="0" bIns="0" anchor="t">
            <a:noAutofit/>
          </a:bodyPr>
          <a:lstStyle/>
          <a:p>
            <a:pPr algn="l">
              <a:lnSpc>
                <a:spcPct val="110000"/>
              </a:lnSpc>
              <a:spcBef>
                <a:spcPts val="0"/>
              </a:spcBef>
              <a:spcAft>
                <a:spcPts val="0"/>
              </a:spcAft>
            </a:pPr>
            <a:r>
              <a:rPr sz="660" b="0" i="0">
                <a:solidFill>
                  <a:srgbClr val="94A3B8"/>
                </a:solidFill>
                <a:latin typeface="Segoe UI"/>
              </a:rPr>
              <a:t>thermal gradients</a:t>
            </a:r>
          </a:p>
        </p:txBody>
      </p:sp>
      <p:sp>
        <p:nvSpPr>
          <p:cNvPr id="30" name="TextBox 29"/>
          <p:cNvSpPr txBox="1"/>
          <p:nvPr/>
        </p:nvSpPr>
        <p:spPr>
          <a:xfrm>
            <a:off x="822959" y="5230368"/>
            <a:ext cx="4572000" cy="457200"/>
          </a:xfrm>
          <a:prstGeom prst="rect">
            <a:avLst/>
          </a:prstGeom>
          <a:noFill/>
        </p:spPr>
        <p:txBody>
          <a:bodyPr wrap="square" lIns="0" rIns="0" tIns="0" bIns="0" anchor="t">
            <a:noAutofit/>
          </a:bodyPr>
          <a:lstStyle/>
          <a:p>
            <a:pPr algn="l">
              <a:lnSpc>
                <a:spcPct val="120000"/>
              </a:lnSpc>
              <a:spcBef>
                <a:spcPts val="0"/>
              </a:spcBef>
              <a:spcAft>
                <a:spcPts val="0"/>
              </a:spcAft>
            </a:pPr>
            <a:r>
              <a:rPr sz="740" b="0" i="0">
                <a:solidFill>
                  <a:srgbClr val="64748B"/>
                </a:solidFill>
                <a:latin typeface="Segoe UI"/>
              </a:rPr>
              <a:t>Sensors validate the models, not just the building: measured frequencies and damping feed back into the next design.</a:t>
            </a:r>
          </a:p>
        </p:txBody>
      </p:sp>
      <p:graphicFrame>
        <p:nvGraphicFramePr>
          <p:cNvPr id="31" name="Chart 30"/>
          <p:cNvGraphicFramePr>
            <a:graphicFrameLocks noGrp="1"/>
          </p:cNvGraphicFramePr>
          <p:nvPr/>
        </p:nvGraphicFramePr>
        <p:xfrm>
          <a:off x="5989320" y="1463040"/>
          <a:ext cx="5559552" cy="2395728"/>
        </p:xfrm>
        <a:graphic>
          <a:graphicData uri="http://schemas.openxmlformats.org/drawingml/2006/chart">
            <c:chart xmlns:c="http://schemas.openxmlformats.org/drawingml/2006/chart" r:id="rId2"/>
          </a:graphicData>
        </a:graphic>
      </p:graphicFrame>
      <p:sp>
        <p:nvSpPr>
          <p:cNvPr id="32" name="TextBox 31"/>
          <p:cNvSpPr txBox="1"/>
          <p:nvPr/>
        </p:nvSpPr>
        <p:spPr>
          <a:xfrm>
            <a:off x="6492240" y="1517904"/>
            <a:ext cx="3840480"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64748B"/>
                </a:solidFill>
                <a:latin typeface="Segoe UI"/>
              </a:rPr>
              <a:t>TIME HISTORY  ·  ≈ 0.11 Hz FIRST MODE</a:t>
            </a:r>
          </a:p>
        </p:txBody>
      </p:sp>
      <p:sp>
        <p:nvSpPr>
          <p:cNvPr id="33" name="TextBox 32"/>
          <p:cNvSpPr txBox="1"/>
          <p:nvPr/>
        </p:nvSpPr>
        <p:spPr>
          <a:xfrm>
            <a:off x="10424160" y="1554480"/>
            <a:ext cx="1005840" cy="201168"/>
          </a:xfrm>
          <a:prstGeom prst="rect">
            <a:avLst/>
          </a:prstGeom>
          <a:noFill/>
        </p:spPr>
        <p:txBody>
          <a:bodyPr wrap="square" lIns="0" rIns="0" tIns="0" bIns="0" anchor="t">
            <a:noAutofit/>
          </a:bodyPr>
          <a:lstStyle/>
          <a:p>
            <a:pPr algn="r">
              <a:lnSpc>
                <a:spcPct val="110000"/>
              </a:lnSpc>
              <a:spcBef>
                <a:spcPts val="0"/>
              </a:spcBef>
              <a:spcAft>
                <a:spcPts val="0"/>
              </a:spcAft>
            </a:pPr>
            <a:r>
              <a:rPr sz="680" b="1" i="0">
                <a:solidFill>
                  <a:srgbClr val="64748B"/>
                </a:solidFill>
                <a:latin typeface="Segoe UI"/>
              </a:rPr>
              <a:t>MILLI-g</a:t>
            </a:r>
          </a:p>
        </p:txBody>
      </p:sp>
      <p:sp>
        <p:nvSpPr>
          <p:cNvPr id="34" name="Rounded Rectangle 33"/>
          <p:cNvSpPr/>
          <p:nvPr/>
        </p:nvSpPr>
        <p:spPr>
          <a:xfrm>
            <a:off x="5989320" y="3950208"/>
            <a:ext cx="5559552" cy="1810512"/>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007607" y="3950208"/>
            <a:ext cx="5522976" cy="41148"/>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4059936"/>
            <a:ext cx="512064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2DD4BF"/>
                </a:solidFill>
                <a:latin typeface="Segoe UI"/>
              </a:rPr>
              <a:t>WHAT THE DATA PROVED</a:t>
            </a:r>
          </a:p>
        </p:txBody>
      </p:sp>
      <p:sp>
        <p:nvSpPr>
          <p:cNvPr id="37" name="TextBox 36"/>
          <p:cNvSpPr txBox="1"/>
          <p:nvPr/>
        </p:nvSpPr>
        <p:spPr>
          <a:xfrm>
            <a:off x="6172200" y="4315968"/>
            <a:ext cx="1188720" cy="201168"/>
          </a:xfrm>
          <a:prstGeom prst="rect">
            <a:avLst/>
          </a:prstGeom>
          <a:noFill/>
        </p:spPr>
        <p:txBody>
          <a:bodyPr wrap="square" lIns="0" rIns="0" tIns="0" bIns="0" anchor="t">
            <a:noAutofit/>
          </a:bodyPr>
          <a:lstStyle/>
          <a:p>
            <a:pPr algn="l">
              <a:lnSpc>
                <a:spcPct val="110000"/>
              </a:lnSpc>
              <a:spcBef>
                <a:spcPts val="0"/>
              </a:spcBef>
              <a:spcAft>
                <a:spcPts val="0"/>
              </a:spcAft>
            </a:pPr>
            <a:r>
              <a:rPr sz="819" b="1" i="0">
                <a:solidFill>
                  <a:srgbClr val="E8EEF7"/>
                </a:solidFill>
                <a:latin typeface="Segoe UI"/>
              </a:rPr>
              <a:t>Frequencies</a:t>
            </a:r>
          </a:p>
        </p:txBody>
      </p:sp>
      <p:sp>
        <p:nvSpPr>
          <p:cNvPr id="38" name="TextBox 37"/>
          <p:cNvSpPr txBox="1"/>
          <p:nvPr/>
        </p:nvSpPr>
        <p:spPr>
          <a:xfrm>
            <a:off x="7406640" y="4315968"/>
            <a:ext cx="4023360" cy="219456"/>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measured modes landed close to the FE predictions — the stiffness model was right.</a:t>
            </a:r>
          </a:p>
        </p:txBody>
      </p:sp>
      <p:sp>
        <p:nvSpPr>
          <p:cNvPr id="39" name="TextBox 38"/>
          <p:cNvSpPr txBox="1"/>
          <p:nvPr/>
        </p:nvSpPr>
        <p:spPr>
          <a:xfrm>
            <a:off x="6172200" y="4754879"/>
            <a:ext cx="1188720" cy="201168"/>
          </a:xfrm>
          <a:prstGeom prst="rect">
            <a:avLst/>
          </a:prstGeom>
          <a:noFill/>
        </p:spPr>
        <p:txBody>
          <a:bodyPr wrap="square" lIns="0" rIns="0" tIns="0" bIns="0" anchor="t">
            <a:noAutofit/>
          </a:bodyPr>
          <a:lstStyle/>
          <a:p>
            <a:pPr algn="l">
              <a:lnSpc>
                <a:spcPct val="110000"/>
              </a:lnSpc>
              <a:spcBef>
                <a:spcPts val="0"/>
              </a:spcBef>
              <a:spcAft>
                <a:spcPts val="0"/>
              </a:spcAft>
            </a:pPr>
            <a:r>
              <a:rPr sz="819" b="1" i="0">
                <a:solidFill>
                  <a:srgbClr val="E8EEF7"/>
                </a:solidFill>
                <a:latin typeface="Segoe UI"/>
              </a:rPr>
              <a:t>Damping</a:t>
            </a:r>
          </a:p>
        </p:txBody>
      </p:sp>
      <p:sp>
        <p:nvSpPr>
          <p:cNvPr id="40" name="TextBox 39"/>
          <p:cNvSpPr txBox="1"/>
          <p:nvPr/>
        </p:nvSpPr>
        <p:spPr>
          <a:xfrm>
            <a:off x="7406640" y="4754879"/>
            <a:ext cx="4023360" cy="219456"/>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roughly 1–2% of critical, amplitude-dependent; the low end governed the design.</a:t>
            </a:r>
          </a:p>
        </p:txBody>
      </p:sp>
      <p:sp>
        <p:nvSpPr>
          <p:cNvPr id="41" name="TextBox 40"/>
          <p:cNvSpPr txBox="1"/>
          <p:nvPr/>
        </p:nvSpPr>
        <p:spPr>
          <a:xfrm>
            <a:off x="6172200" y="5193792"/>
            <a:ext cx="1188720" cy="201168"/>
          </a:xfrm>
          <a:prstGeom prst="rect">
            <a:avLst/>
          </a:prstGeom>
          <a:noFill/>
        </p:spPr>
        <p:txBody>
          <a:bodyPr wrap="square" lIns="0" rIns="0" tIns="0" bIns="0" anchor="t">
            <a:noAutofit/>
          </a:bodyPr>
          <a:lstStyle/>
          <a:p>
            <a:pPr algn="l">
              <a:lnSpc>
                <a:spcPct val="110000"/>
              </a:lnSpc>
              <a:spcBef>
                <a:spcPts val="0"/>
              </a:spcBef>
              <a:spcAft>
                <a:spcPts val="0"/>
              </a:spcAft>
            </a:pPr>
            <a:r>
              <a:rPr sz="819" b="1" i="0">
                <a:solidFill>
                  <a:srgbClr val="E8EEF7"/>
                </a:solidFill>
                <a:latin typeface="Segoe UI"/>
              </a:rPr>
              <a:t>Response</a:t>
            </a:r>
          </a:p>
        </p:txBody>
      </p:sp>
      <p:sp>
        <p:nvSpPr>
          <p:cNvPr id="42" name="TextBox 41"/>
          <p:cNvSpPr txBox="1"/>
          <p:nvPr/>
        </p:nvSpPr>
        <p:spPr>
          <a:xfrm>
            <a:off x="7406640" y="5193792"/>
            <a:ext cx="4023360" cy="219456"/>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measured accelerations stayed inside the wind-tunnel envelope.</a:t>
            </a:r>
          </a:p>
        </p:txBody>
      </p:sp>
      <p:sp>
        <p:nvSpPr>
          <p:cNvPr id="43" name="TextBox 42"/>
          <p:cNvSpPr txBox="1"/>
          <p:nvPr/>
        </p:nvSpPr>
        <p:spPr>
          <a:xfrm>
            <a:off x="640080" y="5943600"/>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Monitoring scope: published SHM descriptions (SmartSync / CTBUH). Time history is an illustrative 10-minute record, not measured Burj data.</a:t>
            </a:r>
          </a:p>
        </p:txBody>
      </p:sp>
      <p:cxnSp>
        <p:nvCxnSpPr>
          <p:cNvPr id="44" name="Connector 43"/>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6" name="TextBox 45"/>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DD4BF"/>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34D399"/>
                </a:solidFill>
                <a:latin typeface="Segoe UI"/>
              </a:rPr>
              <a:t>SCORECARD</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Did the design deliver what it promised?</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17 / 20</a:t>
            </a:r>
          </a:p>
        </p:txBody>
      </p:sp>
      <p:graphicFrame>
        <p:nvGraphicFramePr>
          <p:cNvPr id="5" name="Table 4"/>
          <p:cNvGraphicFramePr>
            <a:graphicFrameLocks noGrp="1"/>
          </p:cNvGraphicFramePr>
          <p:nvPr/>
        </p:nvGraphicFramePr>
        <p:xfrm>
          <a:off x="640080" y="1517904"/>
          <a:ext cx="8275320" cy="3749040"/>
        </p:xfrm>
        <a:graphic>
          <a:graphicData uri="http://schemas.openxmlformats.org/drawingml/2006/table">
            <a:tbl>
              <a:tblPr firstRow="1">
                <a:tableStyleId>{5C22544A-7EE6-4342-B048-85BDC9FD1C3A}</a:tableStyleId>
              </a:tblPr>
              <a:tblGrid>
                <a:gridCol w="1600200"/>
                <a:gridCol w="2606040"/>
                <a:gridCol w="3063240"/>
                <a:gridCol w="1005840"/>
              </a:tblGrid>
              <a:tr h="384048">
                <a:tc>
                  <a:txBody>
                    <a:bodyPr wrap="square" lIns="73152" rIns="54864" tIns="18288" bIns="18288"/>
                    <a:lstStyle/>
                    <a:p>
                      <a:pPr algn="l">
                        <a:lnSpc>
                          <a:spcPct val="100000"/>
                        </a:lnSpc>
                      </a:pPr>
                      <a:r>
                        <a:rPr sz="800" b="1">
                          <a:solidFill>
                            <a:srgbClr val="22D3EE"/>
                          </a:solidFill>
                          <a:latin typeface="Segoe UI Semibold"/>
                        </a:rPr>
                        <a:t>Metric</a:t>
                      </a:r>
                    </a:p>
                  </a:txBody>
                  <a:tcPr marL="73152" marR="54864" marT="27432" marB="27432" anchor="ctr">
                    <a:solidFill>
                      <a:srgbClr val="152238"/>
                    </a:solidFill>
                  </a:tcPr>
                </a:tc>
                <a:tc>
                  <a:txBody>
                    <a:bodyPr wrap="square" lIns="73152" rIns="54864" tIns="18288" bIns="18288"/>
                    <a:lstStyle/>
                    <a:p>
                      <a:pPr algn="l">
                        <a:lnSpc>
                          <a:spcPct val="100000"/>
                        </a:lnSpc>
                      </a:pPr>
                      <a:r>
                        <a:rPr sz="800" b="1">
                          <a:solidFill>
                            <a:srgbClr val="22D3EE"/>
                          </a:solidFill>
                          <a:latin typeface="Segoe UI Semibold"/>
                        </a:rPr>
                        <a:t>Design intent</a:t>
                      </a:r>
                    </a:p>
                  </a:txBody>
                  <a:tcPr marL="73152" marR="54864" marT="27432" marB="27432" anchor="ctr">
                    <a:solidFill>
                      <a:srgbClr val="152238"/>
                    </a:solidFill>
                  </a:tcPr>
                </a:tc>
                <a:tc>
                  <a:txBody>
                    <a:bodyPr wrap="square" lIns="73152" rIns="54864" tIns="18288" bIns="18288"/>
                    <a:lstStyle/>
                    <a:p>
                      <a:pPr algn="l">
                        <a:lnSpc>
                          <a:spcPct val="100000"/>
                        </a:lnSpc>
                      </a:pPr>
                      <a:r>
                        <a:rPr sz="800" b="1">
                          <a:solidFill>
                            <a:srgbClr val="22D3EE"/>
                          </a:solidFill>
                          <a:latin typeface="Segoe UI Semibold"/>
                        </a:rPr>
                        <a:t>Verified outcome</a:t>
                      </a:r>
                    </a:p>
                  </a:txBody>
                  <a:tcPr marL="73152" marR="54864" marT="27432" marB="27432" anchor="ctr">
                    <a:solidFill>
                      <a:srgbClr val="152238"/>
                    </a:solidFill>
                  </a:tcPr>
                </a:tc>
                <a:tc>
                  <a:txBody>
                    <a:bodyPr wrap="square" lIns="73152" rIns="54864" tIns="18288" bIns="18288"/>
                    <a:lstStyle/>
                    <a:p>
                      <a:pPr algn="l">
                        <a:lnSpc>
                          <a:spcPct val="100000"/>
                        </a:lnSpc>
                      </a:pPr>
                      <a:r>
                        <a:rPr sz="800" b="1">
                          <a:solidFill>
                            <a:srgbClr val="22D3EE"/>
                          </a:solidFill>
                          <a:latin typeface="Segoe UI Semibold"/>
                        </a:rPr>
                        <a:t>Status</a:t>
                      </a:r>
                    </a:p>
                  </a:txBody>
                  <a:tcPr marL="73152" marR="54864" marT="27432" marB="27432" anchor="ctr">
                    <a:solidFill>
                      <a:srgbClr val="152238"/>
                    </a:solidFill>
                  </a:tcPr>
                </a:tc>
              </a:tr>
              <a:tr h="420624">
                <a:tc>
                  <a:txBody>
                    <a:bodyPr wrap="square" lIns="73152" rIns="54864" tIns="18288" bIns="18288"/>
                    <a:lstStyle/>
                    <a:p>
                      <a:pPr algn="l">
                        <a:lnSpc>
                          <a:spcPct val="100000"/>
                        </a:lnSpc>
                      </a:pPr>
                      <a:r>
                        <a:rPr sz="819" b="0">
                          <a:solidFill>
                            <a:srgbClr val="E8EEF7"/>
                          </a:solidFill>
                          <a:latin typeface="Segoe UI"/>
                        </a:rPr>
                        <a:t>Height</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828 m architectural</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828 m, 163 floors</a:t>
                      </a:r>
                    </a:p>
                  </a:txBody>
                  <a:tcPr marL="73152" marR="54864" marT="27432" marB="27432" anchor="ctr">
                    <a:solidFill>
                      <a:srgbClr val="101A2C"/>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101A2C"/>
                    </a:solidFill>
                  </a:tcPr>
                </a:tc>
              </a:tr>
              <a:tr h="420624">
                <a:tc>
                  <a:txBody>
                    <a:bodyPr wrap="square" lIns="73152" rIns="54864" tIns="18288" bIns="18288"/>
                    <a:lstStyle/>
                    <a:p>
                      <a:pPr algn="l">
                        <a:lnSpc>
                          <a:spcPct val="100000"/>
                        </a:lnSpc>
                      </a:pPr>
                      <a:r>
                        <a:rPr sz="819" b="0">
                          <a:solidFill>
                            <a:srgbClr val="E8EEF7"/>
                          </a:solidFill>
                          <a:latin typeface="Segoe UI"/>
                        </a:rPr>
                        <a:t>Design wind</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50-yr mean-hourly, 23.5 m/s @ 10 m</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41 m/s at 600 m, ≈43 m/s at crown</a:t>
                      </a:r>
                    </a:p>
                  </a:txBody>
                  <a:tcPr marL="73152" marR="54864" marT="27432" marB="27432" anchor="ctr">
                    <a:solidFill>
                      <a:srgbClr val="0B1424"/>
                    </a:solidFill>
                  </a:tcPr>
                </a:tc>
                <a:tc>
                  <a:txBody>
                    <a:bodyPr wrap="square" lIns="73152" rIns="54864" tIns="18288" bIns="18288"/>
                    <a:lstStyle/>
                    <a:p>
                      <a:pPr algn="l">
                        <a:lnSpc>
                          <a:spcPct val="100000"/>
                        </a:lnSpc>
                      </a:pPr>
                      <a:r>
                        <a:rPr sz="720" b="1">
                          <a:solidFill>
                            <a:srgbClr val="34D399"/>
                          </a:solidFill>
                          <a:latin typeface="Segoe UI"/>
                        </a:rPr>
                        <a:t>ADOPTED</a:t>
                      </a:r>
                    </a:p>
                  </a:txBody>
                  <a:tcPr marL="73152" marR="54864" marT="27432" marB="27432" anchor="ctr">
                    <a:solidFill>
                      <a:srgbClr val="0B1424"/>
                    </a:solidFill>
                  </a:tcPr>
                </a:tc>
              </a:tr>
              <a:tr h="420624">
                <a:tc>
                  <a:txBody>
                    <a:bodyPr wrap="square" lIns="73152" rIns="54864" tIns="18288" bIns="18288"/>
                    <a:lstStyle/>
                    <a:p>
                      <a:pPr algn="l">
                        <a:lnSpc>
                          <a:spcPct val="100000"/>
                        </a:lnSpc>
                      </a:pPr>
                      <a:r>
                        <a:rPr sz="819" b="0">
                          <a:solidFill>
                            <a:srgbClr val="E8EEF7"/>
                          </a:solidFill>
                          <a:latin typeface="Segoe UI"/>
                        </a:rPr>
                        <a:t>Comfort</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 15 milli-g, 5-yr return</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12 milli-g predicted</a:t>
                      </a:r>
                    </a:p>
                  </a:txBody>
                  <a:tcPr marL="73152" marR="54864" marT="27432" marB="27432" anchor="ctr">
                    <a:solidFill>
                      <a:srgbClr val="101A2C"/>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101A2C"/>
                    </a:solidFill>
                  </a:tcPr>
                </a:tc>
              </a:tr>
              <a:tr h="420624">
                <a:tc>
                  <a:txBody>
                    <a:bodyPr wrap="square" lIns="73152" rIns="54864" tIns="18288" bIns="18288"/>
                    <a:lstStyle/>
                    <a:p>
                      <a:pPr algn="l">
                        <a:lnSpc>
                          <a:spcPct val="100000"/>
                        </a:lnSpc>
                      </a:pPr>
                      <a:r>
                        <a:rPr sz="819" b="0">
                          <a:solidFill>
                            <a:srgbClr val="E8EEF7"/>
                          </a:solidFill>
                          <a:latin typeface="Segoe UI"/>
                        </a:rPr>
                        <a:t>Damping devices</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avoid auxiliary dampers</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none installed</a:t>
                      </a:r>
                    </a:p>
                  </a:txBody>
                  <a:tcPr marL="73152" marR="54864" marT="27432" marB="27432" anchor="ctr">
                    <a:solidFill>
                      <a:srgbClr val="0B1424"/>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0B1424"/>
                    </a:solidFill>
                  </a:tcPr>
                </a:tc>
              </a:tr>
              <a:tr h="420624">
                <a:tc>
                  <a:txBody>
                    <a:bodyPr wrap="square" lIns="73152" rIns="54864" tIns="18288" bIns="18288"/>
                    <a:lstStyle/>
                    <a:p>
                      <a:pPr algn="l">
                        <a:lnSpc>
                          <a:spcPct val="100000"/>
                        </a:lnSpc>
                      </a:pPr>
                      <a:r>
                        <a:rPr sz="819" b="0">
                          <a:solidFill>
                            <a:srgbClr val="E8EEF7"/>
                          </a:solidFill>
                          <a:latin typeface="Segoe UI"/>
                        </a:rPr>
                        <a:t>Top sway</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 1.5 m in the design storm</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within serviceability limits</a:t>
                      </a:r>
                    </a:p>
                  </a:txBody>
                  <a:tcPr marL="73152" marR="54864" marT="27432" marB="27432" anchor="ctr">
                    <a:solidFill>
                      <a:srgbClr val="101A2C"/>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101A2C"/>
                    </a:solidFill>
                  </a:tcPr>
                </a:tc>
              </a:tr>
              <a:tr h="420624">
                <a:tc>
                  <a:txBody>
                    <a:bodyPr wrap="square" lIns="73152" rIns="54864" tIns="18288" bIns="18288"/>
                    <a:lstStyle/>
                    <a:p>
                      <a:pPr algn="l">
                        <a:lnSpc>
                          <a:spcPct val="100000"/>
                        </a:lnSpc>
                      </a:pPr>
                      <a:r>
                        <a:rPr sz="819" b="0">
                          <a:solidFill>
                            <a:srgbClr val="E8EEF7"/>
                          </a:solidFill>
                          <a:latin typeface="Segoe UI"/>
                        </a:rPr>
                        <a:t>Foundation</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piled raft on 192 piles</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192 × 1.5 m, 47.45 m deep, 3.7 m raft</a:t>
                      </a:r>
                    </a:p>
                  </a:txBody>
                  <a:tcPr marL="73152" marR="54864" marT="27432" marB="27432" anchor="ctr">
                    <a:solidFill>
                      <a:srgbClr val="0B1424"/>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0B1424"/>
                    </a:solidFill>
                  </a:tcPr>
                </a:tc>
              </a:tr>
              <a:tr h="420624">
                <a:tc>
                  <a:txBody>
                    <a:bodyPr wrap="square" lIns="73152" rIns="54864" tIns="18288" bIns="18288"/>
                    <a:lstStyle/>
                    <a:p>
                      <a:pPr algn="l">
                        <a:lnSpc>
                          <a:spcPct val="100000"/>
                        </a:lnSpc>
                      </a:pPr>
                      <a:r>
                        <a:rPr sz="819" b="0">
                          <a:solidFill>
                            <a:srgbClr val="E8EEF7"/>
                          </a:solidFill>
                          <a:latin typeface="Segoe UI"/>
                        </a:rPr>
                        <a:t>Wind tunnel</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40+ tests, two scales</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1:500 aeroelastic + 1:50 high-Re</a:t>
                      </a:r>
                    </a:p>
                  </a:txBody>
                  <a:tcPr marL="73152" marR="54864" marT="27432" marB="27432" anchor="ctr">
                    <a:solidFill>
                      <a:srgbClr val="101A2C"/>
                    </a:solidFill>
                  </a:tcPr>
                </a:tc>
                <a:tc>
                  <a:txBody>
                    <a:bodyPr wrap="square" lIns="73152" rIns="54864" tIns="18288" bIns="18288"/>
                    <a:lstStyle/>
                    <a:p>
                      <a:pPr algn="l">
                        <a:lnSpc>
                          <a:spcPct val="100000"/>
                        </a:lnSpc>
                      </a:pPr>
                      <a:r>
                        <a:rPr sz="720" b="1">
                          <a:solidFill>
                            <a:srgbClr val="34D399"/>
                          </a:solidFill>
                          <a:latin typeface="Segoe UI"/>
                        </a:rPr>
                        <a:t>MET</a:t>
                      </a:r>
                    </a:p>
                  </a:txBody>
                  <a:tcPr marL="73152" marR="54864" marT="27432" marB="27432" anchor="ctr">
                    <a:solidFill>
                      <a:srgbClr val="101A2C"/>
                    </a:solidFill>
                  </a:tcPr>
                </a:tc>
              </a:tr>
              <a:tr h="420624">
                <a:tc>
                  <a:txBody>
                    <a:bodyPr wrap="square" lIns="73152" rIns="54864" tIns="18288" bIns="18288"/>
                    <a:lstStyle/>
                    <a:p>
                      <a:pPr algn="l">
                        <a:lnSpc>
                          <a:spcPct val="100000"/>
                        </a:lnSpc>
                      </a:pPr>
                      <a:r>
                        <a:rPr sz="819" b="0">
                          <a:solidFill>
                            <a:srgbClr val="E8EEF7"/>
                          </a:solidFill>
                          <a:latin typeface="Segoe UI"/>
                        </a:rPr>
                        <a:t>Occupancy</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mixed-use, 163 floors</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residential, hotel, office, observation</a:t>
                      </a:r>
                    </a:p>
                  </a:txBody>
                  <a:tcPr marL="73152" marR="54864" marT="27432" marB="27432" anchor="ctr">
                    <a:solidFill>
                      <a:srgbClr val="0B1424"/>
                    </a:solidFill>
                  </a:tcPr>
                </a:tc>
                <a:tc>
                  <a:txBody>
                    <a:bodyPr wrap="square" lIns="73152" rIns="54864" tIns="18288" bIns="18288"/>
                    <a:lstStyle/>
                    <a:p>
                      <a:pPr algn="l">
                        <a:lnSpc>
                          <a:spcPct val="100000"/>
                        </a:lnSpc>
                      </a:pPr>
                      <a:r>
                        <a:rPr sz="720" b="1">
                          <a:solidFill>
                            <a:srgbClr val="34D399"/>
                          </a:solidFill>
                          <a:latin typeface="Segoe UI"/>
                        </a:rPr>
                        <a:t>OPENED 2010</a:t>
                      </a:r>
                    </a:p>
                  </a:txBody>
                  <a:tcPr marL="73152" marR="54864" marT="27432" marB="27432" anchor="ctr">
                    <a:solidFill>
                      <a:srgbClr val="0B1424"/>
                    </a:solidFill>
                  </a:tcPr>
                </a:tc>
              </a:tr>
            </a:tbl>
          </a:graphicData>
        </a:graphic>
      </p:graphicFrame>
      <p:sp>
        <p:nvSpPr>
          <p:cNvPr id="6" name="Rounded Rectangle 5"/>
          <p:cNvSpPr/>
          <p:nvPr/>
        </p:nvSpPr>
        <p:spPr>
          <a:xfrm>
            <a:off x="9098280" y="1517904"/>
            <a:ext cx="2450592" cy="192024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16567" y="1517904"/>
            <a:ext cx="2414016"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53728" y="1627632"/>
            <a:ext cx="21945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34D399"/>
                </a:solidFill>
                <a:latin typeface="Segoe UI"/>
              </a:rPr>
              <a:t>THE HEADLINE</a:t>
            </a:r>
          </a:p>
        </p:txBody>
      </p:sp>
      <p:sp>
        <p:nvSpPr>
          <p:cNvPr id="9" name="TextBox 8"/>
          <p:cNvSpPr txBox="1"/>
          <p:nvPr/>
        </p:nvSpPr>
        <p:spPr>
          <a:xfrm>
            <a:off x="9253728" y="1874519"/>
            <a:ext cx="2194560" cy="457200"/>
          </a:xfrm>
          <a:prstGeom prst="rect">
            <a:avLst/>
          </a:prstGeom>
          <a:noFill/>
        </p:spPr>
        <p:txBody>
          <a:bodyPr wrap="square" lIns="0" rIns="0" tIns="0" bIns="0" anchor="t">
            <a:noAutofit/>
          </a:bodyPr>
          <a:lstStyle/>
          <a:p>
            <a:pPr algn="l">
              <a:lnSpc>
                <a:spcPct val="110000"/>
              </a:lnSpc>
              <a:spcBef>
                <a:spcPts val="0"/>
              </a:spcBef>
              <a:spcAft>
                <a:spcPts val="0"/>
              </a:spcAft>
            </a:pPr>
            <a:r>
              <a:rPr sz="3000" b="1" i="0">
                <a:solidFill>
                  <a:srgbClr val="34D399"/>
                </a:solidFill>
                <a:latin typeface="Segoe UI Semibold"/>
              </a:rPr>
              <a:t>−68%</a:t>
            </a:r>
          </a:p>
        </p:txBody>
      </p:sp>
      <p:sp>
        <p:nvSpPr>
          <p:cNvPr id="10" name="TextBox 9"/>
          <p:cNvSpPr txBox="1"/>
          <p:nvPr/>
        </p:nvSpPr>
        <p:spPr>
          <a:xfrm>
            <a:off x="9253728" y="2432304"/>
            <a:ext cx="2194560" cy="822960"/>
          </a:xfrm>
          <a:prstGeom prst="rect">
            <a:avLst/>
          </a:prstGeom>
          <a:noFill/>
        </p:spPr>
        <p:txBody>
          <a:bodyPr wrap="square" lIns="0" rIns="0" tIns="0" bIns="0" anchor="t">
            <a:noAutofit/>
          </a:bodyPr>
          <a:lstStyle/>
          <a:p>
            <a:pPr algn="l">
              <a:lnSpc>
                <a:spcPct val="120000"/>
              </a:lnSpc>
              <a:spcBef>
                <a:spcPts val="0"/>
              </a:spcBef>
              <a:spcAft>
                <a:spcPts val="0"/>
              </a:spcAft>
            </a:pPr>
            <a:r>
              <a:rPr sz="760" b="0" i="0">
                <a:solidFill>
                  <a:srgbClr val="94A3B8"/>
                </a:solidFill>
                <a:latin typeface="Segoe UI"/>
              </a:rPr>
              <a:t>peak acceleration versus the first massing study — without a damper.</a:t>
            </a:r>
          </a:p>
        </p:txBody>
      </p:sp>
      <p:sp>
        <p:nvSpPr>
          <p:cNvPr id="11" name="Rounded Rectangle 10"/>
          <p:cNvSpPr/>
          <p:nvPr/>
        </p:nvSpPr>
        <p:spPr>
          <a:xfrm>
            <a:off x="9098280" y="3584448"/>
            <a:ext cx="2450592" cy="2048256"/>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53728" y="3694176"/>
            <a:ext cx="2194560" cy="201168"/>
          </a:xfrm>
          <a:prstGeom prst="rect">
            <a:avLst/>
          </a:prstGeom>
          <a:noFill/>
        </p:spPr>
        <p:txBody>
          <a:bodyPr wrap="square" lIns="0" rIns="0" tIns="0" bIns="0" anchor="t">
            <a:noAutofit/>
          </a:bodyPr>
          <a:lstStyle/>
          <a:p>
            <a:pPr algn="l">
              <a:lnSpc>
                <a:spcPct val="110000"/>
              </a:lnSpc>
              <a:spcBef>
                <a:spcPts val="0"/>
              </a:spcBef>
              <a:spcAft>
                <a:spcPts val="0"/>
              </a:spcAft>
            </a:pPr>
            <a:r>
              <a:rPr sz="740" b="1" i="0">
                <a:solidFill>
                  <a:srgbClr val="F59E0B"/>
                </a:solidFill>
                <a:latin typeface="Segoe UI"/>
              </a:rPr>
              <a:t>THE CAVEAT</a:t>
            </a:r>
          </a:p>
        </p:txBody>
      </p:sp>
      <p:sp>
        <p:nvSpPr>
          <p:cNvPr id="13" name="TextBox 12"/>
          <p:cNvSpPr txBox="1"/>
          <p:nvPr/>
        </p:nvSpPr>
        <p:spPr>
          <a:xfrm>
            <a:off x="9253728" y="3931920"/>
            <a:ext cx="2194560" cy="914400"/>
          </a:xfrm>
          <a:prstGeom prst="rect">
            <a:avLst/>
          </a:prstGeom>
          <a:noFill/>
        </p:spPr>
        <p:txBody>
          <a:bodyPr wrap="square" lIns="0" rIns="0" tIns="0" bIns="0" anchor="t">
            <a:noAutofit/>
          </a:bodyPr>
          <a:lstStyle/>
          <a:p>
            <a:pPr algn="l">
              <a:lnSpc>
                <a:spcPct val="124000"/>
              </a:lnSpc>
              <a:spcBef>
                <a:spcPts val="0"/>
              </a:spcBef>
              <a:spcAft>
                <a:spcPts val="0"/>
              </a:spcAft>
            </a:pPr>
            <a:r>
              <a:rPr sz="760" b="0" i="0">
                <a:solidFill>
                  <a:srgbClr val="94A3B8"/>
                </a:solidFill>
                <a:latin typeface="Segoe UI"/>
              </a:rPr>
              <a:t>Acceleration and sway are predictions, not long-term measurements. The scorecard marks design intent, not proof.</a:t>
            </a:r>
          </a:p>
        </p:txBody>
      </p:sp>
      <p:sp>
        <p:nvSpPr>
          <p:cNvPr id="14" name="TextBox 13"/>
          <p:cNvSpPr txBox="1"/>
          <p:nvPr/>
        </p:nvSpPr>
        <p:spPr>
          <a:xfrm>
            <a:off x="9253728" y="4590288"/>
            <a:ext cx="2194560" cy="548640"/>
          </a:xfrm>
          <a:prstGeom prst="rect">
            <a:avLst/>
          </a:prstGeom>
          <a:noFill/>
        </p:spPr>
        <p:txBody>
          <a:bodyPr wrap="square" lIns="0" rIns="0" tIns="0" bIns="0" anchor="t">
            <a:noAutofit/>
          </a:bodyPr>
          <a:lstStyle/>
          <a:p>
            <a:pPr algn="l">
              <a:lnSpc>
                <a:spcPct val="120000"/>
              </a:lnSpc>
              <a:spcBef>
                <a:spcPts val="0"/>
              </a:spcBef>
              <a:spcAft>
                <a:spcPts val="0"/>
              </a:spcAft>
            </a:pPr>
            <a:r>
              <a:rPr sz="720" b="0" i="0">
                <a:solidFill>
                  <a:srgbClr val="64748B"/>
                </a:solidFill>
                <a:latin typeface="Segoe UI"/>
              </a:rPr>
              <a:t>Long-term monitoring, a stronger storm or added damping would update the verdict.</a:t>
            </a:r>
          </a:p>
        </p:txBody>
      </p:sp>
      <p:sp>
        <p:nvSpPr>
          <p:cNvPr id="15" name="TextBox 14"/>
          <p:cNvSpPr txBox="1"/>
          <p:nvPr/>
        </p:nvSpPr>
        <p:spPr>
          <a:xfrm>
            <a:off x="640080" y="5815584"/>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Table compiled from SOM, RWDI, CTBUH and ICC sources. 'MET' = design target reported as satisfied; acceleration values are aeroelastic predictions.</a:t>
            </a:r>
          </a:p>
        </p:txBody>
      </p:sp>
      <p:cxnSp>
        <p:nvCxnSpPr>
          <p:cNvPr id="16" name="Connector 15"/>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18" name="TextBox 17"/>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34D39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22D3EE"/>
                </a:solidFill>
                <a:latin typeface="Segoe UI"/>
              </a:rPr>
              <a:t>LESSONS</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Six principles that transferred beyond Dubai</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18 / 20</a:t>
            </a:r>
          </a:p>
        </p:txBody>
      </p:sp>
      <p:sp>
        <p:nvSpPr>
          <p:cNvPr id="5" name="Rounded Rectangle 4"/>
          <p:cNvSpPr/>
          <p:nvPr/>
        </p:nvSpPr>
        <p:spPr>
          <a:xfrm>
            <a:off x="640080" y="1517904"/>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517904"/>
            <a:ext cx="3456432"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2763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22D3EE"/>
                </a:solidFill>
                <a:latin typeface="Segoe UI"/>
              </a:rPr>
              <a:t>01</a:t>
            </a:r>
          </a:p>
        </p:txBody>
      </p:sp>
      <p:sp>
        <p:nvSpPr>
          <p:cNvPr id="8" name="TextBox 7"/>
          <p:cNvSpPr txBox="1"/>
          <p:nvPr/>
        </p:nvSpPr>
        <p:spPr>
          <a:xfrm>
            <a:off x="822959" y="1865376"/>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Shape before stiffness</a:t>
            </a:r>
          </a:p>
        </p:txBody>
      </p:sp>
      <p:sp>
        <p:nvSpPr>
          <p:cNvPr id="9" name="TextBox 8"/>
          <p:cNvSpPr txBox="1"/>
          <p:nvPr/>
        </p:nvSpPr>
        <p:spPr>
          <a:xfrm>
            <a:off x="822959" y="2212848"/>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Geometry removed 68% of the acceleration. Adding concrete would have cost far more.</a:t>
            </a:r>
          </a:p>
        </p:txBody>
      </p:sp>
      <p:sp>
        <p:nvSpPr>
          <p:cNvPr id="10" name="TextBox 9"/>
          <p:cNvSpPr txBox="1"/>
          <p:nvPr/>
        </p:nvSpPr>
        <p:spPr>
          <a:xfrm>
            <a:off x="822959" y="276148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22D3EE"/>
                </a:solidFill>
                <a:latin typeface="Segoe UI"/>
              </a:rPr>
              <a:t>37 → 19 → 12 milli-g</a:t>
            </a:r>
          </a:p>
        </p:txBody>
      </p:sp>
      <p:sp>
        <p:nvSpPr>
          <p:cNvPr id="11" name="Rounded Rectangle 10"/>
          <p:cNvSpPr/>
          <p:nvPr/>
        </p:nvSpPr>
        <p:spPr>
          <a:xfrm>
            <a:off x="4297680" y="1517904"/>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5968" y="1517904"/>
            <a:ext cx="3456432" cy="41148"/>
          </a:xfrm>
          <a:prstGeom prst="roundRect">
            <a:avLst>
              <a:gd name="adj" fmla="val 50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62763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60A5FA"/>
                </a:solidFill>
                <a:latin typeface="Segoe UI"/>
              </a:rPr>
              <a:t>02</a:t>
            </a:r>
          </a:p>
        </p:txBody>
      </p:sp>
      <p:sp>
        <p:nvSpPr>
          <p:cNvPr id="14" name="TextBox 13"/>
          <p:cNvSpPr txBox="1"/>
          <p:nvPr/>
        </p:nvSpPr>
        <p:spPr>
          <a:xfrm>
            <a:off x="4480560" y="1865376"/>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Test the dynamics</a:t>
            </a:r>
          </a:p>
        </p:txBody>
      </p:sp>
      <p:sp>
        <p:nvSpPr>
          <p:cNvPr id="15" name="TextBox 14"/>
          <p:cNvSpPr txBox="1"/>
          <p:nvPr/>
        </p:nvSpPr>
        <p:spPr>
          <a:xfrm>
            <a:off x="4480560" y="2212848"/>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An aeroelastic model captures damping and lock-in; a rigid pressure test cannot.</a:t>
            </a:r>
          </a:p>
        </p:txBody>
      </p:sp>
      <p:sp>
        <p:nvSpPr>
          <p:cNvPr id="16" name="TextBox 15"/>
          <p:cNvSpPr txBox="1"/>
          <p:nvPr/>
        </p:nvSpPr>
        <p:spPr>
          <a:xfrm>
            <a:off x="4480560" y="276148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60A5FA"/>
                </a:solidFill>
                <a:latin typeface="Segoe UI"/>
              </a:rPr>
              <a:t>1:500 model · 40+ tests</a:t>
            </a:r>
          </a:p>
        </p:txBody>
      </p:sp>
      <p:sp>
        <p:nvSpPr>
          <p:cNvPr id="17" name="Rounded Rectangle 16"/>
          <p:cNvSpPr/>
          <p:nvPr/>
        </p:nvSpPr>
        <p:spPr>
          <a:xfrm>
            <a:off x="7955279" y="1517904"/>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73567" y="1517904"/>
            <a:ext cx="3456432" cy="4114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59" y="162763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A78BFA"/>
                </a:solidFill>
                <a:latin typeface="Segoe UI"/>
              </a:rPr>
              <a:t>03</a:t>
            </a:r>
          </a:p>
        </p:txBody>
      </p:sp>
      <p:sp>
        <p:nvSpPr>
          <p:cNvPr id="20" name="TextBox 19"/>
          <p:cNvSpPr txBox="1"/>
          <p:nvPr/>
        </p:nvSpPr>
        <p:spPr>
          <a:xfrm>
            <a:off x="8138159" y="1865376"/>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Let structure follow wind</a:t>
            </a:r>
          </a:p>
        </p:txBody>
      </p:sp>
      <p:sp>
        <p:nvSpPr>
          <p:cNvPr id="21" name="TextBox 20"/>
          <p:cNvSpPr txBox="1"/>
          <p:nvPr/>
        </p:nvSpPr>
        <p:spPr>
          <a:xfrm>
            <a:off x="8138159" y="2212848"/>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Setbacks aligned to the column grid: the aerodynamic move was also the structural move.</a:t>
            </a:r>
          </a:p>
        </p:txBody>
      </p:sp>
      <p:sp>
        <p:nvSpPr>
          <p:cNvPr id="22" name="TextBox 21"/>
          <p:cNvSpPr txBox="1"/>
          <p:nvPr/>
        </p:nvSpPr>
        <p:spPr>
          <a:xfrm>
            <a:off x="8138159" y="276148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A78BFA"/>
                </a:solidFill>
                <a:latin typeface="Segoe UI"/>
              </a:rPr>
              <a:t>27 setbacks · no transfers</a:t>
            </a:r>
          </a:p>
        </p:txBody>
      </p:sp>
      <p:sp>
        <p:nvSpPr>
          <p:cNvPr id="23" name="Rounded Rectangle 22"/>
          <p:cNvSpPr/>
          <p:nvPr/>
        </p:nvSpPr>
        <p:spPr>
          <a:xfrm>
            <a:off x="640080" y="3255263"/>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3255263"/>
            <a:ext cx="3456432" cy="411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36499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F59E0B"/>
                </a:solidFill>
                <a:latin typeface="Segoe UI"/>
              </a:rPr>
              <a:t>04</a:t>
            </a:r>
          </a:p>
        </p:txBody>
      </p:sp>
      <p:sp>
        <p:nvSpPr>
          <p:cNvPr id="26" name="TextBox 25"/>
          <p:cNvSpPr txBox="1"/>
          <p:nvPr/>
        </p:nvSpPr>
        <p:spPr>
          <a:xfrm>
            <a:off x="822959" y="3602735"/>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Design the margin</a:t>
            </a:r>
          </a:p>
        </p:txBody>
      </p:sp>
      <p:sp>
        <p:nvSpPr>
          <p:cNvPr id="27" name="TextBox 26"/>
          <p:cNvSpPr txBox="1"/>
          <p:nvPr/>
        </p:nvSpPr>
        <p:spPr>
          <a:xfrm>
            <a:off x="822959" y="3950207"/>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No damper meant the shape and stiffness had to carry the uncertainty.</a:t>
            </a:r>
          </a:p>
        </p:txBody>
      </p:sp>
      <p:sp>
        <p:nvSpPr>
          <p:cNvPr id="28" name="TextBox 27"/>
          <p:cNvSpPr txBox="1"/>
          <p:nvPr/>
        </p:nvSpPr>
        <p:spPr>
          <a:xfrm>
            <a:off x="822959" y="449884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F59E0B"/>
                </a:solidFill>
                <a:latin typeface="Segoe UI"/>
              </a:rPr>
              <a:t>12 mg with 0 dampers</a:t>
            </a:r>
          </a:p>
        </p:txBody>
      </p:sp>
      <p:sp>
        <p:nvSpPr>
          <p:cNvPr id="29" name="Rounded Rectangle 28"/>
          <p:cNvSpPr/>
          <p:nvPr/>
        </p:nvSpPr>
        <p:spPr>
          <a:xfrm>
            <a:off x="4297680" y="3255263"/>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5968" y="3255263"/>
            <a:ext cx="3456432" cy="41148"/>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336499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34D399"/>
                </a:solidFill>
                <a:latin typeface="Segoe UI"/>
              </a:rPr>
              <a:t>05</a:t>
            </a:r>
          </a:p>
        </p:txBody>
      </p:sp>
      <p:sp>
        <p:nvSpPr>
          <p:cNvPr id="32" name="TextBox 31"/>
          <p:cNvSpPr txBox="1"/>
          <p:nvPr/>
        </p:nvSpPr>
        <p:spPr>
          <a:xfrm>
            <a:off x="4480560" y="3602735"/>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Verify at two scales</a:t>
            </a:r>
          </a:p>
        </p:txBody>
      </p:sp>
      <p:sp>
        <p:nvSpPr>
          <p:cNvPr id="33" name="TextBox 32"/>
          <p:cNvSpPr txBox="1"/>
          <p:nvPr/>
        </p:nvSpPr>
        <p:spPr>
          <a:xfrm>
            <a:off x="4480560" y="3950207"/>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Reynolds effects are real; the 1:50 checks are cheap insurance.</a:t>
            </a:r>
          </a:p>
        </p:txBody>
      </p:sp>
      <p:sp>
        <p:nvSpPr>
          <p:cNvPr id="34" name="TextBox 33"/>
          <p:cNvSpPr txBox="1"/>
          <p:nvPr/>
        </p:nvSpPr>
        <p:spPr>
          <a:xfrm>
            <a:off x="4480560" y="449884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34D399"/>
                </a:solidFill>
                <a:latin typeface="Segoe UI"/>
              </a:rPr>
              <a:t>1:50 sections vs 1:500</a:t>
            </a:r>
          </a:p>
        </p:txBody>
      </p:sp>
      <p:sp>
        <p:nvSpPr>
          <p:cNvPr id="35" name="Rounded Rectangle 34"/>
          <p:cNvSpPr/>
          <p:nvPr/>
        </p:nvSpPr>
        <p:spPr>
          <a:xfrm>
            <a:off x="7955279" y="3255263"/>
            <a:ext cx="3493008" cy="1517904"/>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973567" y="3255263"/>
            <a:ext cx="3456432" cy="41148"/>
          </a:xfrm>
          <a:prstGeom prst="roundRect">
            <a:avLst>
              <a:gd name="adj" fmla="val 5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59" y="3364991"/>
            <a:ext cx="457200" cy="201168"/>
          </a:xfrm>
          <a:prstGeom prst="rect">
            <a:avLst/>
          </a:prstGeom>
          <a:noFill/>
        </p:spPr>
        <p:txBody>
          <a:bodyPr wrap="square" lIns="0" rIns="0" tIns="0" bIns="0" anchor="t">
            <a:noAutofit/>
          </a:bodyPr>
          <a:lstStyle/>
          <a:p>
            <a:pPr algn="l">
              <a:lnSpc>
                <a:spcPct val="110000"/>
              </a:lnSpc>
              <a:spcBef>
                <a:spcPts val="0"/>
              </a:spcBef>
              <a:spcAft>
                <a:spcPts val="0"/>
              </a:spcAft>
            </a:pPr>
            <a:r>
              <a:rPr sz="760" b="1" i="0">
                <a:solidFill>
                  <a:srgbClr val="2DD4BF"/>
                </a:solidFill>
                <a:latin typeface="Segoe UI"/>
              </a:rPr>
              <a:t>06</a:t>
            </a:r>
          </a:p>
        </p:txBody>
      </p:sp>
      <p:sp>
        <p:nvSpPr>
          <p:cNvPr id="38" name="TextBox 37"/>
          <p:cNvSpPr txBox="1"/>
          <p:nvPr/>
        </p:nvSpPr>
        <p:spPr>
          <a:xfrm>
            <a:off x="8138159" y="3602735"/>
            <a:ext cx="3108960" cy="274320"/>
          </a:xfrm>
          <a:prstGeom prst="rect">
            <a:avLst/>
          </a:prstGeom>
          <a:noFill/>
        </p:spPr>
        <p:txBody>
          <a:bodyPr wrap="square" lIns="0" rIns="0" tIns="0" bIns="0" anchor="t">
            <a:noAutofit/>
          </a:bodyPr>
          <a:lstStyle/>
          <a:p>
            <a:pPr algn="l">
              <a:lnSpc>
                <a:spcPct val="110000"/>
              </a:lnSpc>
              <a:spcBef>
                <a:spcPts val="0"/>
              </a:spcBef>
              <a:spcAft>
                <a:spcPts val="0"/>
              </a:spcAft>
            </a:pPr>
            <a:r>
              <a:rPr sz="1150" b="1" i="0">
                <a:solidFill>
                  <a:srgbClr val="E8EEF7"/>
                </a:solidFill>
                <a:latin typeface="Segoe UI Semibold"/>
              </a:rPr>
              <a:t>Design for the occupant</a:t>
            </a:r>
          </a:p>
        </p:txBody>
      </p:sp>
      <p:sp>
        <p:nvSpPr>
          <p:cNvPr id="39" name="TextBox 38"/>
          <p:cNvSpPr txBox="1"/>
          <p:nvPr/>
        </p:nvSpPr>
        <p:spPr>
          <a:xfrm>
            <a:off x="8138159" y="3950207"/>
            <a:ext cx="3154680" cy="594360"/>
          </a:xfrm>
          <a:prstGeom prst="rect">
            <a:avLst/>
          </a:prstGeom>
          <a:noFill/>
        </p:spPr>
        <p:txBody>
          <a:bodyPr wrap="square" lIns="0" rIns="0" tIns="0" bIns="0" anchor="t">
            <a:noAutofit/>
          </a:bodyPr>
          <a:lstStyle/>
          <a:p>
            <a:pPr algn="l">
              <a:lnSpc>
                <a:spcPct val="125000"/>
              </a:lnSpc>
              <a:spcBef>
                <a:spcPts val="0"/>
              </a:spcBef>
              <a:spcAft>
                <a:spcPts val="0"/>
              </a:spcAft>
            </a:pPr>
            <a:r>
              <a:rPr sz="780" b="0" i="0">
                <a:solidFill>
                  <a:srgbClr val="94A3B8"/>
                </a:solidFill>
                <a:latin typeface="Segoe UI"/>
              </a:rPr>
              <a:t>Comfort, not code minimum, sized the top of the tower.</a:t>
            </a:r>
          </a:p>
        </p:txBody>
      </p:sp>
      <p:sp>
        <p:nvSpPr>
          <p:cNvPr id="40" name="TextBox 39"/>
          <p:cNvSpPr txBox="1"/>
          <p:nvPr/>
        </p:nvSpPr>
        <p:spPr>
          <a:xfrm>
            <a:off x="8138159" y="4498848"/>
            <a:ext cx="3154680" cy="201168"/>
          </a:xfrm>
          <a:prstGeom prst="rect">
            <a:avLst/>
          </a:prstGeom>
          <a:noFill/>
        </p:spPr>
        <p:txBody>
          <a:bodyPr wrap="square" lIns="0" rIns="0" tIns="0" bIns="0" anchor="t">
            <a:noAutofit/>
          </a:bodyPr>
          <a:lstStyle/>
          <a:p>
            <a:pPr algn="l">
              <a:lnSpc>
                <a:spcPct val="110000"/>
              </a:lnSpc>
              <a:spcBef>
                <a:spcPts val="0"/>
              </a:spcBef>
              <a:spcAft>
                <a:spcPts val="0"/>
              </a:spcAft>
            </a:pPr>
            <a:r>
              <a:rPr sz="700" b="1" i="0">
                <a:solidFill>
                  <a:srgbClr val="2DD4BF"/>
                </a:solidFill>
                <a:latin typeface="Segoe UI"/>
              </a:rPr>
              <a:t>12 mg vs 10–15 mg target</a:t>
            </a:r>
          </a:p>
        </p:txBody>
      </p:sp>
      <p:sp>
        <p:nvSpPr>
          <p:cNvPr id="41" name="Rounded Rectangle 40"/>
          <p:cNvSpPr/>
          <p:nvPr/>
        </p:nvSpPr>
        <p:spPr>
          <a:xfrm>
            <a:off x="640080" y="5084064"/>
            <a:ext cx="10911535" cy="749808"/>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8368" y="5084064"/>
            <a:ext cx="10874959"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084064"/>
            <a:ext cx="10607040" cy="749808"/>
          </a:xfrm>
          <a:prstGeom prst="rect">
            <a:avLst/>
          </a:prstGeom>
          <a:noFill/>
        </p:spPr>
        <p:txBody>
          <a:bodyPr wrap="square" lIns="0" rIns="0" tIns="0" bIns="0" anchor="ctr">
            <a:noAutofit/>
          </a:bodyPr>
          <a:lstStyle/>
          <a:p>
            <a:pPr algn="l">
              <a:lnSpc>
                <a:spcPct val="110000"/>
              </a:lnSpc>
              <a:spcBef>
                <a:spcPts val="0"/>
              </a:spcBef>
              <a:spcAft>
                <a:spcPts val="0"/>
              </a:spcAft>
            </a:pPr>
            <a:r>
              <a:rPr sz="1250" b="1" i="0">
                <a:solidFill>
                  <a:srgbClr val="22D3EE"/>
                </a:solidFill>
                <a:latin typeface="Segoe UI"/>
              </a:rPr>
              <a:t>The transferable idea: </a:t>
            </a:r>
            <a:r>
              <a:rPr sz="1250" b="0" i="0">
                <a:solidFill>
                  <a:srgbClr val="E8EEF7"/>
                </a:solidFill>
                <a:latin typeface="Segoe UI"/>
              </a:rPr>
              <a:t>at supertall height, the cheapest structural material is the shape of the building.</a:t>
            </a:r>
          </a:p>
        </p:txBody>
      </p:sp>
      <p:sp>
        <p:nvSpPr>
          <p:cNvPr id="44" name="TextBox 43"/>
          <p:cNvSpPr txBox="1"/>
          <p:nvPr/>
        </p:nvSpPr>
        <p:spPr>
          <a:xfrm>
            <a:off x="640080" y="605332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Synthesis of published Burj Khalifa wind-engineering papers; principles are the author's interpretation, not a client statement.</a:t>
            </a:r>
          </a:p>
        </p:txBody>
      </p:sp>
      <p:cxnSp>
        <p:nvCxnSpPr>
          <p:cNvPr id="45" name="Connector 44"/>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47" name="TextBox 46"/>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22D3EE"/>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F87171"/>
                </a:solidFill>
                <a:latin typeface="Segoe UI"/>
              </a:rPr>
              <a:t>AEROELASTIC SAFETY</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Five instabilities a supertall must survive</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19 / 20</a:t>
            </a:r>
          </a:p>
        </p:txBody>
      </p:sp>
      <p:graphicFrame>
        <p:nvGraphicFramePr>
          <p:cNvPr id="5" name="Table 4"/>
          <p:cNvGraphicFramePr>
            <a:graphicFrameLocks noGrp="1"/>
          </p:cNvGraphicFramePr>
          <p:nvPr/>
        </p:nvGraphicFramePr>
        <p:xfrm>
          <a:off x="640080" y="1517904"/>
          <a:ext cx="10881360" cy="3236976"/>
        </p:xfrm>
        <a:graphic>
          <a:graphicData uri="http://schemas.openxmlformats.org/drawingml/2006/table">
            <a:tbl>
              <a:tblPr firstRow="1">
                <a:tableStyleId>{5C22544A-7EE6-4342-B048-85BDC9FD1C3A}</a:tableStyleId>
              </a:tblPr>
              <a:tblGrid>
                <a:gridCol w="2743200"/>
                <a:gridCol w="4480560"/>
                <a:gridCol w="3657600"/>
              </a:tblGrid>
              <a:tr h="402336">
                <a:tc>
                  <a:txBody>
                    <a:bodyPr wrap="square" lIns="73152" rIns="54864" tIns="18288" bIns="18288"/>
                    <a:lstStyle/>
                    <a:p>
                      <a:pPr algn="l">
                        <a:lnSpc>
                          <a:spcPct val="100000"/>
                        </a:lnSpc>
                      </a:pPr>
                      <a:r>
                        <a:rPr sz="860" b="1">
                          <a:solidFill>
                            <a:srgbClr val="22D3EE"/>
                          </a:solidFill>
                          <a:latin typeface="Segoe UI Semibold"/>
                        </a:rPr>
                        <a:t>Instability</a:t>
                      </a:r>
                    </a:p>
                  </a:txBody>
                  <a:tcPr marL="73152" marR="54864" marT="27432" marB="27432" anchor="ctr">
                    <a:solidFill>
                      <a:srgbClr val="152238"/>
                    </a:solidFill>
                  </a:tcPr>
                </a:tc>
                <a:tc>
                  <a:txBody>
                    <a:bodyPr wrap="square" lIns="73152" rIns="54864" tIns="18288" bIns="18288"/>
                    <a:lstStyle/>
                    <a:p>
                      <a:pPr algn="l">
                        <a:lnSpc>
                          <a:spcPct val="100000"/>
                        </a:lnSpc>
                      </a:pPr>
                      <a:r>
                        <a:rPr sz="860" b="1">
                          <a:solidFill>
                            <a:srgbClr val="22D3EE"/>
                          </a:solidFill>
                          <a:latin typeface="Segoe UI Semibold"/>
                        </a:rPr>
                        <a:t>Mechanism</a:t>
                      </a:r>
                    </a:p>
                  </a:txBody>
                  <a:tcPr marL="73152" marR="54864" marT="27432" marB="27432" anchor="ctr">
                    <a:solidFill>
                      <a:srgbClr val="152238"/>
                    </a:solidFill>
                  </a:tcPr>
                </a:tc>
                <a:tc>
                  <a:txBody>
                    <a:bodyPr wrap="square" lIns="73152" rIns="54864" tIns="18288" bIns="18288"/>
                    <a:lstStyle/>
                    <a:p>
                      <a:pPr algn="l">
                        <a:lnSpc>
                          <a:spcPct val="100000"/>
                        </a:lnSpc>
                      </a:pPr>
                      <a:r>
                        <a:rPr sz="860" b="1">
                          <a:solidFill>
                            <a:srgbClr val="22D3EE"/>
                          </a:solidFill>
                          <a:latin typeface="Segoe UI Semibold"/>
                        </a:rPr>
                        <a:t>Burj Khalifa response</a:t>
                      </a:r>
                    </a:p>
                  </a:txBody>
                  <a:tcPr marL="73152" marR="54864" marT="27432" marB="27432" anchor="ctr">
                    <a:solidFill>
                      <a:srgbClr val="152238"/>
                    </a:solidFill>
                  </a:tcPr>
                </a:tc>
              </a:tr>
              <a:tr h="566928">
                <a:tc>
                  <a:txBody>
                    <a:bodyPr wrap="square" lIns="73152" rIns="54864" tIns="18288" bIns="18288"/>
                    <a:lstStyle/>
                    <a:p>
                      <a:pPr algn="l">
                        <a:lnSpc>
                          <a:spcPct val="100000"/>
                        </a:lnSpc>
                      </a:pPr>
                      <a:r>
                        <a:rPr sz="819" b="0">
                          <a:solidFill>
                            <a:srgbClr val="E8EEF7"/>
                          </a:solidFill>
                          <a:latin typeface="Segoe UI"/>
                        </a:rPr>
                        <a:t>Vortex shedding</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Alternating vortices create a cross-wind force at the shedding frequency.</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Stepped Y-plan smears the frequency; no coherent lock-in over the full height.</a:t>
                      </a:r>
                    </a:p>
                  </a:txBody>
                  <a:tcPr marL="73152" marR="54864" marT="27432" marB="27432" anchor="ctr">
                    <a:solidFill>
                      <a:srgbClr val="101A2C"/>
                    </a:solidFill>
                  </a:tcPr>
                </a:tc>
              </a:tr>
              <a:tr h="566928">
                <a:tc>
                  <a:txBody>
                    <a:bodyPr wrap="square" lIns="73152" rIns="54864" tIns="18288" bIns="18288"/>
                    <a:lstStyle/>
                    <a:p>
                      <a:pPr algn="l">
                        <a:lnSpc>
                          <a:spcPct val="100000"/>
                        </a:lnSpc>
                      </a:pPr>
                      <a:r>
                        <a:rPr sz="819" b="0">
                          <a:solidFill>
                            <a:srgbClr val="E8EEF7"/>
                          </a:solidFill>
                          <a:latin typeface="Segoe UI"/>
                        </a:rPr>
                        <a:t>Lock-in</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Shedding synchronises with a structural mode and amplifies motion.</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27 setbacks and taper keep the response broad and low.</a:t>
                      </a:r>
                    </a:p>
                  </a:txBody>
                  <a:tcPr marL="73152" marR="54864" marT="27432" marB="27432" anchor="ctr">
                    <a:solidFill>
                      <a:srgbClr val="0B1424"/>
                    </a:solidFill>
                  </a:tcPr>
                </a:tc>
              </a:tr>
              <a:tr h="566928">
                <a:tc>
                  <a:txBody>
                    <a:bodyPr wrap="square" lIns="73152" rIns="54864" tIns="18288" bIns="18288"/>
                    <a:lstStyle/>
                    <a:p>
                      <a:pPr algn="l">
                        <a:lnSpc>
                          <a:spcPct val="100000"/>
                        </a:lnSpc>
                      </a:pPr>
                      <a:r>
                        <a:rPr sz="819" b="0">
                          <a:solidFill>
                            <a:srgbClr val="E8EEF7"/>
                          </a:solidFill>
                          <a:latin typeface="Segoe UI"/>
                        </a:rPr>
                        <a:t>Galloping</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Negative aerodynamic damping drives divergent cross-wind oscillation.</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Bluff, stiff concrete section; no slender icy cables or sharp-section galloping.</a:t>
                      </a:r>
                    </a:p>
                  </a:txBody>
                  <a:tcPr marL="73152" marR="54864" marT="27432" marB="27432" anchor="ctr">
                    <a:solidFill>
                      <a:srgbClr val="101A2C"/>
                    </a:solidFill>
                  </a:tcPr>
                </a:tc>
              </a:tr>
              <a:tr h="566928">
                <a:tc>
                  <a:txBody>
                    <a:bodyPr wrap="square" lIns="73152" rIns="54864" tIns="18288" bIns="18288"/>
                    <a:lstStyle/>
                    <a:p>
                      <a:pPr algn="l">
                        <a:lnSpc>
                          <a:spcPct val="100000"/>
                        </a:lnSpc>
                      </a:pPr>
                      <a:r>
                        <a:rPr sz="819" b="0">
                          <a:solidFill>
                            <a:srgbClr val="E8EEF7"/>
                          </a:solidFill>
                          <a:latin typeface="Segoe UI"/>
                        </a:rPr>
                        <a:t>Flutter</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Coupled torsional–translational instability above a critical wind speed.</a:t>
                      </a:r>
                    </a:p>
                  </a:txBody>
                  <a:tcPr marL="73152" marR="54864" marT="27432" marB="27432" anchor="ctr">
                    <a:solidFill>
                      <a:srgbClr val="0B1424"/>
                    </a:solidFill>
                  </a:tcPr>
                </a:tc>
                <a:tc>
                  <a:txBody>
                    <a:bodyPr wrap="square" lIns="73152" rIns="54864" tIns="18288" bIns="18288"/>
                    <a:lstStyle/>
                    <a:p>
                      <a:pPr algn="l">
                        <a:lnSpc>
                          <a:spcPct val="100000"/>
                        </a:lnSpc>
                      </a:pPr>
                      <a:r>
                        <a:rPr sz="819" b="0">
                          <a:solidFill>
                            <a:srgbClr val="E8EEF7"/>
                          </a:solidFill>
                          <a:latin typeface="Segoe UI"/>
                        </a:rPr>
                        <a:t>High torsional stiffness from the three-wing core; design speed well below critical.</a:t>
                      </a:r>
                    </a:p>
                  </a:txBody>
                  <a:tcPr marL="73152" marR="54864" marT="27432" marB="27432" anchor="ctr">
                    <a:solidFill>
                      <a:srgbClr val="0B1424"/>
                    </a:solidFill>
                  </a:tcPr>
                </a:tc>
              </a:tr>
              <a:tr h="566928">
                <a:tc>
                  <a:txBody>
                    <a:bodyPr wrap="square" lIns="73152" rIns="54864" tIns="18288" bIns="18288"/>
                    <a:lstStyle/>
                    <a:p>
                      <a:pPr algn="l">
                        <a:lnSpc>
                          <a:spcPct val="100000"/>
                        </a:lnSpc>
                      </a:pPr>
                      <a:r>
                        <a:rPr sz="819" b="0">
                          <a:solidFill>
                            <a:srgbClr val="E8EEF7"/>
                          </a:solidFill>
                          <a:latin typeface="Segoe UI"/>
                        </a:rPr>
                        <a:t>Wake buffering</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Downstream towers sit in another building's wake.</a:t>
                      </a:r>
                    </a:p>
                  </a:txBody>
                  <a:tcPr marL="73152" marR="54864" marT="27432" marB="27432" anchor="ctr">
                    <a:solidFill>
                      <a:srgbClr val="101A2C"/>
                    </a:solidFill>
                  </a:tcPr>
                </a:tc>
                <a:tc>
                  <a:txBody>
                    <a:bodyPr wrap="square" lIns="73152" rIns="54864" tIns="18288" bIns="18288"/>
                    <a:lstStyle/>
                    <a:p>
                      <a:pPr algn="l">
                        <a:lnSpc>
                          <a:spcPct val="100000"/>
                        </a:lnSpc>
                      </a:pPr>
                      <a:r>
                        <a:rPr sz="819" b="0">
                          <a:solidFill>
                            <a:srgbClr val="E8EEF7"/>
                          </a:solidFill>
                          <a:latin typeface="Segoe UI"/>
                        </a:rPr>
                        <a:t>Site layout and directionality considered in the tunnel programme.</a:t>
                      </a:r>
                    </a:p>
                  </a:txBody>
                  <a:tcPr marL="73152" marR="54864" marT="27432" marB="27432" anchor="ctr">
                    <a:solidFill>
                      <a:srgbClr val="101A2C"/>
                    </a:solidFill>
                  </a:tcPr>
                </a:tc>
              </a:tr>
            </a:tbl>
          </a:graphicData>
        </a:graphic>
      </p:graphicFrame>
      <p:sp>
        <p:nvSpPr>
          <p:cNvPr id="6" name="Rounded Rectangle 5"/>
          <p:cNvSpPr/>
          <p:nvPr/>
        </p:nvSpPr>
        <p:spPr>
          <a:xfrm>
            <a:off x="640080" y="5413248"/>
            <a:ext cx="10911535" cy="530352"/>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5413248"/>
            <a:ext cx="10874959" cy="41148"/>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5522976"/>
            <a:ext cx="10545775" cy="310896"/>
          </a:xfrm>
          <a:prstGeom prst="rect">
            <a:avLst/>
          </a:prstGeom>
          <a:noFill/>
        </p:spPr>
        <p:txBody>
          <a:bodyPr wrap="square" lIns="0" rIns="0" tIns="0" bIns="0" anchor="t">
            <a:noAutofit/>
          </a:bodyPr>
          <a:lstStyle/>
          <a:p>
            <a:pPr algn="l">
              <a:lnSpc>
                <a:spcPct val="110000"/>
              </a:lnSpc>
              <a:spcBef>
                <a:spcPts val="0"/>
              </a:spcBef>
              <a:spcAft>
                <a:spcPts val="0"/>
              </a:spcAft>
            </a:pPr>
            <a:r>
              <a:rPr sz="880" b="1" i="0">
                <a:solidFill>
                  <a:srgbClr val="F87171"/>
                </a:solidFill>
                <a:latin typeface="Segoe UI"/>
              </a:rPr>
              <a:t>Key point: </a:t>
            </a:r>
            <a:r>
              <a:rPr sz="880" b="0" i="0">
                <a:solidFill>
                  <a:srgbClr val="E8EEF7"/>
                </a:solidFill>
                <a:latin typeface="Segoe UI"/>
              </a:rPr>
              <a:t>comfort and safety are different checks. Comfort is a 5-year acceleration limit; safety is the 50-year strength and stability case.</a:t>
            </a:r>
          </a:p>
        </p:txBody>
      </p:sp>
      <p:sp>
        <p:nvSpPr>
          <p:cNvPr id="9" name="TextBox 8"/>
          <p:cNvSpPr txBox="1"/>
          <p:nvPr/>
        </p:nvSpPr>
        <p:spPr>
          <a:xfrm>
            <a:off x="640080" y="6053328"/>
            <a:ext cx="10911535" cy="274320"/>
          </a:xfrm>
          <a:prstGeom prst="rect">
            <a:avLst/>
          </a:prstGeom>
          <a:noFill/>
        </p:spPr>
        <p:txBody>
          <a:bodyPr wrap="square" lIns="0" rIns="0" tIns="0" bIns="0" anchor="t">
            <a:noAutofit/>
          </a:bodyPr>
          <a:lstStyle/>
          <a:p>
            <a:pPr algn="l">
              <a:lnSpc>
                <a:spcPct val="105000"/>
              </a:lnSpc>
              <a:spcBef>
                <a:spcPts val="0"/>
              </a:spcBef>
              <a:spcAft>
                <a:spcPts val="0"/>
              </a:spcAft>
            </a:pPr>
            <a:r>
              <a:rPr sz="720" b="0" i="0">
                <a:solidFill>
                  <a:srgbClr val="64748B"/>
                </a:solidFill>
                <a:latin typeface="Segoe UI"/>
              </a:rPr>
              <a:t>Instability definitions: standard bluff-body aeroelasticity. Burj responses are qualitative summaries of the published shaping strategy.</a:t>
            </a:r>
          </a:p>
        </p:txBody>
      </p:sp>
      <p:cxnSp>
        <p:nvCxnSpPr>
          <p:cNvPr id="10" name="Connector 9"/>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12" name="TextBox 11"/>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F87171"/>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E19"/>
        </a:solidFill>
        <a:effectLst/>
      </p:bgPr>
    </p:bg>
    <p:spTree>
      <p:nvGrpSpPr>
        <p:cNvPr id="1" name=""/>
        <p:cNvGrpSpPr/>
        <p:nvPr/>
      </p:nvGrpSpPr>
      <p:grpSpPr/>
      <p:sp>
        <p:nvSpPr>
          <p:cNvPr id="2" name="TextBox 1"/>
          <p:cNvSpPr txBox="1"/>
          <p:nvPr/>
        </p:nvSpPr>
        <p:spPr>
          <a:xfrm>
            <a:off x="640080" y="310896"/>
            <a:ext cx="7315200" cy="219456"/>
          </a:xfrm>
          <a:prstGeom prst="rect">
            <a:avLst/>
          </a:prstGeom>
          <a:noFill/>
        </p:spPr>
        <p:txBody>
          <a:bodyPr wrap="square" lIns="0" rIns="0" tIns="0" bIns="0" anchor="t">
            <a:noAutofit/>
          </a:bodyPr>
          <a:lstStyle/>
          <a:p>
            <a:pPr algn="l">
              <a:lnSpc>
                <a:spcPct val="110000"/>
              </a:lnSpc>
              <a:spcBef>
                <a:spcPts val="0"/>
              </a:spcBef>
              <a:spcAft>
                <a:spcPts val="0"/>
              </a:spcAft>
            </a:pPr>
            <a:r>
              <a:rPr sz="850" b="1" i="0">
                <a:solidFill>
                  <a:srgbClr val="94A3B8"/>
                </a:solidFill>
                <a:latin typeface="Segoe UI"/>
              </a:rPr>
              <a:t>SOURCES &amp; METHOD</a:t>
            </a:r>
          </a:p>
        </p:txBody>
      </p:sp>
      <p:sp>
        <p:nvSpPr>
          <p:cNvPr id="3" name="TextBox 2"/>
          <p:cNvSpPr txBox="1"/>
          <p:nvPr/>
        </p:nvSpPr>
        <p:spPr>
          <a:xfrm>
            <a:off x="640080" y="502920"/>
            <a:ext cx="10911535" cy="566928"/>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E8EEF7"/>
                </a:solidFill>
                <a:latin typeface="Segoe UI Semibold"/>
              </a:rPr>
              <a:t>What is measured, what is modelled, what is schematic</a:t>
            </a:r>
          </a:p>
        </p:txBody>
      </p:sp>
      <p:sp>
        <p:nvSpPr>
          <p:cNvPr id="4" name="TextBox 3"/>
          <p:cNvSpPr txBox="1"/>
          <p:nvPr/>
        </p:nvSpPr>
        <p:spPr>
          <a:xfrm>
            <a:off x="10271455" y="310896"/>
            <a:ext cx="1280160" cy="219456"/>
          </a:xfrm>
          <a:prstGeom prst="rect">
            <a:avLst/>
          </a:prstGeom>
          <a:noFill/>
        </p:spPr>
        <p:txBody>
          <a:bodyPr wrap="square" lIns="0" rIns="0" tIns="0" bIns="0" anchor="t">
            <a:noAutofit/>
          </a:bodyPr>
          <a:lstStyle/>
          <a:p>
            <a:pPr algn="r">
              <a:lnSpc>
                <a:spcPct val="110000"/>
              </a:lnSpc>
              <a:spcBef>
                <a:spcPts val="0"/>
              </a:spcBef>
              <a:spcAft>
                <a:spcPts val="0"/>
              </a:spcAft>
            </a:pPr>
            <a:r>
              <a:rPr sz="850" b="0" i="0">
                <a:solidFill>
                  <a:srgbClr val="64748B"/>
                </a:solidFill>
                <a:latin typeface="Segoe UI"/>
              </a:rPr>
              <a:t>20 / 20</a:t>
            </a:r>
          </a:p>
        </p:txBody>
      </p:sp>
      <p:sp>
        <p:nvSpPr>
          <p:cNvPr id="5" name="Rounded Rectangle 4"/>
          <p:cNvSpPr/>
          <p:nvPr/>
        </p:nvSpPr>
        <p:spPr>
          <a:xfrm>
            <a:off x="640080" y="1481328"/>
            <a:ext cx="5532120" cy="3200400"/>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91056"/>
            <a:ext cx="512064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22D3EE"/>
                </a:solidFill>
                <a:latin typeface="Segoe UI"/>
              </a:rPr>
              <a:t>PRIMARY SOURCES</a:t>
            </a:r>
          </a:p>
        </p:txBody>
      </p:sp>
      <p:sp>
        <p:nvSpPr>
          <p:cNvPr id="7" name="TextBox 6"/>
          <p:cNvSpPr txBox="1"/>
          <p:nvPr/>
        </p:nvSpPr>
        <p:spPr>
          <a:xfrm>
            <a:off x="841247" y="1883664"/>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Irwin, P. A.</a:t>
            </a:r>
          </a:p>
        </p:txBody>
      </p:sp>
      <p:sp>
        <p:nvSpPr>
          <p:cNvPr id="8" name="TextBox 7"/>
          <p:cNvSpPr txBox="1"/>
          <p:nvPr/>
        </p:nvSpPr>
        <p:spPr>
          <a:xfrm>
            <a:off x="2606039" y="1883664"/>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'The Wind Engineering of the Burj Dubai Tower', CTBUH 2005.</a:t>
            </a:r>
          </a:p>
        </p:txBody>
      </p:sp>
      <p:sp>
        <p:nvSpPr>
          <p:cNvPr id="9" name="TextBox 8"/>
          <p:cNvSpPr txBox="1"/>
          <p:nvPr/>
        </p:nvSpPr>
        <p:spPr>
          <a:xfrm>
            <a:off x="841247" y="2322576"/>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Baker, W. F. et al.</a:t>
            </a:r>
          </a:p>
        </p:txBody>
      </p:sp>
      <p:sp>
        <p:nvSpPr>
          <p:cNvPr id="10" name="TextBox 9"/>
          <p:cNvSpPr txBox="1"/>
          <p:nvPr/>
        </p:nvSpPr>
        <p:spPr>
          <a:xfrm>
            <a:off x="2606039" y="2322576"/>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'The Structural Design of the World's Tallest Structure', SEI 2015.</a:t>
            </a:r>
          </a:p>
        </p:txBody>
      </p:sp>
      <p:sp>
        <p:nvSpPr>
          <p:cNvPr id="11" name="TextBox 10"/>
          <p:cNvSpPr txBox="1"/>
          <p:nvPr/>
        </p:nvSpPr>
        <p:spPr>
          <a:xfrm>
            <a:off x="841247" y="2761488"/>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RWDI</a:t>
            </a:r>
          </a:p>
        </p:txBody>
      </p:sp>
      <p:sp>
        <p:nvSpPr>
          <p:cNvPr id="12" name="TextBox 11"/>
          <p:cNvSpPr txBox="1"/>
          <p:nvPr/>
        </p:nvSpPr>
        <p:spPr>
          <a:xfrm>
            <a:off x="2606039" y="2761488"/>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Project record: Burj Khalifa wind tunnel testing.</a:t>
            </a:r>
          </a:p>
        </p:txBody>
      </p:sp>
      <p:sp>
        <p:nvSpPr>
          <p:cNvPr id="13" name="TextBox 12"/>
          <p:cNvSpPr txBox="1"/>
          <p:nvPr/>
        </p:nvSpPr>
        <p:spPr>
          <a:xfrm>
            <a:off x="841247" y="3200400"/>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SOM</a:t>
            </a:r>
          </a:p>
        </p:txBody>
      </p:sp>
      <p:sp>
        <p:nvSpPr>
          <p:cNvPr id="14" name="TextBox 13"/>
          <p:cNvSpPr txBox="1"/>
          <p:nvPr/>
        </p:nvSpPr>
        <p:spPr>
          <a:xfrm>
            <a:off x="2606039" y="3200400"/>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Burj Khalifa project documentation.</a:t>
            </a:r>
          </a:p>
        </p:txBody>
      </p:sp>
      <p:sp>
        <p:nvSpPr>
          <p:cNvPr id="15" name="TextBox 14"/>
          <p:cNvSpPr txBox="1"/>
          <p:nvPr/>
        </p:nvSpPr>
        <p:spPr>
          <a:xfrm>
            <a:off x="841247" y="3639312"/>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ICC Building Safety Journal</a:t>
            </a:r>
          </a:p>
        </p:txBody>
      </p:sp>
      <p:sp>
        <p:nvSpPr>
          <p:cNvPr id="16" name="TextBox 15"/>
          <p:cNvSpPr txBox="1"/>
          <p:nvPr/>
        </p:nvSpPr>
        <p:spPr>
          <a:xfrm>
            <a:off x="2606039" y="3639312"/>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'A Tall Adventure', 2023.</a:t>
            </a:r>
          </a:p>
        </p:txBody>
      </p:sp>
      <p:sp>
        <p:nvSpPr>
          <p:cNvPr id="17" name="TextBox 16"/>
          <p:cNvSpPr txBox="1"/>
          <p:nvPr/>
        </p:nvSpPr>
        <p:spPr>
          <a:xfrm>
            <a:off x="841247" y="4078224"/>
            <a:ext cx="1691640" cy="219456"/>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E8EEF7"/>
                </a:solidFill>
                <a:latin typeface="Segoe UI"/>
              </a:rPr>
              <a:t>CTBUH</a:t>
            </a:r>
          </a:p>
        </p:txBody>
      </p:sp>
      <p:sp>
        <p:nvSpPr>
          <p:cNvPr id="18" name="TextBox 17"/>
          <p:cNvSpPr txBox="1"/>
          <p:nvPr/>
        </p:nvSpPr>
        <p:spPr>
          <a:xfrm>
            <a:off x="2606039" y="4078224"/>
            <a:ext cx="3429000" cy="365760"/>
          </a:xfrm>
          <a:prstGeom prst="rect">
            <a:avLst/>
          </a:prstGeom>
          <a:noFill/>
        </p:spPr>
        <p:txBody>
          <a:bodyPr wrap="square" lIns="0" rIns="0" tIns="0" bIns="0" anchor="t">
            <a:noAutofit/>
          </a:bodyPr>
          <a:lstStyle/>
          <a:p>
            <a:pPr algn="l">
              <a:lnSpc>
                <a:spcPct val="110000"/>
              </a:lnSpc>
              <a:spcBef>
                <a:spcPts val="0"/>
              </a:spcBef>
              <a:spcAft>
                <a:spcPts val="0"/>
              </a:spcAft>
            </a:pPr>
            <a:r>
              <a:rPr sz="740" b="0" i="0">
                <a:solidFill>
                  <a:srgbClr val="94A3B8"/>
                </a:solidFill>
                <a:latin typeface="Segoe UI"/>
              </a:rPr>
              <a:t>Height criteria and project data.</a:t>
            </a:r>
          </a:p>
        </p:txBody>
      </p:sp>
      <p:sp>
        <p:nvSpPr>
          <p:cNvPr id="19" name="Rounded Rectangle 18"/>
          <p:cNvSpPr/>
          <p:nvPr/>
        </p:nvSpPr>
        <p:spPr>
          <a:xfrm>
            <a:off x="6355080" y="1481328"/>
            <a:ext cx="5193792" cy="3200400"/>
          </a:xfrm>
          <a:prstGeom prst="roundRect">
            <a:avLst>
              <a:gd name="adj" fmla="val 5000"/>
            </a:avLst>
          </a:prstGeom>
          <a:solidFill>
            <a:srgbClr val="152238"/>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1591056"/>
            <a:ext cx="4754880" cy="201168"/>
          </a:xfrm>
          <a:prstGeom prst="rect">
            <a:avLst/>
          </a:prstGeom>
          <a:noFill/>
        </p:spPr>
        <p:txBody>
          <a:bodyPr wrap="square" lIns="0" rIns="0" tIns="0" bIns="0" anchor="t">
            <a:noAutofit/>
          </a:bodyPr>
          <a:lstStyle/>
          <a:p>
            <a:pPr algn="l">
              <a:lnSpc>
                <a:spcPct val="110000"/>
              </a:lnSpc>
              <a:spcBef>
                <a:spcPts val="0"/>
              </a:spcBef>
              <a:spcAft>
                <a:spcPts val="0"/>
              </a:spcAft>
            </a:pPr>
            <a:r>
              <a:rPr sz="780" b="1" i="0">
                <a:solidFill>
                  <a:srgbClr val="F59E0B"/>
                </a:solidFill>
                <a:latin typeface="Segoe UI"/>
              </a:rPr>
              <a:t>HOW TO READ THE NUMBERS</a:t>
            </a:r>
          </a:p>
        </p:txBody>
      </p:sp>
      <p:sp>
        <p:nvSpPr>
          <p:cNvPr id="21" name="TextBox 20"/>
          <p:cNvSpPr txBox="1"/>
          <p:nvPr/>
        </p:nvSpPr>
        <p:spPr>
          <a:xfrm>
            <a:off x="6537960" y="1901952"/>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34D399"/>
                </a:solidFill>
                <a:latin typeface="Segoe UI"/>
              </a:rPr>
              <a:t>REPORTED</a:t>
            </a:r>
          </a:p>
        </p:txBody>
      </p:sp>
      <p:sp>
        <p:nvSpPr>
          <p:cNvPr id="22" name="TextBox 21"/>
          <p:cNvSpPr txBox="1"/>
          <p:nvPr/>
        </p:nvSpPr>
        <p:spPr>
          <a:xfrm>
            <a:off x="7635240" y="1883664"/>
            <a:ext cx="37947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828 m, 163 floors, 192 piles, 40+ tests, 23.5 m/s at 10 m.</a:t>
            </a:r>
          </a:p>
        </p:txBody>
      </p:sp>
      <p:sp>
        <p:nvSpPr>
          <p:cNvPr id="23" name="TextBox 22"/>
          <p:cNvSpPr txBox="1"/>
          <p:nvPr/>
        </p:nvSpPr>
        <p:spPr>
          <a:xfrm>
            <a:off x="6537960" y="2505456"/>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F59E0B"/>
                </a:solidFill>
                <a:latin typeface="Segoe UI"/>
              </a:rPr>
              <a:t>PREDICTED</a:t>
            </a:r>
          </a:p>
        </p:txBody>
      </p:sp>
      <p:sp>
        <p:nvSpPr>
          <p:cNvPr id="24" name="TextBox 23"/>
          <p:cNvSpPr txBox="1"/>
          <p:nvPr/>
        </p:nvSpPr>
        <p:spPr>
          <a:xfrm>
            <a:off x="7635240" y="2487168"/>
            <a:ext cx="37947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12 milli-g, 37 → 19 → 12, 1.5 m top sway.</a:t>
            </a:r>
          </a:p>
        </p:txBody>
      </p:sp>
      <p:sp>
        <p:nvSpPr>
          <p:cNvPr id="25" name="TextBox 24"/>
          <p:cNvSpPr txBox="1"/>
          <p:nvPr/>
        </p:nvSpPr>
        <p:spPr>
          <a:xfrm>
            <a:off x="6537960" y="3108960"/>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22D3EE"/>
                </a:solidFill>
                <a:latin typeface="Segoe UI"/>
              </a:rPr>
              <a:t>DERIVED</a:t>
            </a:r>
          </a:p>
        </p:txBody>
      </p:sp>
      <p:sp>
        <p:nvSpPr>
          <p:cNvPr id="26" name="TextBox 25"/>
          <p:cNvSpPr txBox="1"/>
          <p:nvPr/>
        </p:nvSpPr>
        <p:spPr>
          <a:xfrm>
            <a:off x="7635240" y="3090672"/>
            <a:ext cx="37947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α ≈ 0.136, 43 m/s at the crown, Reynolds numbers.</a:t>
            </a:r>
          </a:p>
        </p:txBody>
      </p:sp>
      <p:sp>
        <p:nvSpPr>
          <p:cNvPr id="27" name="TextBox 26"/>
          <p:cNvSpPr txBox="1"/>
          <p:nvPr/>
        </p:nvSpPr>
        <p:spPr>
          <a:xfrm>
            <a:off x="6537960" y="3712464"/>
            <a:ext cx="1097280" cy="201168"/>
          </a:xfrm>
          <a:prstGeom prst="rect">
            <a:avLst/>
          </a:prstGeom>
          <a:noFill/>
        </p:spPr>
        <p:txBody>
          <a:bodyPr wrap="square" lIns="0" rIns="0" tIns="0" bIns="0" anchor="t">
            <a:noAutofit/>
          </a:bodyPr>
          <a:lstStyle/>
          <a:p>
            <a:pPr algn="l">
              <a:lnSpc>
                <a:spcPct val="110000"/>
              </a:lnSpc>
              <a:spcBef>
                <a:spcPts val="0"/>
              </a:spcBef>
              <a:spcAft>
                <a:spcPts val="0"/>
              </a:spcAft>
            </a:pPr>
            <a:r>
              <a:rPr sz="680" b="1" i="0">
                <a:solidFill>
                  <a:srgbClr val="A78BFA"/>
                </a:solidFill>
                <a:latin typeface="Segoe UI"/>
              </a:rPr>
              <a:t>SCHEMATIC</a:t>
            </a:r>
          </a:p>
        </p:txBody>
      </p:sp>
      <p:sp>
        <p:nvSpPr>
          <p:cNvPr id="28" name="TextBox 27"/>
          <p:cNvSpPr txBox="1"/>
          <p:nvPr/>
        </p:nvSpPr>
        <p:spPr>
          <a:xfrm>
            <a:off x="7635240" y="3694176"/>
            <a:ext cx="3794760" cy="365760"/>
          </a:xfrm>
          <a:prstGeom prst="rect">
            <a:avLst/>
          </a:prstGeom>
          <a:noFill/>
        </p:spPr>
        <p:txBody>
          <a:bodyPr wrap="square" lIns="0" rIns="0" tIns="0" bIns="0" anchor="t">
            <a:noAutofit/>
          </a:bodyPr>
          <a:lstStyle/>
          <a:p>
            <a:pPr algn="l">
              <a:lnSpc>
                <a:spcPct val="115000"/>
              </a:lnSpc>
              <a:spcBef>
                <a:spcPts val="0"/>
              </a:spcBef>
              <a:spcAft>
                <a:spcPts val="0"/>
              </a:spcAft>
            </a:pPr>
            <a:r>
              <a:rPr sz="760" b="0" i="0">
                <a:solidFill>
                  <a:srgbClr val="94A3B8"/>
                </a:solidFill>
                <a:latin typeface="Segoe UI"/>
              </a:rPr>
              <a:t>lock-in curves, moment diagram, foundation section.</a:t>
            </a:r>
          </a:p>
        </p:txBody>
      </p:sp>
      <p:sp>
        <p:nvSpPr>
          <p:cNvPr id="29" name="Rounded Rectangle 28"/>
          <p:cNvSpPr/>
          <p:nvPr/>
        </p:nvSpPr>
        <p:spPr>
          <a:xfrm>
            <a:off x="640080" y="4828032"/>
            <a:ext cx="10911535" cy="1024128"/>
          </a:xfrm>
          <a:prstGeom prst="roundRect">
            <a:avLst>
              <a:gd name="adj" fmla="val 5000"/>
            </a:avLst>
          </a:prstGeom>
          <a:solidFill>
            <a:srgbClr val="101A2C"/>
          </a:solidFill>
          <a:ln w="9525">
            <a:solidFill>
              <a:srgbClr val="2231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8368" y="4828032"/>
            <a:ext cx="10874959" cy="411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74336"/>
            <a:ext cx="4023360" cy="365760"/>
          </a:xfrm>
          <a:prstGeom prst="rect">
            <a:avLst/>
          </a:prstGeom>
          <a:noFill/>
        </p:spPr>
        <p:txBody>
          <a:bodyPr wrap="square" lIns="0" rIns="0" tIns="0" bIns="0" anchor="t">
            <a:noAutofit/>
          </a:bodyPr>
          <a:lstStyle/>
          <a:p>
            <a:pPr algn="l">
              <a:lnSpc>
                <a:spcPct val="110000"/>
              </a:lnSpc>
              <a:spcBef>
                <a:spcPts val="0"/>
              </a:spcBef>
              <a:spcAft>
                <a:spcPts val="0"/>
              </a:spcAft>
            </a:pPr>
            <a:r>
              <a:rPr sz="1800" b="1" i="0">
                <a:solidFill>
                  <a:srgbClr val="E8EEF7"/>
                </a:solidFill>
                <a:latin typeface="Segoe UI Semibold"/>
              </a:rPr>
              <a:t>Burj Khalifa</a:t>
            </a:r>
          </a:p>
        </p:txBody>
      </p:sp>
      <p:sp>
        <p:nvSpPr>
          <p:cNvPr id="32" name="TextBox 31"/>
          <p:cNvSpPr txBox="1"/>
          <p:nvPr/>
        </p:nvSpPr>
        <p:spPr>
          <a:xfrm>
            <a:off x="914400" y="5358384"/>
            <a:ext cx="5120640" cy="274320"/>
          </a:xfrm>
          <a:prstGeom prst="rect">
            <a:avLst/>
          </a:prstGeom>
          <a:noFill/>
        </p:spPr>
        <p:txBody>
          <a:bodyPr wrap="square" lIns="0" rIns="0" tIns="0" bIns="0" anchor="t">
            <a:noAutofit/>
          </a:bodyPr>
          <a:lstStyle/>
          <a:p>
            <a:pPr algn="l">
              <a:lnSpc>
                <a:spcPct val="110000"/>
              </a:lnSpc>
              <a:spcBef>
                <a:spcPts val="0"/>
              </a:spcBef>
              <a:spcAft>
                <a:spcPts val="0"/>
              </a:spcAft>
            </a:pPr>
            <a:r>
              <a:rPr sz="760" b="0" i="0">
                <a:solidFill>
                  <a:srgbClr val="94A3B8"/>
                </a:solidFill>
                <a:latin typeface="Segoe UI"/>
              </a:rPr>
              <a:t>Wind engineering dossier  ·  20 slides</a:t>
            </a:r>
          </a:p>
        </p:txBody>
      </p:sp>
      <p:sp>
        <p:nvSpPr>
          <p:cNvPr id="33" name="TextBox 32"/>
          <p:cNvSpPr txBox="1"/>
          <p:nvPr/>
        </p:nvSpPr>
        <p:spPr>
          <a:xfrm>
            <a:off x="7528255" y="4992624"/>
            <a:ext cx="3749039" cy="731520"/>
          </a:xfrm>
          <a:prstGeom prst="rect">
            <a:avLst/>
          </a:prstGeom>
          <a:noFill/>
        </p:spPr>
        <p:txBody>
          <a:bodyPr wrap="square" lIns="0" rIns="0" tIns="0" bIns="0" anchor="t">
            <a:noAutofit/>
          </a:bodyPr>
          <a:lstStyle/>
          <a:p>
            <a:pPr algn="r">
              <a:lnSpc>
                <a:spcPct val="120000"/>
              </a:lnSpc>
              <a:spcBef>
                <a:spcPts val="0"/>
              </a:spcBef>
              <a:spcAft>
                <a:spcPts val="0"/>
              </a:spcAft>
            </a:pPr>
            <a:r>
              <a:rPr sz="940" b="0" i="0">
                <a:solidFill>
                  <a:srgbClr val="22D3EE"/>
                </a:solidFill>
                <a:latin typeface="Segoe UI"/>
              </a:rPr>
              <a:t>Aerodynamic shape, verified by simulation, built in concrete.</a:t>
            </a:r>
          </a:p>
        </p:txBody>
      </p:sp>
      <p:sp>
        <p:nvSpPr>
          <p:cNvPr id="34" name="TextBox 33"/>
          <p:cNvSpPr txBox="1"/>
          <p:nvPr/>
        </p:nvSpPr>
        <p:spPr>
          <a:xfrm>
            <a:off x="640080" y="6053328"/>
            <a:ext cx="10911535" cy="274320"/>
          </a:xfrm>
          <a:prstGeom prst="rect">
            <a:avLst/>
          </a:prstGeom>
          <a:noFill/>
        </p:spPr>
        <p:txBody>
          <a:bodyPr wrap="square" lIns="0" rIns="0" tIns="0" bIns="0" anchor="t">
            <a:noAutofit/>
          </a:bodyPr>
          <a:lstStyle/>
          <a:p>
            <a:pPr algn="l">
              <a:lnSpc>
                <a:spcPct val="110000"/>
              </a:lnSpc>
              <a:spcBef>
                <a:spcPts val="0"/>
              </a:spcBef>
              <a:spcAft>
                <a:spcPts val="0"/>
              </a:spcAft>
            </a:pPr>
            <a:r>
              <a:rPr sz="720" b="0" i="0">
                <a:solidFill>
                  <a:srgbClr val="64748B"/>
                </a:solidFill>
                <a:latin typeface="Segoe UI"/>
              </a:rPr>
              <a:t>Prepared as a technical explainer. No confidential project data is included.</a:t>
            </a:r>
          </a:p>
        </p:txBody>
      </p:sp>
      <p:cxnSp>
        <p:nvCxnSpPr>
          <p:cNvPr id="35" name="Connector 34"/>
          <p:cNvCxnSpPr/>
          <p:nvPr/>
        </p:nvCxnSpPr>
        <p:spPr>
          <a:xfrm>
            <a:off x="640080" y="6382512"/>
            <a:ext cx="10911535" cy="0"/>
          </a:xfrm>
          <a:prstGeom prst="line">
            <a:avLst/>
          </a:prstGeom>
          <a:ln w="9525">
            <a:solidFill>
              <a:srgbClr val="22314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473952"/>
            <a:ext cx="5486400" cy="201168"/>
          </a:xfrm>
          <a:prstGeom prst="rect">
            <a:avLst/>
          </a:prstGeom>
          <a:noFill/>
        </p:spPr>
        <p:txBody>
          <a:bodyPr wrap="square" lIns="0" rIns="0" tIns="0" bIns="0" anchor="t">
            <a:noAutofit/>
          </a:bodyPr>
          <a:lstStyle/>
          <a:p>
            <a:pPr algn="l">
              <a:lnSpc>
                <a:spcPct val="110000"/>
              </a:lnSpc>
              <a:spcBef>
                <a:spcPts val="0"/>
              </a:spcBef>
              <a:spcAft>
                <a:spcPts val="0"/>
              </a:spcAft>
            </a:pPr>
            <a:r>
              <a:rPr sz="750" b="0" i="0">
                <a:solidFill>
                  <a:srgbClr val="64748B"/>
                </a:solidFill>
                <a:latin typeface="Segoe UI"/>
              </a:rPr>
              <a:t>BURJ KHALIFA  ·  WIND ENGINEERING DOSSIER</a:t>
            </a:r>
          </a:p>
        </p:txBody>
      </p:sp>
      <p:sp>
        <p:nvSpPr>
          <p:cNvPr id="37" name="TextBox 36"/>
          <p:cNvSpPr txBox="1"/>
          <p:nvPr/>
        </p:nvSpPr>
        <p:spPr>
          <a:xfrm>
            <a:off x="9722815" y="6473952"/>
            <a:ext cx="1828800" cy="201168"/>
          </a:xfrm>
          <a:prstGeom prst="rect">
            <a:avLst/>
          </a:prstGeom>
          <a:noFill/>
        </p:spPr>
        <p:txBody>
          <a:bodyPr wrap="square" lIns="0" rIns="0" tIns="0" bIns="0" anchor="t">
            <a:noAutofit/>
          </a:bodyPr>
          <a:lstStyle/>
          <a:p>
            <a:pPr algn="r">
              <a:lnSpc>
                <a:spcPct val="110000"/>
              </a:lnSpc>
              <a:spcBef>
                <a:spcPts val="0"/>
              </a:spcBef>
              <a:spcAft>
                <a:spcPts val="0"/>
              </a:spcAft>
            </a:pPr>
            <a:r>
              <a:rPr sz="800" b="1" i="0">
                <a:solidFill>
                  <a:srgbClr val="94A3B8"/>
                </a:solidFill>
                <a:latin typeface="Segoe U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Burj Khalifa — Wind Engineering</dc:title>
  <dc:subject>Wind design statistics, tunnel simulation and structural response of the Burj Khalifa</dc:subject>
  <dc:creator>Wind Engineering Dossier</dc:creator>
  <cp:keywords>Burj Khalifa, wind engineering, aeroelastic, vortex shedding, boundary layer, supertall</cp:keywords>
  <dc:description>20-slide technical explainer. Sources and data provenance on slide 20.</dc:description>
  <cp:lastModifiedBy>Wind Engineering Dossier</cp:lastModifiedBy>
  <cp:revision>1</cp:revision>
  <dcterms:created xsi:type="dcterms:W3CDTF">2026-10-28T21:44:23Z</dcterms:created>
  <dcterms:modified xsi:type="dcterms:W3CDTF">2026-10-28T21:44:23Z</dcterms:modified>
  <cp:category>Technical presentation</cp:category>
</cp:coreProperties>
</file>